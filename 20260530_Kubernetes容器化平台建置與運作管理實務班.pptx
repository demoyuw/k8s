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205"/>
  </p:notesMasterIdLst>
  <p:sldIdLst>
    <p:sldId id="256" r:id="rId2"/>
    <p:sldId id="258" r:id="rId3"/>
    <p:sldId id="358" r:id="rId4"/>
    <p:sldId id="360" r:id="rId5"/>
    <p:sldId id="312" r:id="rId6"/>
    <p:sldId id="278" r:id="rId7"/>
    <p:sldId id="277" r:id="rId8"/>
    <p:sldId id="275" r:id="rId9"/>
    <p:sldId id="331" r:id="rId10"/>
    <p:sldId id="297" r:id="rId11"/>
    <p:sldId id="571" r:id="rId12"/>
    <p:sldId id="330" r:id="rId13"/>
    <p:sldId id="632" r:id="rId14"/>
    <p:sldId id="399" r:id="rId15"/>
    <p:sldId id="687" r:id="rId16"/>
    <p:sldId id="825" r:id="rId17"/>
    <p:sldId id="361" r:id="rId18"/>
    <p:sldId id="293" r:id="rId19"/>
    <p:sldId id="386" r:id="rId20"/>
    <p:sldId id="292" r:id="rId21"/>
    <p:sldId id="257" r:id="rId22"/>
    <p:sldId id="362" r:id="rId23"/>
    <p:sldId id="387" r:id="rId24"/>
    <p:sldId id="446" r:id="rId25"/>
    <p:sldId id="385" r:id="rId26"/>
    <p:sldId id="826" r:id="rId27"/>
    <p:sldId id="827" r:id="rId28"/>
    <p:sldId id="260" r:id="rId29"/>
    <p:sldId id="294" r:id="rId30"/>
    <p:sldId id="290" r:id="rId31"/>
    <p:sldId id="573" r:id="rId32"/>
    <p:sldId id="400" r:id="rId33"/>
    <p:sldId id="383" r:id="rId34"/>
    <p:sldId id="291" r:id="rId35"/>
    <p:sldId id="636" r:id="rId36"/>
    <p:sldId id="635" r:id="rId37"/>
    <p:sldId id="818" r:id="rId38"/>
    <p:sldId id="820" r:id="rId39"/>
    <p:sldId id="743" r:id="rId40"/>
    <p:sldId id="413" r:id="rId41"/>
    <p:sldId id="414" r:id="rId42"/>
    <p:sldId id="415" r:id="rId43"/>
    <p:sldId id="416" r:id="rId44"/>
    <p:sldId id="441" r:id="rId45"/>
    <p:sldId id="417" r:id="rId46"/>
    <p:sldId id="316" r:id="rId47"/>
    <p:sldId id="317" r:id="rId48"/>
    <p:sldId id="329" r:id="rId49"/>
    <p:sldId id="828" r:id="rId50"/>
    <p:sldId id="633" r:id="rId51"/>
    <p:sldId id="323" r:id="rId52"/>
    <p:sldId id="363" r:id="rId53"/>
    <p:sldId id="324" r:id="rId54"/>
    <p:sldId id="325" r:id="rId55"/>
    <p:sldId id="575" r:id="rId56"/>
    <p:sldId id="576" r:id="rId57"/>
    <p:sldId id="577" r:id="rId58"/>
    <p:sldId id="578" r:id="rId59"/>
    <p:sldId id="579" r:id="rId60"/>
    <p:sldId id="580" r:id="rId61"/>
    <p:sldId id="581" r:id="rId62"/>
    <p:sldId id="582" r:id="rId63"/>
    <p:sldId id="583" r:id="rId64"/>
    <p:sldId id="326" r:id="rId65"/>
    <p:sldId id="328" r:id="rId66"/>
    <p:sldId id="327" r:id="rId67"/>
    <p:sldId id="395" r:id="rId68"/>
    <p:sldId id="396" r:id="rId69"/>
    <p:sldId id="359" r:id="rId70"/>
    <p:sldId id="821" r:id="rId71"/>
    <p:sldId id="313" r:id="rId72"/>
    <p:sldId id="279" r:id="rId73"/>
    <p:sldId id="280" r:id="rId74"/>
    <p:sldId id="310" r:id="rId75"/>
    <p:sldId id="675" r:id="rId76"/>
    <p:sldId id="676" r:id="rId77"/>
    <p:sldId id="504" r:id="rId78"/>
    <p:sldId id="637" r:id="rId79"/>
    <p:sldId id="281" r:id="rId80"/>
    <p:sldId id="282" r:id="rId81"/>
    <p:sldId id="283" r:id="rId82"/>
    <p:sldId id="284" r:id="rId83"/>
    <p:sldId id="833" r:id="rId84"/>
    <p:sldId id="850" r:id="rId85"/>
    <p:sldId id="834" r:id="rId86"/>
    <p:sldId id="611" r:id="rId87"/>
    <p:sldId id="286" r:id="rId88"/>
    <p:sldId id="507" r:id="rId89"/>
    <p:sldId id="314" r:id="rId90"/>
    <p:sldId id="829" r:id="rId91"/>
    <p:sldId id="409" r:id="rId92"/>
    <p:sldId id="822" r:id="rId93"/>
    <p:sldId id="830" r:id="rId94"/>
    <p:sldId id="266" r:id="rId95"/>
    <p:sldId id="364" r:id="rId96"/>
    <p:sldId id="831" r:id="rId97"/>
    <p:sldId id="674" r:id="rId98"/>
    <p:sldId id="262" r:id="rId99"/>
    <p:sldId id="366" r:id="rId100"/>
    <p:sldId id="404" r:id="rId101"/>
    <p:sldId id="265" r:id="rId102"/>
    <p:sldId id="365" r:id="rId103"/>
    <p:sldId id="381" r:id="rId104"/>
    <p:sldId id="382" r:id="rId105"/>
    <p:sldId id="398" r:id="rId106"/>
    <p:sldId id="272" r:id="rId107"/>
    <p:sldId id="401" r:id="rId108"/>
    <p:sldId id="832" r:id="rId109"/>
    <p:sldId id="634" r:id="rId110"/>
    <p:sldId id="402" r:id="rId111"/>
    <p:sldId id="261" r:id="rId112"/>
    <p:sldId id="370" r:id="rId113"/>
    <p:sldId id="274" r:id="rId114"/>
    <p:sldId id="405" r:id="rId115"/>
    <p:sldId id="406" r:id="rId116"/>
    <p:sldId id="269" r:id="rId117"/>
    <p:sldId id="371" r:id="rId118"/>
    <p:sldId id="273" r:id="rId119"/>
    <p:sldId id="403" r:id="rId120"/>
    <p:sldId id="584" r:id="rId121"/>
    <p:sldId id="268" r:id="rId122"/>
    <p:sldId id="271" r:id="rId123"/>
    <p:sldId id="295" r:id="rId124"/>
    <p:sldId id="816" r:id="rId125"/>
    <p:sldId id="817" r:id="rId126"/>
    <p:sldId id="442" r:id="rId127"/>
    <p:sldId id="443" r:id="rId128"/>
    <p:sldId id="444" r:id="rId129"/>
    <p:sldId id="301" r:id="rId130"/>
    <p:sldId id="302" r:id="rId131"/>
    <p:sldId id="304" r:id="rId132"/>
    <p:sldId id="299" r:id="rId133"/>
    <p:sldId id="380" r:id="rId134"/>
    <p:sldId id="305" r:id="rId135"/>
    <p:sldId id="303" r:id="rId136"/>
    <p:sldId id="335" r:id="rId137"/>
    <p:sldId id="336" r:id="rId138"/>
    <p:sldId id="337" r:id="rId139"/>
    <p:sldId id="338" r:id="rId140"/>
    <p:sldId id="349" r:id="rId141"/>
    <p:sldId id="345" r:id="rId142"/>
    <p:sldId id="346" r:id="rId143"/>
    <p:sldId id="347" r:id="rId144"/>
    <p:sldId id="341" r:id="rId145"/>
    <p:sldId id="348" r:id="rId146"/>
    <p:sldId id="350" r:id="rId147"/>
    <p:sldId id="356" r:id="rId148"/>
    <p:sldId id="357" r:id="rId149"/>
    <p:sldId id="315" r:id="rId150"/>
    <p:sldId id="306" r:id="rId151"/>
    <p:sldId id="300" r:id="rId152"/>
    <p:sldId id="604" r:id="rId153"/>
    <p:sldId id="586" r:id="rId154"/>
    <p:sldId id="308" r:id="rId155"/>
    <p:sldId id="309" r:id="rId156"/>
    <p:sldId id="311" r:id="rId157"/>
    <p:sldId id="587" r:id="rId158"/>
    <p:sldId id="588" r:id="rId159"/>
    <p:sldId id="412" r:id="rId160"/>
    <p:sldId id="590" r:id="rId161"/>
    <p:sldId id="591" r:id="rId162"/>
    <p:sldId id="589" r:id="rId163"/>
    <p:sldId id="319" r:id="rId164"/>
    <p:sldId id="374" r:id="rId165"/>
    <p:sldId id="320" r:id="rId166"/>
    <p:sldId id="593" r:id="rId167"/>
    <p:sldId id="592" r:id="rId168"/>
    <p:sldId id="321" r:id="rId169"/>
    <p:sldId id="594" r:id="rId170"/>
    <p:sldId id="322" r:id="rId171"/>
    <p:sldId id="585" r:id="rId172"/>
    <p:sldId id="296" r:id="rId173"/>
    <p:sldId id="595" r:id="rId174"/>
    <p:sldId id="377" r:id="rId175"/>
    <p:sldId id="378" r:id="rId176"/>
    <p:sldId id="298" r:id="rId177"/>
    <p:sldId id="603" r:id="rId178"/>
    <p:sldId id="339" r:id="rId179"/>
    <p:sldId id="340" r:id="rId180"/>
    <p:sldId id="596" r:id="rId181"/>
    <p:sldId id="343" r:id="rId182"/>
    <p:sldId id="376" r:id="rId183"/>
    <p:sldId id="344" r:id="rId184"/>
    <p:sldId id="375" r:id="rId185"/>
    <p:sldId id="597" r:id="rId186"/>
    <p:sldId id="598" r:id="rId187"/>
    <p:sldId id="599" r:id="rId188"/>
    <p:sldId id="379" r:id="rId189"/>
    <p:sldId id="333" r:id="rId190"/>
    <p:sldId id="600" r:id="rId191"/>
    <p:sldId id="601" r:id="rId192"/>
    <p:sldId id="602" r:id="rId193"/>
    <p:sldId id="824" r:id="rId194"/>
    <p:sldId id="351" r:id="rId195"/>
    <p:sldId id="352" r:id="rId196"/>
    <p:sldId id="354" r:id="rId197"/>
    <p:sldId id="353" r:id="rId198"/>
    <p:sldId id="355" r:id="rId199"/>
    <p:sldId id="823" r:id="rId200"/>
    <p:sldId id="612" r:id="rId201"/>
    <p:sldId id="613" r:id="rId202"/>
    <p:sldId id="614" r:id="rId203"/>
    <p:sldId id="616" r:id="rId20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7332"/>
  </p:normalViewPr>
  <p:slideViewPr>
    <p:cSldViewPr snapToGrid="0" snapToObjects="1">
      <p:cViewPr varScale="1">
        <p:scale>
          <a:sx n="157" d="100"/>
          <a:sy n="157" d="100"/>
        </p:scale>
        <p:origin x="1296" y="168"/>
      </p:cViewPr>
      <p:guideLst/>
    </p:cSldViewPr>
  </p:slideViewPr>
  <p:outlineViewPr>
    <p:cViewPr>
      <p:scale>
        <a:sx n="33" d="100"/>
        <a:sy n="33" d="100"/>
      </p:scale>
      <p:origin x="0" y="-13608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300" d="100"/>
          <a:sy n="300" d="100"/>
        </p:scale>
        <p:origin x="-1360" y="-6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tableStyles" Target="tableStyle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kumimoji="1"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A6B375A1-B903-4A47-A5B1-D73976F0AC51}" type="datetimeFigureOut">
              <a:rPr kumimoji="1" lang="zh-TW" altLang="en-US" smtClean="0"/>
              <a:pPr/>
              <a:t>2026/5/28</a:t>
            </a:fld>
            <a:endParaRPr kumimoji="1" lang="zh-TW" altLang="en-US" dirty="0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 dirty="0"/>
              <a:t>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kumimoji="1"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FB35EE9C-0DAB-064B-89F7-363221F9758D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349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ypervisor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72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5737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6571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87517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1644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虛擬化通常都是透過在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Host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上安裝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，由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來管理不同虛擬主機，每個虛擬主機都需要安裝不同的作業系統。</a:t>
            </a:r>
            <a:endParaRPr lang="en-US" altLang="zh-TW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提供應用程式在獨立的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中執行，這些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並不需要像虛擬化一樣額外依附在 </a:t>
            </a:r>
            <a:r>
              <a:rPr lang="en-US" altLang="zh-TW" sz="1200" u="none" strike="noStrike" kern="1200" dirty="0">
                <a:solidFill>
                  <a:schemeClr val="tx1"/>
                </a:solidFill>
                <a:effectLst/>
                <a:ea typeface="+mn-ea"/>
                <a:cs typeface="+mn-cs"/>
                <a:hlinkClick r:id="rId3"/>
              </a:rPr>
              <a:t>hypervisor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guest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上，是透過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Engine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來進行管理。</a:t>
            </a:r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3639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69664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2642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8022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8600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1402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4395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94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892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101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68511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D7729A-F5E3-8547-AB54-CF5AFB308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480360-BA5D-F140-AABC-1B1E19FC7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67ACAC-539D-E847-9944-4AD04803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DED4EC-F65A-4144-9FAC-5E79C71EF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A0BB7A-D573-5540-A396-E0364CFA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871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BB8FDF-7B5A-AF4A-A2A9-7D0EB6C2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1B2780-569F-D247-B554-2B02D2B66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2F7274-F1C0-3F4F-A729-D3EF8E4C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006E97-2F45-264A-AD09-103DBF6A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6C45A4-1A14-5040-9F1F-2647202D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1793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66AB48-B63C-8E49-A6C1-897DA326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847A98-EE9D-1142-8AAE-98683F75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5BC2BB-AF51-734A-AE94-4070FC8F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92476A-FC91-2E45-985D-B9E31170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C2A1D3-B79C-1B49-935A-CE1250F7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7055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ED2BDD-8DB8-9840-99F2-32873092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D8EE3B-29D1-554D-BC96-33263B951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DF30D-3DA4-0043-92BE-92D9616D7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5D9C31-068E-5749-8432-BB30A013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44D68FC-F1E6-0449-A8A4-947648E5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38B6CC-DE25-8742-BAB5-5CB57E72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4788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D68AE6-41CC-1D4C-A99D-1A23C2E1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C161E7-E597-4F40-8E8C-671DC872D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34537B-1E20-F849-9A8D-566D0A843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DC840E-C06B-0C4E-8249-F1AE7C923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5D9F53B-3BAC-9A4E-8E07-F13BCC46D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529428-64EC-6D42-B876-BFF1F6BE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F74908C-EA13-B14C-AAB0-39E2535A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37CC0C1-D785-3F40-AB72-92B067E4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130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01113-FAAC-D641-8C02-351D98ABE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479C56E-2710-BA42-AFCB-0653AF82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C7C7AD-2732-F74D-B9FF-CDF07248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36102E-9691-BC4B-A8D7-A0E7E4A6B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138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59D9617-44C6-0B43-9408-564DF369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AE60247-20F3-D44B-8C35-603CC5AF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53FF2A-F772-BB42-A4C5-F489A277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790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6D29D5-971B-9A40-AA97-773E495C2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54C8C9-2B77-5D45-B576-FE4C587C3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E46CE7-D639-7147-ACB7-60A58FE2D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9B796A-D7BB-E642-A47D-373C6248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D4BCFF-CA7B-C542-9207-4C2B4371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571A06B-89EE-1946-A610-37603D05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61709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737420-A07B-A94B-A140-88B04284D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050FF31-3A57-CB47-88BC-3F4655609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69CBF76-0B54-B644-B63C-F55D96AD8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CBC7828-0FBF-954E-A6F5-F1556F32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8CA85C-A018-F042-8D36-D72F5094D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B047EF-B268-D647-ADF8-D75AD765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58977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A1529A-C44F-1C44-BFB7-A79AA094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9276E9-3002-2A40-9038-E9FEA6E47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2309E-19ED-C64B-A0F8-E31C2558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524467-4A5E-7940-9FE8-845E1986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555697-177B-984D-B9E2-BC28899FC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2736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252B5B2-3D20-B244-888D-75949BD00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F75DBE9-0090-3F49-A752-A4CB8EE6F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84E7F5-8171-684A-AF93-BB8EF8A1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8FEB66-E3D6-9D48-B1C1-1094EEAC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81032F-2986-3843-93A8-4917958D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56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9AFFD95-8F3E-C343-AC72-4FBEECC5A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B479B3-B9DC-CE49-AD07-004C42BD1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765F65-BD45-5C4B-B0F6-BDB5E3739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kumimoji="1" lang="en-US" altLang="zh-TW"/>
              <a:t>2026/5/30</a:t>
            </a:r>
            <a:endParaRPr kumimoji="1"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9506D8-0752-C445-BFE7-024890EDB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3C3261-B3AD-4D4E-8B54-9ED910A53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0D48C1CA-DC90-284F-98A1-4BA8430588C0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745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moyuw/k8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o.gl/Rqck1q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demoyuw@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platformer-blog/practical-guide-on-writing-a-dockerfile-for-your-application-89376f88b3b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python" TargetMode="External"/><Relationship Id="rId2" Type="http://schemas.openxmlformats.org/officeDocument/2006/relationships/hyperlink" Target="https://hub.docker.com/_/ubuntu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asks/tools/install-kubectl/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35.188.47.40/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moyuw/k8s/tree/master/cronjob" TargetMode="External"/><Relationship Id="rId2" Type="http://schemas.openxmlformats.org/officeDocument/2006/relationships/hyperlink" Target="https://github.com/demoyuw/k8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3B022B-EC5F-8B41-AA44-8AED6AF328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" altLang="zh-TW" sz="5400" b="1" i="0" dirty="0">
                <a:solidFill>
                  <a:srgbClr val="222222"/>
                </a:solidFill>
                <a:effectLst/>
                <a:latin typeface="Noto Sans JP"/>
              </a:rPr>
              <a:t>Kubernetes (K8s) </a:t>
            </a:r>
            <a:r>
              <a:rPr lang="zh-TW" altLang="en-US" sz="5400" b="1" i="0" dirty="0">
                <a:solidFill>
                  <a:srgbClr val="222222"/>
                </a:solidFill>
                <a:effectLst/>
                <a:latin typeface="Noto Sans JP"/>
              </a:rPr>
              <a:t>容器化平台建置與運作管理實務班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71A4415-A65F-4D43-9B59-728851026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Hant" altLang="en-US" dirty="0"/>
              <a:t>講師：周育緯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A8FE9955-0A56-F441-9700-C4DB81C3E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44C3E6DD-9581-B043-B40D-6BEAB24C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8361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AC73D5-433E-BD4C-9230-A4D7E153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Outlook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9055A5-2113-8241-99C3-8C60853BB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63676"/>
            <a:ext cx="8946541" cy="4195481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Docker</a:t>
            </a:r>
            <a:endParaRPr kumimoji="1" lang="en-US" altLang="zh-Hant" dirty="0"/>
          </a:p>
          <a:p>
            <a:r>
              <a:rPr kumimoji="1" lang="en-US" altLang="zh-TW" dirty="0"/>
              <a:t>Kubernetes</a:t>
            </a:r>
            <a:endParaRPr kumimoji="1" lang="en-US" altLang="zh-Hant" dirty="0"/>
          </a:p>
          <a:p>
            <a:r>
              <a:rPr kumimoji="1" lang="zh-CN" altLang="en-US" dirty="0"/>
              <a:t>用</a:t>
            </a:r>
            <a:r>
              <a:rPr kumimoji="1" lang="en-US" altLang="zh-CN" dirty="0"/>
              <a:t>rancher </a:t>
            </a:r>
            <a:r>
              <a:rPr kumimoji="1" lang="zh-Hant" altLang="en-US" dirty="0"/>
              <a:t>安裝</a:t>
            </a:r>
            <a:r>
              <a:rPr kumimoji="1" lang="en-US" altLang="zh-Hant" dirty="0"/>
              <a:t>Kubernetes</a:t>
            </a:r>
          </a:p>
          <a:p>
            <a:r>
              <a:rPr kumimoji="1" lang="en-US" altLang="zh-TW" dirty="0"/>
              <a:t>Kubernetes </a:t>
            </a:r>
            <a:r>
              <a:rPr kumimoji="1" lang="zh-Hant" altLang="en-US" dirty="0"/>
              <a:t>操作</a:t>
            </a:r>
            <a:endParaRPr kumimoji="1" lang="en-US" altLang="zh-Hant" dirty="0"/>
          </a:p>
          <a:p>
            <a:r>
              <a:rPr kumimoji="1" lang="zh-TW" altLang="en-US" dirty="0"/>
              <a:t>使用</a:t>
            </a:r>
            <a:r>
              <a:rPr kumimoji="1" lang="en-US" altLang="zh-TW" dirty="0"/>
              <a:t>Google Cloud Platform Kubernetes Engine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A56F6D0E-E097-5148-B683-92FD3DC0F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CEE75E64-E656-F54C-B677-53774FC3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014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2A867A82-335A-5341-8CC5-9E86F7FB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課程資源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FD5BD154-F862-B342-A4C5-9C25598A2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TW" dirty="0"/>
              <a:t>Source code</a:t>
            </a:r>
          </a:p>
          <a:p>
            <a:pPr lvl="1"/>
            <a:r>
              <a:rPr kumimoji="1" lang="en-US" altLang="zh-TW" sz="3200" dirty="0">
                <a:hlinkClick r:id="rId3"/>
              </a:rPr>
              <a:t>https://github.com/demoyuw/k8s</a:t>
            </a:r>
            <a:endParaRPr kumimoji="1" lang="en-US" altLang="zh-TW" sz="3200" dirty="0"/>
          </a:p>
          <a:p>
            <a:r>
              <a:rPr lang="zh-CN" altLang="en-US" sz="3600" dirty="0">
                <a:hlinkClick r:id="rId4"/>
              </a:rPr>
              <a:t>虛擬機資源</a:t>
            </a:r>
            <a:endParaRPr lang="en-US" altLang="zh-TW" sz="3600" dirty="0">
              <a:hlinkClick r:id="rId4"/>
            </a:endParaRPr>
          </a:p>
          <a:p>
            <a:pPr lvl="1"/>
            <a:r>
              <a:rPr lang="en-US" altLang="zh-TW" sz="3200" dirty="0">
                <a:hlinkClick r:id="rId4"/>
              </a:rPr>
              <a:t>https://goo.gl/Rqck1q</a:t>
            </a:r>
            <a:endParaRPr lang="en-US" altLang="zh-TW" sz="3200" dirty="0"/>
          </a:p>
          <a:p>
            <a:pPr lvl="1"/>
            <a:r>
              <a:rPr kumimoji="1" lang="zh-TW" altLang="en-US" sz="3200" dirty="0"/>
              <a:t>選擇編號，後面註記使用人</a:t>
            </a:r>
            <a:endParaRPr kumimoji="1" lang="en-US" altLang="zh-TW" sz="3200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DD71427C-43DB-F141-9D1F-AF245FC1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50E29742-2DAD-AF47-94CB-D15748AE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12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2E91A2-C970-9E43-8525-654866386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ssh</a:t>
            </a:r>
            <a:r>
              <a:rPr kumimoji="1" lang="en-US" altLang="zh-TW" dirty="0"/>
              <a:t> </a:t>
            </a:r>
            <a:r>
              <a:rPr kumimoji="1" lang="zh-CN" altLang="en-US" dirty="0"/>
              <a:t>登入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B8D10E-A769-0A4D-B5E1-B05F321A5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dirty="0"/>
              <a:t>Linux </a:t>
            </a:r>
          </a:p>
          <a:p>
            <a:pPr lvl="1"/>
            <a:r>
              <a:rPr kumimoji="1" lang="en-US" altLang="zh-TW" sz="3000" dirty="0"/>
              <a:t>mv k8s.key ~/.</a:t>
            </a:r>
            <a:r>
              <a:rPr kumimoji="1" lang="en-US" altLang="zh-TW" sz="3000" dirty="0" err="1"/>
              <a:t>ssh</a:t>
            </a:r>
            <a:r>
              <a:rPr kumimoji="1" lang="en-US" altLang="zh-TW" sz="3000" dirty="0"/>
              <a:t>/</a:t>
            </a:r>
          </a:p>
          <a:p>
            <a:pPr lvl="1"/>
            <a:r>
              <a:rPr kumimoji="1" lang="en-US" altLang="zh-TW" sz="3000" dirty="0" err="1"/>
              <a:t>chmod</a:t>
            </a:r>
            <a:r>
              <a:rPr kumimoji="1" lang="en-US" altLang="zh-TW" sz="3000" dirty="0"/>
              <a:t> 600 ~/.</a:t>
            </a:r>
            <a:r>
              <a:rPr kumimoji="1" lang="en-US" altLang="zh-TW" sz="3000" dirty="0" err="1"/>
              <a:t>ssh</a:t>
            </a:r>
            <a:r>
              <a:rPr kumimoji="1" lang="en-US" altLang="zh-TW" sz="3000" dirty="0"/>
              <a:t>/k8s.key</a:t>
            </a:r>
          </a:p>
          <a:p>
            <a:pPr lvl="1"/>
            <a:r>
              <a:rPr kumimoji="1" lang="en-US" altLang="zh-TW" sz="3000" dirty="0" err="1"/>
              <a:t>ssh</a:t>
            </a:r>
            <a:r>
              <a:rPr kumimoji="1" lang="en-US" altLang="zh-TW" sz="3000" dirty="0"/>
              <a:t> -</a:t>
            </a:r>
            <a:r>
              <a:rPr kumimoji="1" lang="en-US" altLang="zh-TW" sz="3000" dirty="0" err="1"/>
              <a:t>i</a:t>
            </a:r>
            <a:r>
              <a:rPr kumimoji="1" lang="en-US" altLang="zh-TW" sz="3000" dirty="0"/>
              <a:t> ~/.</a:t>
            </a:r>
            <a:r>
              <a:rPr kumimoji="1" lang="en-US" altLang="zh-TW" sz="3000" dirty="0" err="1"/>
              <a:t>ssh</a:t>
            </a:r>
            <a:r>
              <a:rPr kumimoji="1" lang="en-US" altLang="zh-TW" sz="3000" dirty="0"/>
              <a:t>/k8s.key </a:t>
            </a:r>
            <a:r>
              <a:rPr kumimoji="1" lang="en-US" altLang="zh-TW" sz="3000" dirty="0">
                <a:hlinkClick r:id="rId2"/>
              </a:rPr>
              <a:t>demoyuw@</a:t>
            </a:r>
            <a:r>
              <a:rPr kumimoji="1" lang="en-US" altLang="zh-TW" sz="3000" dirty="0"/>
              <a:t>{VM</a:t>
            </a:r>
            <a:r>
              <a:rPr kumimoji="1" lang="zh-CN" altLang="en-US" sz="3000" dirty="0"/>
              <a:t>的外部</a:t>
            </a:r>
            <a:r>
              <a:rPr kumimoji="1" lang="en-US" altLang="zh-CN" sz="3000" dirty="0"/>
              <a:t>IP</a:t>
            </a:r>
            <a:r>
              <a:rPr kumimoji="1" lang="en-US" altLang="zh-TW" sz="3000" dirty="0"/>
              <a:t>}</a:t>
            </a:r>
          </a:p>
          <a:p>
            <a:pPr lvl="2"/>
            <a:r>
              <a:rPr kumimoji="1" lang="en-US" altLang="zh-TW" sz="2600" dirty="0"/>
              <a:t>Ex: </a:t>
            </a:r>
            <a:r>
              <a:rPr kumimoji="1" lang="en-US" altLang="zh-TW" sz="2600" dirty="0" err="1"/>
              <a:t>ssh</a:t>
            </a:r>
            <a:r>
              <a:rPr kumimoji="1" lang="en-US" altLang="zh-TW" sz="2600" dirty="0"/>
              <a:t> -</a:t>
            </a:r>
            <a:r>
              <a:rPr kumimoji="1" lang="en-US" altLang="zh-TW" sz="2600" dirty="0" err="1"/>
              <a:t>i</a:t>
            </a:r>
            <a:r>
              <a:rPr kumimoji="1" lang="en-US" altLang="zh-TW" sz="2600" dirty="0"/>
              <a:t> ~/.</a:t>
            </a:r>
            <a:r>
              <a:rPr kumimoji="1" lang="en-US" altLang="zh-TW" sz="2600" dirty="0" err="1"/>
              <a:t>ssh</a:t>
            </a:r>
            <a:r>
              <a:rPr kumimoji="1" lang="en-US" altLang="zh-TW" sz="2600" dirty="0"/>
              <a:t>/k8s.key demoyuw@140.92.174.32</a:t>
            </a:r>
          </a:p>
          <a:p>
            <a:r>
              <a:rPr kumimoji="1" lang="en-US" altLang="zh-TW" sz="3200" dirty="0"/>
              <a:t>Windows</a:t>
            </a:r>
          </a:p>
          <a:p>
            <a:pPr lvl="1"/>
            <a:r>
              <a:rPr kumimoji="1" lang="zh-CN" altLang="en-US" sz="3000" dirty="0"/>
              <a:t>參考附檔</a:t>
            </a:r>
            <a:r>
              <a:rPr kumimoji="1" lang="en-US" altLang="zh-TW" sz="3000" dirty="0"/>
              <a:t> </a:t>
            </a:r>
          </a:p>
          <a:p>
            <a:pPr lvl="1"/>
            <a:r>
              <a:rPr kumimoji="1" lang="en-US" altLang="zh-TW" sz="3000" dirty="0">
                <a:hlinkClick r:id="rId2"/>
              </a:rPr>
              <a:t>demoyuw@</a:t>
            </a:r>
            <a:r>
              <a:rPr kumimoji="1" lang="en-US" altLang="zh-TW" sz="3000" dirty="0"/>
              <a:t>{VM</a:t>
            </a:r>
            <a:r>
              <a:rPr kumimoji="1" lang="zh-CN" altLang="en-US" sz="3000" dirty="0"/>
              <a:t>的外部</a:t>
            </a:r>
            <a:r>
              <a:rPr kumimoji="1" lang="en-US" altLang="zh-CN" sz="3000" dirty="0"/>
              <a:t>IP</a:t>
            </a:r>
            <a:r>
              <a:rPr kumimoji="1" lang="en-US" altLang="zh-TW" sz="3000" dirty="0"/>
              <a:t>}</a:t>
            </a:r>
          </a:p>
          <a:p>
            <a:pPr lvl="2"/>
            <a:r>
              <a:rPr kumimoji="1" lang="en-US" altLang="zh-TW" sz="2600" dirty="0"/>
              <a:t>Ex: demoyuw@140.92.174.32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57F2FC2-6FE6-D94F-B0D1-CB28CADF5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7BBE7CDD-AA8A-2048-BBCA-36B7852E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71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552EAA0-14EC-A948-BCA2-EF27FC64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Docker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1E25086-60DC-7741-A7C5-C72AC2ED5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63536942-F3DC-6744-B39B-8D9056851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76086202-EBF6-B842-A0D2-3AECED12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9089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42C17-4634-494E-9E20-3A56B3F2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E9010-5CC1-0B41-82CE-2F131BFA8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3200" dirty="0"/>
              <a:t>作業系統層虛擬化</a:t>
            </a:r>
            <a:endParaRPr kumimoji="1" lang="en-US" altLang="zh-CN" sz="3200" dirty="0"/>
          </a:p>
          <a:p>
            <a:r>
              <a:rPr kumimoji="1" lang="en-US" altLang="zh-CN" sz="3200" dirty="0"/>
              <a:t>Container </a:t>
            </a:r>
            <a:r>
              <a:rPr kumimoji="1" lang="zh-CN" altLang="en-US" sz="3200" dirty="0"/>
              <a:t>共用</a:t>
            </a:r>
            <a:r>
              <a:rPr kumimoji="1" lang="en-US" altLang="zh-CN" sz="3200" dirty="0"/>
              <a:t>Linux kernel </a:t>
            </a:r>
          </a:p>
          <a:p>
            <a:r>
              <a:rPr kumimoji="1" lang="zh-CN" altLang="en-US" sz="3200" dirty="0"/>
              <a:t>每個</a:t>
            </a:r>
            <a:r>
              <a:rPr kumimoji="1" lang="en-US" altLang="zh-CN" sz="3200" dirty="0"/>
              <a:t>Container</a:t>
            </a:r>
            <a:r>
              <a:rPr kumimoji="1" lang="zh-CN" altLang="en-US" dirty="0"/>
              <a:t>可視為獨立執行緒</a:t>
            </a:r>
            <a:r>
              <a:rPr kumimoji="1" lang="en-US" altLang="zh-CN" dirty="0"/>
              <a:t>(process)</a:t>
            </a:r>
          </a:p>
          <a:p>
            <a:r>
              <a:rPr kumimoji="1" lang="zh-CN" altLang="en-US" sz="3200" dirty="0"/>
              <a:t>輕量化</a:t>
            </a:r>
            <a:endParaRPr kumimoji="1" lang="en-US" altLang="zh-CN" sz="3200" dirty="0"/>
          </a:p>
          <a:p>
            <a:r>
              <a:rPr kumimoji="1" lang="zh-CN" altLang="en-US" sz="3200" dirty="0"/>
              <a:t>秒級部署</a:t>
            </a:r>
            <a:endParaRPr kumimoji="1" lang="en-US" altLang="zh-CN" sz="3200" dirty="0"/>
          </a:p>
          <a:p>
            <a:r>
              <a:rPr kumimoji="1" lang="en-US" altLang="zh-CN" sz="3200" dirty="0"/>
              <a:t>container </a:t>
            </a:r>
            <a:r>
              <a:rPr kumimoji="1" lang="zh-CN" altLang="en-US" sz="3200" dirty="0"/>
              <a:t>無法橫跨機器</a:t>
            </a:r>
            <a:endParaRPr kumimoji="1" lang="en-US" altLang="zh-CN" sz="3200" dirty="0"/>
          </a:p>
          <a:p>
            <a:r>
              <a:rPr kumimoji="1" lang="zh-CN" altLang="en-US" sz="3200" dirty="0"/>
              <a:t>在</a:t>
            </a:r>
            <a:r>
              <a:rPr kumimoji="1" lang="en-US" altLang="zh-CN" sz="3200" dirty="0" err="1"/>
              <a:t>linux</a:t>
            </a:r>
            <a:r>
              <a:rPr kumimoji="1" lang="en-US" altLang="zh-CN" sz="3200" dirty="0"/>
              <a:t> kernel </a:t>
            </a:r>
            <a:r>
              <a:rPr kumimoji="1" lang="zh-CN" altLang="en-US" sz="3200" dirty="0"/>
              <a:t>層隔離各</a:t>
            </a:r>
            <a:r>
              <a:rPr kumimoji="1" lang="en-US" altLang="zh-CN" sz="3200" dirty="0"/>
              <a:t>container</a:t>
            </a:r>
            <a:r>
              <a:rPr kumimoji="1" lang="zh-Hant" altLang="en-US" sz="3200" dirty="0"/>
              <a:t> </a:t>
            </a:r>
            <a:endParaRPr kumimoji="1" lang="en-US" altLang="zh-CN" sz="3200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F6D8773-2763-C94D-8BC7-37F455A9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9A952DBB-C66C-8841-B084-0E5DD76E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3038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E2992-6764-3548-99DF-9F29CF3A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vs. Virtual Machine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B18FFD-45C6-D34D-9BD7-67F62349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48525"/>
            <a:ext cx="10515600" cy="4105538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6F7B5486-D225-7249-B5E9-776396F2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7C66AD9-1DBA-7243-B8EF-CBAEFAE67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05881C5-6E8B-2945-BD78-5BFC0D8BC89D}"/>
              </a:ext>
            </a:extLst>
          </p:cNvPr>
          <p:cNvSpPr txBox="1"/>
          <p:nvPr/>
        </p:nvSpPr>
        <p:spPr>
          <a:xfrm>
            <a:off x="990600" y="6096000"/>
            <a:ext cx="958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</a:rPr>
              <a:t>圖片來源：</a:t>
            </a:r>
            <a:r>
              <a:rPr kumimoji="1" lang="en-US" altLang="zh-TW" dirty="0">
                <a:latin typeface="Times New Roman" panose="02020603050405020304" pitchFamily="18" charset="0"/>
              </a:rPr>
              <a:t>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www.docker.com</a:t>
            </a:r>
            <a:r>
              <a:rPr kumimoji="1" lang="en-US" altLang="zh-TW" dirty="0">
                <a:latin typeface="Times New Roman" panose="02020603050405020304" pitchFamily="18" charset="0"/>
              </a:rPr>
              <a:t>/what-container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000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AE6BEE-6E0B-E042-A798-C68D3A6C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3659CD-1D1C-8B4E-A418-005808654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自動化佈署應用容器</a:t>
            </a:r>
            <a:endParaRPr kumimoji="1" lang="en-US" altLang="zh-CN" sz="3200" dirty="0"/>
          </a:p>
          <a:p>
            <a:r>
              <a:rPr kumimoji="1" lang="zh-CN" altLang="en-US" sz="3200" dirty="0"/>
              <a:t>使用</a:t>
            </a:r>
            <a:r>
              <a:rPr kumimoji="1" lang="en-US" altLang="zh-CN" sz="3200" dirty="0"/>
              <a:t>Linux kernel n</a:t>
            </a:r>
            <a:r>
              <a:rPr lang="en-US" altLang="zh-TW" sz="3200" dirty="0"/>
              <a:t>amespace </a:t>
            </a:r>
            <a:r>
              <a:rPr lang="zh-TW" altLang="en-US" sz="3200" dirty="0"/>
              <a:t>及 </a:t>
            </a:r>
            <a:r>
              <a:rPr lang="en-US" altLang="zh-TW" sz="3200" dirty="0"/>
              <a:t>Control Groups (</a:t>
            </a:r>
            <a:r>
              <a:rPr lang="en-US" altLang="zh-TW" sz="3200" dirty="0" err="1"/>
              <a:t>cgroups</a:t>
            </a:r>
            <a:r>
              <a:rPr lang="en-US" altLang="zh-TW" sz="3200" dirty="0"/>
              <a:t>) </a:t>
            </a:r>
            <a:r>
              <a:rPr lang="zh-TW" altLang="en-US" sz="3200" dirty="0"/>
              <a:t>等，來達到建置獨立的環境及控制 </a:t>
            </a:r>
            <a:r>
              <a:rPr lang="en-US" altLang="zh-TW" sz="3200" dirty="0"/>
              <a:t>CPU </a:t>
            </a:r>
            <a:r>
              <a:rPr lang="zh-TW" altLang="en-US" sz="3200" dirty="0"/>
              <a:t>、</a:t>
            </a:r>
            <a:r>
              <a:rPr lang="en-US" altLang="zh-TW" sz="3200" dirty="0"/>
              <a:t>Memory </a:t>
            </a:r>
            <a:r>
              <a:rPr lang="zh-TW" altLang="en-US" sz="3200" dirty="0"/>
              <a:t>、網路等資源。</a:t>
            </a:r>
            <a:endParaRPr lang="en-US" altLang="zh-TW" sz="3200" dirty="0"/>
          </a:p>
          <a:p>
            <a:pPr lvl="1"/>
            <a:r>
              <a:rPr kumimoji="1" lang="zh-CN" altLang="en-US" sz="3200" dirty="0"/>
              <a:t>根本原因，</a:t>
            </a:r>
            <a:r>
              <a:rPr kumimoji="1" lang="en-US" altLang="zh-CN" sz="3200" dirty="0" err="1"/>
              <a:t>linux</a:t>
            </a:r>
            <a:r>
              <a:rPr kumimoji="1" lang="en-US" altLang="zh-CN" sz="3200" dirty="0"/>
              <a:t> kernel </a:t>
            </a:r>
            <a:r>
              <a:rPr kumimoji="1" lang="zh-CN" altLang="en-US" sz="3200" dirty="0"/>
              <a:t>支援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C26EED7A-7EC7-0C47-8665-EB821738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10DAF6CC-8C3A-854E-BDC3-98BF7C22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C3E2BDB-5D7A-134A-81A7-B20E4D9B4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774" y="5419369"/>
            <a:ext cx="43307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0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C5C6EA-F3D4-5043-BED8-3F981FA5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vs. Virtual Machine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DFA9A5-E96C-7941-92C3-5F316C92A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啟動效率</a:t>
            </a:r>
          </a:p>
          <a:p>
            <a:pPr lvl="1"/>
            <a:r>
              <a:rPr lang="en-US" altLang="zh-TW" dirty="0"/>
              <a:t>Container </a:t>
            </a:r>
            <a:r>
              <a:rPr lang="zh-TW" altLang="en-US" dirty="0"/>
              <a:t>少了</a:t>
            </a:r>
            <a:r>
              <a:rPr lang="en-US" altLang="zh-TW" dirty="0" err="1"/>
              <a:t>Hypervisior</a:t>
            </a:r>
            <a:r>
              <a:rPr lang="zh-TW" altLang="en-US" dirty="0"/>
              <a:t>層，啟動時效率較高。</a:t>
            </a:r>
          </a:p>
          <a:p>
            <a:r>
              <a:rPr lang="zh-TW" altLang="en-US" dirty="0"/>
              <a:t>運算效能</a:t>
            </a:r>
          </a:p>
          <a:p>
            <a:pPr lvl="1"/>
            <a:r>
              <a:rPr lang="zh-TW" altLang="en-US" dirty="0"/>
              <a:t>執行緒都在</a:t>
            </a:r>
            <a:r>
              <a:rPr lang="en-US" altLang="zh-TW" dirty="0" err="1"/>
              <a:t>linux</a:t>
            </a:r>
            <a:r>
              <a:rPr lang="en-US" altLang="zh-TW" dirty="0"/>
              <a:t> kernel</a:t>
            </a:r>
            <a:r>
              <a:rPr lang="zh-TW" altLang="en-US" dirty="0"/>
              <a:t>上，效能相差不大。</a:t>
            </a:r>
          </a:p>
          <a:p>
            <a:r>
              <a:rPr lang="zh-TW" altLang="en-US" dirty="0"/>
              <a:t>安全性</a:t>
            </a:r>
          </a:p>
          <a:p>
            <a:pPr lvl="1"/>
            <a:r>
              <a:rPr lang="en-US" altLang="zh-TW" dirty="0"/>
              <a:t>Container </a:t>
            </a:r>
            <a:r>
              <a:rPr lang="zh-TW" altLang="en-US" dirty="0"/>
              <a:t>共用</a:t>
            </a:r>
            <a:r>
              <a:rPr lang="en-US" altLang="zh-TW" dirty="0"/>
              <a:t>Linux kernel</a:t>
            </a:r>
            <a:r>
              <a:rPr lang="zh-TW" altLang="en-US" dirty="0"/>
              <a:t>，安全性不比</a:t>
            </a:r>
            <a:r>
              <a:rPr lang="en-US" altLang="zh-TW" dirty="0"/>
              <a:t>VM</a:t>
            </a:r>
            <a:r>
              <a:rPr lang="zh-TW" altLang="en-US" dirty="0"/>
              <a:t>高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B095C67-62A3-4947-B541-44A5C22E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6EC0E1BC-78E0-144C-A73B-A92A75AA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7600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E0A72-D2B7-BB4F-AED8-AD15D651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Kubernetes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8E0078-0B25-884F-B628-5DF4A7A62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命名規則：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全英文小寫與</a:t>
            </a:r>
            <a:r>
              <a:rPr kumimoji="1" lang="en-US" altLang="zh-TW" dirty="0"/>
              <a:t>”-”</a:t>
            </a:r>
            <a:r>
              <a:rPr kumimoji="1" lang="zh-TW" altLang="en-US" dirty="0"/>
              <a:t>，勿大寫或其他特殊符號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Ex: test-website</a:t>
            </a:r>
          </a:p>
          <a:p>
            <a:r>
              <a:rPr kumimoji="1" lang="zh-CN" altLang="en-US" dirty="0"/>
              <a:t>縮寫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Kubernetes</a:t>
            </a:r>
          </a:p>
          <a:p>
            <a:pPr lvl="2"/>
            <a:r>
              <a:rPr kumimoji="1" lang="en-US" altLang="zh-CN" dirty="0"/>
              <a:t>K8S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F354A5F7-BC89-A945-B38D-A978DFB0E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9FB2F463-D5CD-0047-A0DA-0D5D3F71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4641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95D11-C668-4A40-ACD3-D45D359F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製作流程</a:t>
            </a:r>
            <a:endParaRPr kumimoji="1" lang="zh-TW" altLang="en-US" dirty="0"/>
          </a:p>
        </p:txBody>
      </p:sp>
      <p:pic>
        <p:nvPicPr>
          <p:cNvPr id="7" name="內容版面配置區 6" descr="一張含有 螢幕擷取畫面 的圖片&#10;&#10;自動產生的描述">
            <a:extLst>
              <a:ext uri="{FF2B5EF4-FFF2-40B4-BE49-F238E27FC236}">
                <a16:creationId xmlns:a16="http://schemas.microsoft.com/office/drawing/2014/main" id="{843E4F28-540C-3346-8C1A-5AE557A8E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822" y="1825625"/>
            <a:ext cx="8786355" cy="4351338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8A48B1-5D67-BE47-9182-F9F072345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0E7A29-5BF2-FC43-BD58-BE271665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00B8156-2BD3-B546-83D1-289C0B70A11B}"/>
              </a:ext>
            </a:extLst>
          </p:cNvPr>
          <p:cNvSpPr txBox="1"/>
          <p:nvPr/>
        </p:nvSpPr>
        <p:spPr>
          <a:xfrm>
            <a:off x="0" y="6248400"/>
            <a:ext cx="1213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</a:t>
            </a:r>
            <a:r>
              <a:rPr lang="en-US" altLang="zh-TW" dirty="0">
                <a:latin typeface="Times New Roman" panose="02020603050405020304" pitchFamily="18" charset="0"/>
                <a:hlinkClick r:id="rId3"/>
              </a:rPr>
              <a:t>https://medium.com/platformer-blog/practical-guide-on-writing-a-dockerfile-for-your-application-89376f88b3b5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22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DD1F1E-5C4C-7847-A438-5A0CA0E7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zh-CN" altLang="en-US" dirty="0"/>
              <a:t>元件</a:t>
            </a:r>
            <a:r>
              <a:rPr kumimoji="1" lang="en-US" altLang="zh-CN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923ADA-3326-FF46-A4B6-F4B763E42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Images</a:t>
            </a:r>
          </a:p>
          <a:p>
            <a:pPr lvl="1"/>
            <a:r>
              <a:rPr lang="en-US" altLang="zh-TW" dirty="0"/>
              <a:t>image </a:t>
            </a:r>
            <a:r>
              <a:rPr lang="zh-TW" altLang="en-US" dirty="0"/>
              <a:t>能建立 </a:t>
            </a:r>
            <a:r>
              <a:rPr lang="en-US" altLang="zh-TW" dirty="0"/>
              <a:t>Docker container</a:t>
            </a:r>
            <a:r>
              <a:rPr lang="zh-TW" altLang="en-US" dirty="0"/>
              <a:t>，但是 </a:t>
            </a:r>
            <a:r>
              <a:rPr lang="en-US" altLang="zh-TW" dirty="0"/>
              <a:t>docker image</a:t>
            </a:r>
            <a:r>
              <a:rPr lang="zh-TW" altLang="en-US" dirty="0"/>
              <a:t> </a:t>
            </a:r>
            <a:r>
              <a:rPr lang="en-US" altLang="zh-TW" dirty="0"/>
              <a:t>file</a:t>
            </a:r>
            <a:r>
              <a:rPr lang="zh-CN" altLang="en-US" dirty="0"/>
              <a:t>檔本身為</a:t>
            </a:r>
            <a:r>
              <a:rPr lang="zh-TW" altLang="en-US" dirty="0"/>
              <a:t>唯讀，</a:t>
            </a:r>
            <a:r>
              <a:rPr lang="en-US" altLang="zh-TW" dirty="0"/>
              <a:t>container</a:t>
            </a:r>
            <a:r>
              <a:rPr lang="zh-CN" altLang="en-US" dirty="0"/>
              <a:t>運行時所產生新的資料，會成為新的</a:t>
            </a:r>
            <a:r>
              <a:rPr lang="en-US" altLang="zh-CN" dirty="0"/>
              <a:t>image</a:t>
            </a:r>
            <a:r>
              <a:rPr lang="zh-CN" altLang="en-US" dirty="0"/>
              <a:t>並與原始</a:t>
            </a:r>
            <a:r>
              <a:rPr lang="en-US" altLang="zh-CN" dirty="0"/>
              <a:t>image</a:t>
            </a:r>
            <a:r>
              <a:rPr lang="zh-CN" altLang="en-US" dirty="0"/>
              <a:t>進行堆疊</a:t>
            </a:r>
            <a:r>
              <a:rPr lang="zh-TW" altLang="en-US" dirty="0"/>
              <a:t>。</a:t>
            </a:r>
            <a:endParaRPr kumimoji="1" lang="en-US" altLang="zh-TW" dirty="0"/>
          </a:p>
          <a:p>
            <a:r>
              <a:rPr kumimoji="1" lang="en-US" altLang="zh-TW" dirty="0"/>
              <a:t>Docker Container</a:t>
            </a:r>
          </a:p>
          <a:p>
            <a:pPr lvl="1"/>
            <a:r>
              <a:rPr lang="zh-TW" altLang="en-US" dirty="0"/>
              <a:t>提供獨立、安全的環境給應用程式執行，</a:t>
            </a:r>
            <a:r>
              <a:rPr lang="en-US" altLang="zh-TW" dirty="0"/>
              <a:t>container </a:t>
            </a:r>
            <a:r>
              <a:rPr lang="zh-TW" altLang="en-US" dirty="0"/>
              <a:t>是由 </a:t>
            </a:r>
            <a:r>
              <a:rPr lang="en-US" altLang="zh-TW" dirty="0"/>
              <a:t>Docker image </a:t>
            </a:r>
            <a:r>
              <a:rPr lang="zh-TW" altLang="en-US" dirty="0"/>
              <a:t>建立，並可讀可寫，運行在主機上。</a:t>
            </a:r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1464CE5-A6BB-2140-823E-E69E77DB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5D6EEE86-B7DF-C04E-9C3D-0BBFC67B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42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1F8B-4055-BD44-A7C5-7DD05E09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</a:t>
            </a:r>
            <a:r>
              <a:rPr kumimoji="1" lang="zh-CN" altLang="en-US" dirty="0"/>
              <a:t>堆疊</a:t>
            </a:r>
            <a:endParaRPr kumimoji="1" lang="zh-TW" altLang="en-US" dirty="0"/>
          </a:p>
        </p:txBody>
      </p:sp>
      <p:pic>
        <p:nvPicPr>
          <p:cNvPr id="7" name="內容版面配置區 6" descr="一張含有 文字, 時鐘 的圖片&#10;&#10;自動產生的描述">
            <a:extLst>
              <a:ext uri="{FF2B5EF4-FFF2-40B4-BE49-F238E27FC236}">
                <a16:creationId xmlns:a16="http://schemas.microsoft.com/office/drawing/2014/main" id="{212A935A-EE03-AB44-9219-09025B5C4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698276"/>
            <a:ext cx="8947150" cy="2904485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BFF933-4B91-6747-884D-97DB1D38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40776E-6469-4C4C-B478-01D0B801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8E598CA-54B4-4743-A6DD-13294F25BEC8}"/>
              </a:ext>
            </a:extLst>
          </p:cNvPr>
          <p:cNvSpPr txBox="1"/>
          <p:nvPr/>
        </p:nvSpPr>
        <p:spPr>
          <a:xfrm>
            <a:off x="1219200" y="5892800"/>
            <a:ext cx="89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https://blog.51cto.com/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wzlinux</a:t>
            </a:r>
            <a:r>
              <a:rPr kumimoji="1" lang="en-US" altLang="zh-TW" dirty="0">
                <a:latin typeface="Times New Roman" panose="02020603050405020304" pitchFamily="18" charset="0"/>
              </a:rPr>
              <a:t>/2044797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764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964677-41FA-B846-AFD8-37D87E4D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zh-CN" altLang="en-US" dirty="0"/>
              <a:t>元件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EE1DAE-3A94-4C4B-B84A-0E221EB74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Registers</a:t>
            </a:r>
          </a:p>
          <a:p>
            <a:pPr lvl="1"/>
            <a:r>
              <a:rPr lang="zh-TW" altLang="en-US" dirty="0"/>
              <a:t>將 </a:t>
            </a:r>
            <a:r>
              <a:rPr lang="en-US" altLang="zh-TW" b="1" dirty="0"/>
              <a:t>Docker images</a:t>
            </a:r>
            <a:r>
              <a:rPr lang="en-US" altLang="zh-TW" dirty="0"/>
              <a:t> </a:t>
            </a:r>
            <a:r>
              <a:rPr lang="zh-TW" altLang="en-US" dirty="0"/>
              <a:t>上傳</a:t>
            </a:r>
            <a:r>
              <a:rPr lang="en-US" altLang="zh-TW" dirty="0"/>
              <a:t>(push)</a:t>
            </a:r>
            <a:r>
              <a:rPr lang="zh-TW" altLang="en-US" dirty="0"/>
              <a:t>、下載</a:t>
            </a:r>
            <a:r>
              <a:rPr lang="en-US" altLang="zh-TW" dirty="0"/>
              <a:t>(pull)</a:t>
            </a:r>
            <a:r>
              <a:rPr lang="zh-TW" altLang="en-US" dirty="0"/>
              <a:t>到公開</a:t>
            </a:r>
            <a:r>
              <a:rPr lang="en-US" altLang="zh-TW" dirty="0"/>
              <a:t>(ex: Docker hub)</a:t>
            </a:r>
            <a:r>
              <a:rPr lang="zh-TW" altLang="en-US" dirty="0"/>
              <a:t>或私有的 </a:t>
            </a:r>
            <a:r>
              <a:rPr lang="en-US" altLang="zh-TW" b="1" dirty="0"/>
              <a:t>Docker Registries (ex: Harbor)</a:t>
            </a:r>
            <a:r>
              <a:rPr lang="en-US" altLang="zh-TW" dirty="0"/>
              <a:t> </a:t>
            </a:r>
            <a:r>
              <a:rPr lang="zh-TW" altLang="en-US" dirty="0"/>
              <a:t>上，與同隊成員或所有人分享。</a:t>
            </a:r>
            <a:endParaRPr lang="en-US" altLang="zh-TW" dirty="0"/>
          </a:p>
          <a:p>
            <a:pPr lvl="1"/>
            <a:r>
              <a:rPr lang="zh-TW" altLang="en-US" dirty="0"/>
              <a:t>公開的像 </a:t>
            </a:r>
            <a:r>
              <a:rPr lang="en-US" altLang="zh-TW" b="1" dirty="0"/>
              <a:t>Docker Hub</a:t>
            </a:r>
            <a:r>
              <a:rPr lang="en-US" altLang="zh-TW" dirty="0"/>
              <a:t> </a:t>
            </a:r>
            <a:r>
              <a:rPr lang="zh-TW" altLang="en-US" dirty="0"/>
              <a:t>提供了許多官方</a:t>
            </a:r>
            <a:r>
              <a:rPr lang="en-US" altLang="zh-TW" dirty="0"/>
              <a:t> release</a:t>
            </a:r>
            <a:r>
              <a:rPr lang="zh-TW" altLang="en-US" dirty="0"/>
              <a:t>的 </a:t>
            </a:r>
            <a:r>
              <a:rPr lang="en-US" altLang="zh-TW" dirty="0"/>
              <a:t>images </a:t>
            </a:r>
            <a:r>
              <a:rPr lang="zh-TW" altLang="en-US" dirty="0"/>
              <a:t>。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Ubuntu: </a:t>
            </a:r>
            <a:r>
              <a:rPr kumimoji="1" lang="en-US" altLang="zh-TW" dirty="0">
                <a:hlinkClick r:id="rId2"/>
              </a:rPr>
              <a:t>https://hub.docker.com/_/ubuntu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CentOS: https://</a:t>
            </a:r>
            <a:r>
              <a:rPr kumimoji="1" lang="en-US" altLang="zh-TW" dirty="0" err="1"/>
              <a:t>hub.docker.com</a:t>
            </a:r>
            <a:r>
              <a:rPr kumimoji="1" lang="en-US" altLang="zh-TW" dirty="0"/>
              <a:t>/_/centos</a:t>
            </a:r>
          </a:p>
          <a:p>
            <a:pPr lvl="2"/>
            <a:r>
              <a:rPr kumimoji="1" lang="en-US" altLang="zh-TW" dirty="0"/>
              <a:t>Java </a:t>
            </a:r>
            <a:r>
              <a:rPr kumimoji="1" lang="en-US" altLang="zh-TW" dirty="0" err="1"/>
              <a:t>openjdk</a:t>
            </a:r>
            <a:r>
              <a:rPr kumimoji="1" lang="en-US" altLang="zh-TW" dirty="0"/>
              <a:t>: https://</a:t>
            </a:r>
            <a:r>
              <a:rPr kumimoji="1" lang="en-US" altLang="zh-TW" dirty="0" err="1"/>
              <a:t>hub.docker.com</a:t>
            </a:r>
            <a:r>
              <a:rPr kumimoji="1" lang="en-US" altLang="zh-TW" dirty="0"/>
              <a:t>/_/</a:t>
            </a:r>
            <a:r>
              <a:rPr kumimoji="1" lang="en-US" altLang="zh-TW" dirty="0" err="1"/>
              <a:t>openjdk</a:t>
            </a:r>
            <a:r>
              <a:rPr kumimoji="1" lang="en-US" altLang="zh-TW" dirty="0"/>
              <a:t> </a:t>
            </a:r>
          </a:p>
          <a:p>
            <a:pPr lvl="2"/>
            <a:r>
              <a:rPr kumimoji="1" lang="en-US" altLang="zh-TW" dirty="0"/>
              <a:t>Python:	</a:t>
            </a:r>
            <a:r>
              <a:rPr kumimoji="1" lang="en-US" altLang="zh-TW" dirty="0">
                <a:hlinkClick r:id="rId3"/>
              </a:rPr>
              <a:t>https://hub.docker.com/_/python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Nginx: https://</a:t>
            </a:r>
            <a:r>
              <a:rPr kumimoji="1" lang="en-US" altLang="zh-TW" dirty="0" err="1"/>
              <a:t>hub.docker.com</a:t>
            </a:r>
            <a:r>
              <a:rPr kumimoji="1" lang="en-US" altLang="zh-TW" dirty="0"/>
              <a:t>/_/</a:t>
            </a:r>
            <a:r>
              <a:rPr kumimoji="1" lang="en-US" altLang="zh-TW" dirty="0" err="1"/>
              <a:t>nginx</a:t>
            </a:r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EEA32F-760D-3341-BFEF-62526A66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FF0F862-CA92-9C40-AEDF-F35E3F09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3641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352BF-B212-A028-72F0-1707ADCA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graph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0EA0B2F-9C04-2703-EFC2-127479F2C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19" y="3024981"/>
            <a:ext cx="9361961" cy="178168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F0A50D-D7EF-4F16-5C9C-6DA405F2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AF611B-0AA2-022B-8776-97B9D032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3042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910BB-0059-9744-A4C6-DB17E733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A6541-4DF9-BC41-BB5E-FEBFA03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git clone https://</a:t>
            </a:r>
            <a:r>
              <a:rPr kumimoji="1" lang="en-US" altLang="zh-TW" dirty="0" err="1"/>
              <a:t>github.com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/k8s.git</a:t>
            </a:r>
          </a:p>
          <a:p>
            <a:r>
              <a:rPr kumimoji="1" lang="pt" altLang="zh-TW" dirty="0" err="1"/>
              <a:t>sudo</a:t>
            </a:r>
            <a:r>
              <a:rPr kumimoji="1" lang="pt" altLang="zh-TW" dirty="0"/>
              <a:t> </a:t>
            </a:r>
            <a:r>
              <a:rPr kumimoji="1" lang="pt" altLang="zh-TW" dirty="0" err="1"/>
              <a:t>chmod</a:t>
            </a:r>
            <a:r>
              <a:rPr kumimoji="1" lang="pt" altLang="zh-TW" dirty="0"/>
              <a:t> 755 -</a:t>
            </a:r>
            <a:r>
              <a:rPr kumimoji="1" lang="pt" altLang="zh-TW" dirty="0" err="1"/>
              <a:t>R</a:t>
            </a:r>
            <a:r>
              <a:rPr kumimoji="1" lang="pt" altLang="zh-TW" dirty="0"/>
              <a:t> </a:t>
            </a:r>
            <a:r>
              <a:rPr kumimoji="1" lang="en-US" altLang="zh-TW" dirty="0"/>
              <a:t>k8s</a:t>
            </a:r>
            <a:r>
              <a:rPr kumimoji="1" lang="pt" altLang="zh-TW" dirty="0"/>
              <a:t>/</a:t>
            </a:r>
          </a:p>
          <a:p>
            <a:r>
              <a:rPr kumimoji="1" lang="en-US" altLang="zh-TW" dirty="0" err="1"/>
              <a:t>sudo</a:t>
            </a:r>
            <a:r>
              <a:rPr kumimoji="1" lang="en-US" altLang="zh-TW" dirty="0"/>
              <a:t> ~/k8s/script/</a:t>
            </a:r>
            <a:r>
              <a:rPr kumimoji="1" lang="en-US" altLang="zh-TW" dirty="0" err="1"/>
              <a:t>ubuntu_install_docker.sh</a:t>
            </a:r>
            <a:endParaRPr kumimoji="1" lang="en-US" altLang="zh-TW" dirty="0"/>
          </a:p>
          <a:p>
            <a:r>
              <a:rPr kumimoji="1" lang="zh-TW" altLang="en-US" dirty="0"/>
              <a:t>重啟</a:t>
            </a:r>
            <a:r>
              <a:rPr kumimoji="1" lang="en-US" altLang="zh-TW" dirty="0"/>
              <a:t>terminal</a:t>
            </a:r>
          </a:p>
          <a:p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version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BEEE6D-C359-9A54-7D1D-397A93A5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C15BCC0-C6F1-2889-8AAD-D67B132F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6513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3277-DEAD-4C48-BF47-0E2A0B00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ECE29D-5839-A643-8B26-83CAC828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FROM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取得官方認證</a:t>
            </a:r>
            <a:r>
              <a:rPr lang="en-US" altLang="zh-CN" dirty="0"/>
              <a:t>docker image </a:t>
            </a:r>
          </a:p>
          <a:p>
            <a:pPr lvl="2"/>
            <a:r>
              <a:rPr lang="en-US" altLang="zh-TW" dirty="0"/>
              <a:t>FROM 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ubuntu:18.04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取得私有帳號的</a:t>
            </a:r>
            <a:r>
              <a:rPr lang="en-US" altLang="zh-CN" dirty="0"/>
              <a:t>docker image </a:t>
            </a:r>
            <a:endParaRPr lang="en-US" altLang="zh-TW" dirty="0"/>
          </a:p>
          <a:p>
            <a:pPr lvl="2"/>
            <a:r>
              <a:rPr lang="en-US" altLang="zh-TW" dirty="0"/>
              <a:t>FROM {{</a:t>
            </a:r>
            <a:r>
              <a:rPr lang="zh-CN" altLang="en-US" dirty="0"/>
              <a:t>帳號</a:t>
            </a:r>
            <a:r>
              <a:rPr lang="en-US" altLang="zh-TW" dirty="0"/>
              <a:t>}}/{{image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</a:t>
            </a:r>
            <a:r>
              <a:rPr lang="en-US" altLang="zh-TW" dirty="0" err="1"/>
              <a:t>demoyuw</a:t>
            </a:r>
            <a:r>
              <a:rPr lang="en-US" altLang="zh-TW" dirty="0"/>
              <a:t>/nginx:</a:t>
            </a:r>
            <a:r>
              <a:rPr lang="en-US" altLang="zh-TW" b="1" dirty="0"/>
              <a:t>v0.2</a:t>
            </a:r>
          </a:p>
          <a:p>
            <a:pPr lvl="1"/>
            <a:r>
              <a:rPr lang="zh-CN" altLang="en-US" dirty="0"/>
              <a:t>從指定路徑</a:t>
            </a:r>
            <a:r>
              <a:rPr lang="en-US" altLang="zh-CN" dirty="0"/>
              <a:t>image registry </a:t>
            </a:r>
            <a:r>
              <a:rPr lang="zh-CN" altLang="en-US" dirty="0"/>
              <a:t>取得</a:t>
            </a:r>
            <a:r>
              <a:rPr lang="en-US" altLang="zh-CN" dirty="0"/>
              <a:t>image</a:t>
            </a:r>
          </a:p>
          <a:p>
            <a:pPr lvl="2"/>
            <a:r>
              <a:rPr lang="en-US" altLang="zh-TW" sz="2400" dirty="0"/>
              <a:t>FROM 10.30.1.1/images/python:3.8-alpine3.11</a:t>
            </a:r>
          </a:p>
          <a:p>
            <a:pPr lvl="1"/>
            <a:r>
              <a:rPr lang="zh-CN" altLang="en-US" dirty="0"/>
              <a:t>一個</a:t>
            </a:r>
            <a:r>
              <a:rPr lang="en-US" altLang="zh-CN" dirty="0"/>
              <a:t>image</a:t>
            </a:r>
            <a:r>
              <a:rPr lang="zh-CN" altLang="en-US" dirty="0"/>
              <a:t>只能一組</a:t>
            </a:r>
            <a:endParaRPr lang="en-US" altLang="zh-CN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sz="2400" dirty="0"/>
              <a:t>FROM golang:1.16 AS builder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657F177-B8BD-3849-B2BC-28567D7FE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A67BE0E3-7420-C74B-8C6D-BC51B824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2274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AA7CD-48CE-2B4D-91B2-F242E410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BF037A-6842-EE49-9848-8F96D87E7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ENV</a:t>
            </a:r>
          </a:p>
          <a:p>
            <a:pPr lvl="1"/>
            <a:r>
              <a:rPr lang="zh-TW" altLang="en-US" dirty="0"/>
              <a:t>設定</a:t>
            </a:r>
            <a:r>
              <a:rPr lang="en-US" altLang="zh-TW" dirty="0"/>
              <a:t>Container</a:t>
            </a:r>
            <a:r>
              <a:rPr lang="zh-TW" altLang="en-US" dirty="0"/>
              <a:t>環境變數</a:t>
            </a:r>
          </a:p>
          <a:p>
            <a:pPr lvl="1"/>
            <a:r>
              <a:rPr lang="en-US" altLang="zh-TW" dirty="0"/>
              <a:t>ENV &lt;key&gt;=&lt;value&gt;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en-US" altLang="zh-TW" dirty="0"/>
              <a:t>WORKDIR</a:t>
            </a:r>
          </a:p>
          <a:p>
            <a:pPr lvl="1"/>
            <a:r>
              <a:rPr lang="zh-TW" altLang="en-US" dirty="0"/>
              <a:t>建立資料夾，並設定預設資料夾</a:t>
            </a:r>
          </a:p>
          <a:p>
            <a:pPr lvl="1"/>
            <a:r>
              <a:rPr lang="en-US" altLang="zh-TW" dirty="0"/>
              <a:t>WORKDIR /app</a:t>
            </a:r>
          </a:p>
          <a:p>
            <a:pPr lvl="1"/>
            <a:r>
              <a:rPr lang="zh-CN" altLang="en-US" dirty="0"/>
              <a:t>只能一組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E61033C-2EAD-DF42-896C-CB61B1D49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68F112C4-541A-9B43-9AE5-E53ED8EBB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6599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E8D00-23AE-514A-94E0-A5C9B803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983193-5BEE-0A47-868A-08FB50770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RUN</a:t>
            </a:r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command</a:t>
            </a:r>
            <a:r>
              <a:rPr lang="zh-CN" altLang="en-US" dirty="0"/>
              <a:t>並建立</a:t>
            </a:r>
            <a:r>
              <a:rPr lang="en-US" altLang="zh-CN" dirty="0"/>
              <a:t>image</a:t>
            </a:r>
            <a:r>
              <a:rPr lang="zh-CN" altLang="en-US" dirty="0"/>
              <a:t>，用於安裝。</a:t>
            </a:r>
            <a:r>
              <a:rPr lang="en-US" altLang="zh-TW" dirty="0"/>
              <a:t>Shell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/>
              <a:t> /bin/</a:t>
            </a:r>
            <a:r>
              <a:rPr lang="en-US" altLang="zh-CN" dirty="0" err="1"/>
              <a:t>sh</a:t>
            </a:r>
            <a:r>
              <a:rPr lang="en-US" altLang="zh-CN" dirty="0"/>
              <a:t>):</a:t>
            </a:r>
            <a:endParaRPr lang="en-US" altLang="zh-TW" dirty="0"/>
          </a:p>
          <a:p>
            <a:pPr lvl="2"/>
            <a:r>
              <a:rPr lang="en-US" altLang="zh-TW" dirty="0"/>
              <a:t>RUN command</a:t>
            </a:r>
          </a:p>
          <a:p>
            <a:pPr lvl="2"/>
            <a:r>
              <a:rPr lang="en-US" altLang="zh-TW" dirty="0"/>
              <a:t>RUN apt-get install python3 </a:t>
            </a:r>
            <a:r>
              <a:rPr lang="zh-CN" altLang="en-US" dirty="0"/>
              <a:t>意思為</a:t>
            </a:r>
            <a:r>
              <a:rPr lang="zh-TW" altLang="en-US" dirty="0"/>
              <a:t> </a:t>
            </a:r>
            <a:r>
              <a:rPr lang="en-US" altLang="zh-TW" dirty="0"/>
              <a:t>/bin/</a:t>
            </a:r>
            <a:r>
              <a:rPr lang="en-US" altLang="zh-TW" dirty="0" err="1"/>
              <a:t>sh</a:t>
            </a:r>
            <a:r>
              <a:rPr lang="en-US" altLang="zh-TW" dirty="0"/>
              <a:t> -c apt-get install python3</a:t>
            </a:r>
          </a:p>
          <a:p>
            <a:pPr lvl="1"/>
            <a:r>
              <a:rPr lang="en-US" altLang="zh-TW" dirty="0"/>
              <a:t>Exec</a:t>
            </a:r>
            <a:r>
              <a:rPr lang="zh-TW" altLang="en-US" dirty="0"/>
              <a:t>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使用指定</a:t>
            </a:r>
            <a:r>
              <a:rPr lang="en-US" altLang="zh-CN" dirty="0"/>
              <a:t>shell)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RUN ["command1", "command2" …]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en-US" altLang="zh-TW" dirty="0"/>
              <a:t>Ex: RUN ["/bin/bash", "-c", "echo </a:t>
            </a:r>
            <a:r>
              <a:rPr lang="en-US" altLang="zh-TW" dirty="0" err="1"/>
              <a:t>hellow</a:t>
            </a:r>
            <a:r>
              <a:rPr lang="en-US" altLang="zh-TW" dirty="0"/>
              <a:t> &gt;&gt; </a:t>
            </a:r>
            <a:r>
              <a:rPr lang="en-US" altLang="zh-TW" dirty="0" err="1"/>
              <a:t>hellow.txt</a:t>
            </a:r>
            <a:r>
              <a:rPr lang="en-US" altLang="zh-TW" dirty="0"/>
              <a:t>"]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8DDAD2-5AA1-A64B-BB03-C3E80A0E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2EF282-C0DB-174E-B2FE-4FC2ADEF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4526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664FD-0F32-8044-AE20-1B888CBB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E9AA2A-E406-8A44-ADC9-8BC99407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ADD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</a:p>
          <a:p>
            <a:pPr lvl="1"/>
            <a:r>
              <a:rPr lang="en-US" altLang="zh-TW" dirty="0"/>
              <a:t>ADD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ADD cirros-0.3.4-x86_64-disk.img /</a:t>
            </a:r>
          </a:p>
          <a:p>
            <a:pPr lvl="1"/>
            <a:r>
              <a:rPr lang="en-US" altLang="zh-TW" dirty="0"/>
              <a:t>add </a:t>
            </a:r>
            <a:r>
              <a:rPr lang="zh-CN" altLang="en-US" dirty="0"/>
              <a:t>會複製至指定位置</a:t>
            </a:r>
            <a:r>
              <a:rPr lang="zh-CN" altLang="en-US" dirty="0">
                <a:solidFill>
                  <a:srgbClr val="C00000"/>
                </a:solidFill>
              </a:rPr>
              <a:t>並進行</a:t>
            </a:r>
            <a:r>
              <a:rPr lang="zh-TW" altLang="en-US" dirty="0">
                <a:solidFill>
                  <a:srgbClr val="C00000"/>
                </a:solidFill>
              </a:rPr>
              <a:t>解壓縮</a:t>
            </a:r>
          </a:p>
          <a:p>
            <a:r>
              <a:rPr lang="en-US" altLang="zh-TW" dirty="0"/>
              <a:t>COPY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  <a:endParaRPr lang="en-US" altLang="zh-TW" dirty="0"/>
          </a:p>
          <a:p>
            <a:pPr lvl="1"/>
            <a:r>
              <a:rPr lang="en-US" altLang="zh-TW" dirty="0"/>
              <a:t>COPY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COPY cirros-0.3.4-x86_64-disk.img /</a:t>
            </a:r>
          </a:p>
          <a:p>
            <a:pPr lvl="1"/>
            <a:r>
              <a:rPr lang="zh-TW" altLang="en-US" dirty="0"/>
              <a:t>差別</a:t>
            </a:r>
            <a:r>
              <a:rPr lang="en-US" altLang="zh-TW" dirty="0"/>
              <a:t>: copy </a:t>
            </a:r>
            <a:r>
              <a:rPr lang="zh-TW" altLang="en-US" dirty="0"/>
              <a:t>只單純進行複製</a:t>
            </a:r>
            <a:endParaRPr lang="en-US" altLang="zh-TW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dirty="0"/>
              <a:t>COPY --from=xxx</a:t>
            </a:r>
            <a:endParaRPr lang="en-US" altLang="zh-TW" sz="2400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FAD8B338-7C66-FC43-9A72-AD8CFEB5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21FCFD9-710E-2240-B81A-95B6FE9E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276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A3FC8-0C81-334E-AD99-6252D5F4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-5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D9F2F-3296-C941-A4A1-6842215FE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-p {{local</a:t>
            </a:r>
            <a:r>
              <a:rPr lang="zh-TW" altLang="en-US" dirty="0"/>
              <a:t>端</a:t>
            </a:r>
            <a:r>
              <a:rPr lang="en-US" altLang="zh-TW" dirty="0"/>
              <a:t>port}}:{{container</a:t>
            </a:r>
            <a:r>
              <a:rPr lang="zh-CN" altLang="en-US" dirty="0"/>
              <a:t>啟用</a:t>
            </a:r>
            <a:r>
              <a:rPr lang="en-US" altLang="zh-CN" dirty="0"/>
              <a:t>port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-p 80:80 A</a:t>
            </a:r>
          </a:p>
          <a:p>
            <a:pPr lvl="2"/>
            <a:r>
              <a:rPr lang="en-US" altLang="zh-TW" dirty="0"/>
              <a:t>docker run -p 80:80 -p 443:443 -p 43321:22 B</a:t>
            </a:r>
          </a:p>
          <a:p>
            <a:pPr lvl="1"/>
            <a:r>
              <a:rPr lang="en-US" altLang="zh-TW" dirty="0"/>
              <a:t>docker run -P</a:t>
            </a:r>
          </a:p>
          <a:p>
            <a:pPr lvl="2"/>
            <a:r>
              <a:rPr lang="zh-CN" altLang="en-US" dirty="0"/>
              <a:t>隨機指定一個</a:t>
            </a:r>
            <a:r>
              <a:rPr lang="en-US" altLang="zh-CN" dirty="0"/>
              <a:t>3xxxx</a:t>
            </a:r>
            <a:r>
              <a:rPr lang="zh-TW" altLang="en-US" dirty="0"/>
              <a:t> </a:t>
            </a:r>
            <a:r>
              <a:rPr lang="en-US" altLang="zh-TW" dirty="0"/>
              <a:t>port </a:t>
            </a:r>
            <a:r>
              <a:rPr lang="zh-CN" altLang="en-US" dirty="0"/>
              <a:t>給</a:t>
            </a:r>
            <a:r>
              <a:rPr lang="en-US" altLang="zh-CN" dirty="0"/>
              <a:t>EXPOSE </a:t>
            </a:r>
            <a:r>
              <a:rPr lang="zh-TW" altLang="en-US" dirty="0"/>
              <a:t> </a:t>
            </a:r>
            <a:r>
              <a:rPr lang="en-US" altLang="zh-TW" dirty="0"/>
              <a:t>port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4116C43-41A5-5440-9160-6286CD34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7FFB4494-B17E-B049-AF67-80072066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3831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FA7A5-40BE-EC43-9199-22BA5191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-6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C1BC88-3222-CF42-BDFF-1261F4E5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-v {{local</a:t>
            </a:r>
            <a:r>
              <a:rPr lang="zh-TW" altLang="en-US" dirty="0"/>
              <a:t>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-v $HOME/container1-data:/data</a:t>
            </a:r>
          </a:p>
          <a:p>
            <a:pPr lvl="2"/>
            <a:r>
              <a:rPr lang="en-US" altLang="zh-TW" dirty="0"/>
              <a:t>docker run -v $HOME/container1-data:/data -v $HOME/container1-logs:/var/lib/log</a:t>
            </a:r>
          </a:p>
          <a:p>
            <a:pPr lvl="1"/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3DE210D3-E541-3F44-B9BB-4E3F5402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49820BDF-B9AE-1042-A613-9FED71B1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2207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FA7271-32C0-194F-879A-82F99440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-7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79B7D8-5B07-6F40-8E03-FC39A350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ENTRYPOINT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  <a:endParaRPr lang="en-US" altLang="zh-CN" dirty="0"/>
          </a:p>
          <a:p>
            <a:pPr lvl="1"/>
            <a:r>
              <a:rPr lang="zh-CN" altLang="en-US" dirty="0"/>
              <a:t>用來進行參數設定，</a:t>
            </a:r>
            <a:r>
              <a:rPr lang="en-US" altLang="zh-CN" dirty="0"/>
              <a:t>container</a:t>
            </a:r>
            <a:r>
              <a:rPr lang="zh-CN" altLang="en-US" dirty="0"/>
              <a:t>運行前的前置作業。</a:t>
            </a:r>
            <a:endParaRPr lang="en-US" altLang="zh-CN" dirty="0"/>
          </a:p>
          <a:p>
            <a:pPr lvl="1"/>
            <a:r>
              <a:rPr lang="zh-CN" altLang="en-US" dirty="0"/>
              <a:t>會在</a:t>
            </a:r>
            <a:r>
              <a:rPr lang="en-US" altLang="zh-CN" dirty="0"/>
              <a:t>CMD </a:t>
            </a:r>
            <a:r>
              <a:rPr lang="zh-CN" altLang="en-US" dirty="0"/>
              <a:t>執行前執行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不可取代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CMD (</a:t>
            </a:r>
            <a:r>
              <a:rPr lang="zh-CN" altLang="en-US" dirty="0"/>
              <a:t>預設執行</a:t>
            </a:r>
            <a:r>
              <a:rPr lang="en-US" altLang="zh-CN" dirty="0"/>
              <a:t>command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</a:p>
          <a:p>
            <a:pPr lvl="1"/>
            <a:r>
              <a:rPr lang="en-US" altLang="zh-TW" dirty="0"/>
              <a:t>docker </a:t>
            </a:r>
            <a:r>
              <a:rPr lang="zh-TW" altLang="en-US" dirty="0"/>
              <a:t>啟動</a:t>
            </a:r>
            <a:r>
              <a:rPr lang="zh-CN" altLang="en-US" dirty="0"/>
              <a:t>時</a:t>
            </a:r>
            <a:r>
              <a:rPr lang="zh-TW" altLang="en-US" dirty="0"/>
              <a:t>執行，並且可</a:t>
            </a:r>
            <a:r>
              <a:rPr lang="zh-CN" altLang="en-US" dirty="0"/>
              <a:t>經</a:t>
            </a:r>
            <a:r>
              <a:rPr lang="zh-TW" altLang="en-US" dirty="0"/>
              <a:t>由</a:t>
            </a:r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{</a:t>
            </a:r>
            <a:r>
              <a:rPr lang="en-US" altLang="zh-TW" dirty="0" err="1"/>
              <a:t>image_name</a:t>
            </a:r>
            <a:r>
              <a:rPr lang="en-US" altLang="zh-TW" dirty="0"/>
              <a:t>} {command}</a:t>
            </a:r>
            <a:r>
              <a:rPr lang="zh-CN" altLang="en-US" dirty="0"/>
              <a:t>置</a:t>
            </a:r>
            <a:r>
              <a:rPr lang="zh-TW" altLang="en-US" dirty="0"/>
              <a:t>換參數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可取代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67B7F2-6CB6-0B48-B8CB-9F529F5B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65B3F4-4430-A840-B25D-85C776F5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5504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41126-0CAE-2A4A-B52C-CE090433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-8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9C0C8E-8193-6E4B-9A31-E0593D51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ENTRYPOINT</a:t>
            </a:r>
            <a:r>
              <a:rPr lang="zh-CN" altLang="en-US" dirty="0"/>
              <a:t>與</a:t>
            </a:r>
            <a:r>
              <a:rPr lang="en-US" altLang="zh-CN" dirty="0"/>
              <a:t>CMD</a:t>
            </a:r>
            <a:r>
              <a:rPr lang="zh-CN" altLang="en-US" dirty="0"/>
              <a:t>組合成</a:t>
            </a:r>
            <a:r>
              <a:rPr lang="en-US" altLang="zh-CN" dirty="0"/>
              <a:t>Docker </a:t>
            </a:r>
            <a:r>
              <a:rPr lang="zh-CN" altLang="en-US" dirty="0"/>
              <a:t>執行時</a:t>
            </a:r>
            <a:r>
              <a:rPr lang="en-US" altLang="zh-CN" dirty="0"/>
              <a:t>Command</a:t>
            </a:r>
          </a:p>
          <a:p>
            <a:pPr lvl="1"/>
            <a:r>
              <a:rPr lang="en-US" altLang="zh-TW" dirty="0"/>
              <a:t>ENTRYPOINT [”/bin/bash”]</a:t>
            </a:r>
          </a:p>
          <a:p>
            <a:pPr lvl="1"/>
            <a:r>
              <a:rPr lang="en-US" altLang="zh-CN" dirty="0"/>
              <a:t>CMD [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en-US" altLang="zh-CN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1 ]</a:t>
            </a:r>
          </a:p>
          <a:p>
            <a:pPr lvl="1"/>
            <a:r>
              <a:rPr lang="zh-CN" altLang="en-US" dirty="0"/>
              <a:t>組合後</a:t>
            </a:r>
            <a:endParaRPr lang="en-US" altLang="zh-CN" dirty="0"/>
          </a:p>
          <a:p>
            <a:pPr lvl="2"/>
            <a:r>
              <a:rPr lang="en-US" altLang="zh-TW" dirty="0"/>
              <a:t>ENTRYPOINT</a:t>
            </a:r>
            <a:r>
              <a:rPr lang="zh-TW" altLang="en-US" dirty="0"/>
              <a:t> </a:t>
            </a:r>
            <a:r>
              <a:rPr lang="en-US" altLang="zh-TW" dirty="0"/>
              <a:t>+ </a:t>
            </a:r>
            <a:r>
              <a:rPr lang="en-US" altLang="zh-CN" dirty="0"/>
              <a:t>CMD</a:t>
            </a:r>
          </a:p>
          <a:p>
            <a:pPr lvl="2"/>
            <a:r>
              <a:rPr lang="en-US" altLang="zh-CN" dirty="0"/>
              <a:t>/bin/bash 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zh-TW" altLang="en-US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 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1D0D5C-CBFC-564A-8BD1-2CD51A20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16AD9A9-2361-5F49-822A-5EF0F302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3884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57972-A588-F049-932D-04D49713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Python Flask API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 </a:t>
            </a:r>
            <a:r>
              <a:rPr kumimoji="1" lang="zh-TW" altLang="en-US" dirty="0"/>
              <a:t>比較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F2BD90-AEED-B746-998C-1D2E024991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FROM python:3</a:t>
            </a:r>
          </a:p>
          <a:p>
            <a:pPr marL="0" indent="0">
              <a:buNone/>
            </a:pPr>
            <a:r>
              <a:rPr kumimoji="1" lang="en-US" altLang="zh-TW" dirty="0"/>
              <a:t>WORKDIR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/app</a:t>
            </a:r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RUN pip install --no-cache-</a:t>
            </a:r>
            <a:r>
              <a:rPr kumimoji="1" lang="en-US" altLang="zh-TW" dirty="0" err="1"/>
              <a:t>dir</a:t>
            </a:r>
            <a:r>
              <a:rPr kumimoji="1" lang="en-US" altLang="zh-TW" dirty="0"/>
              <a:t> -r ./</a:t>
            </a:r>
            <a:r>
              <a:rPr kumimoji="1" lang="en-US" altLang="zh-TW" dirty="0" err="1"/>
              <a:t>requirements.txt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CMD [ "python", "</a:t>
            </a:r>
            <a:r>
              <a:rPr kumimoji="1" lang="en-US" altLang="zh-TW" dirty="0" err="1"/>
              <a:t>api.py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44DDB74E-E152-0BCA-84F2-EF0D02DA6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B0F0"/>
                </a:solidFill>
              </a:rPr>
              <a:t>優化後寫法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AA7856D-4A8F-DB90-7BBA-1AF8D430C1C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FROM python:3</a:t>
            </a:r>
          </a:p>
          <a:p>
            <a:pPr marL="0" indent="0">
              <a:buNone/>
            </a:pPr>
            <a:r>
              <a:rPr lang="en-US" altLang="zh-TW" dirty="0"/>
              <a:t>WORKDIR /</a:t>
            </a:r>
            <a:r>
              <a:rPr lang="en-US" altLang="zh-TW" dirty="0" err="1"/>
              <a:t>usr</a:t>
            </a:r>
            <a:r>
              <a:rPr lang="en-US" altLang="zh-TW" dirty="0"/>
              <a:t>/</a:t>
            </a:r>
            <a:r>
              <a:rPr lang="en-US" altLang="zh-TW" dirty="0" err="1"/>
              <a:t>src</a:t>
            </a:r>
            <a:r>
              <a:rPr lang="en-US" altLang="zh-TW" dirty="0"/>
              <a:t>/app</a:t>
            </a:r>
          </a:p>
          <a:p>
            <a:pPr marL="0" indent="0">
              <a:buNone/>
            </a:pPr>
            <a:r>
              <a:rPr lang="en-US" altLang="zh-TW" dirty="0"/>
              <a:t>COPY </a:t>
            </a:r>
            <a:r>
              <a:rPr lang="en-US" altLang="zh-TW" dirty="0" err="1"/>
              <a:t>requirments.txt</a:t>
            </a:r>
            <a:r>
              <a:rPr lang="en-US" altLang="zh-TW" dirty="0"/>
              <a:t> .</a:t>
            </a:r>
          </a:p>
          <a:p>
            <a:pPr marL="0" indent="0">
              <a:buNone/>
            </a:pPr>
            <a:r>
              <a:rPr lang="en-US" altLang="zh-TW" dirty="0"/>
              <a:t>RUN pip install --no-cache-</a:t>
            </a:r>
            <a:r>
              <a:rPr lang="en-US" altLang="zh-TW" dirty="0" err="1"/>
              <a:t>dir</a:t>
            </a:r>
            <a:r>
              <a:rPr lang="en-US" altLang="zh-TW" dirty="0"/>
              <a:t> -r ./</a:t>
            </a:r>
            <a:r>
              <a:rPr lang="en-US" altLang="zh-TW" dirty="0" err="1"/>
              <a:t>requirements.txt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COPY . .</a:t>
            </a:r>
          </a:p>
          <a:p>
            <a:pPr marL="0" indent="0">
              <a:buNone/>
            </a:pPr>
            <a:r>
              <a:rPr lang="en-US" altLang="zh-TW" dirty="0"/>
              <a:t>CMD [ "python", "</a:t>
            </a:r>
            <a:r>
              <a:rPr lang="en-US" altLang="zh-TW" dirty="0" err="1"/>
              <a:t>api.py</a:t>
            </a:r>
            <a:r>
              <a:rPr lang="en-US" altLang="zh-TW" dirty="0"/>
              <a:t>"]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4F3231-70E6-B84A-86E1-CE35F70C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AC7AF9-E633-B04D-A44C-5652BFE4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25</a:t>
            </a:fld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1B9D08-9CB9-AC36-8FF6-AC0523FC8552}"/>
              </a:ext>
            </a:extLst>
          </p:cNvPr>
          <p:cNvSpPr txBox="1"/>
          <p:nvPr/>
        </p:nvSpPr>
        <p:spPr>
          <a:xfrm>
            <a:off x="1178351" y="5788058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檔案路徑：</a:t>
            </a:r>
            <a:r>
              <a:rPr kumimoji="1" lang="en-US" altLang="zh-TW" dirty="0"/>
              <a:t>k8s/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/flask-</a:t>
            </a:r>
            <a:r>
              <a:rPr kumimoji="1" lang="en-US" altLang="zh-TW" dirty="0" err="1"/>
              <a:t>api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2624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89087A-B814-FF40-BBD7-4A485C33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build: </a:t>
            </a:r>
            <a:r>
              <a:rPr kumimoji="1" lang="zh-CN" altLang="en-US" dirty="0"/>
              <a:t>產生</a:t>
            </a:r>
            <a:r>
              <a:rPr kumimoji="1" lang="en-US" altLang="zh-CN" dirty="0"/>
              <a:t>image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58A1A6-24EB-094E-A6BE-11BB0830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docker file </a:t>
            </a:r>
            <a:r>
              <a:rPr kumimoji="1" lang="zh-Hant" altLang="en-US" dirty="0"/>
              <a:t>這層，執行</a:t>
            </a:r>
            <a:r>
              <a:rPr kumimoji="1" lang="en-US" altLang="zh-Hant" dirty="0"/>
              <a:t>build</a:t>
            </a:r>
          </a:p>
          <a:p>
            <a:pPr lvl="1"/>
            <a:r>
              <a:rPr kumimoji="1" lang="en-US" altLang="zh-Hant" dirty="0"/>
              <a:t>docker build . -t flask:v0.1</a:t>
            </a:r>
          </a:p>
          <a:p>
            <a:r>
              <a:rPr kumimoji="1" lang="zh-Hant" altLang="en-US" dirty="0"/>
              <a:t>在</a:t>
            </a:r>
            <a:r>
              <a:rPr kumimoji="1" lang="en-US" altLang="zh-Hant" dirty="0"/>
              <a:t>build </a:t>
            </a:r>
            <a:r>
              <a:rPr kumimoji="1" lang="zh-Hant" altLang="en-US" dirty="0"/>
              <a:t>階段</a:t>
            </a:r>
            <a:r>
              <a:rPr kumimoji="1" lang="en-US" altLang="zh-Hant" dirty="0"/>
              <a:t>debug</a:t>
            </a:r>
          </a:p>
          <a:p>
            <a:pPr lvl="1"/>
            <a:r>
              <a:rPr lang="en" altLang="zh-TW" dirty="0"/>
              <a:t>docker build --progress=plain --no-cache</a:t>
            </a:r>
            <a:r>
              <a:rPr kumimoji="1" lang="en-US" altLang="zh-TW" dirty="0"/>
              <a:t> .</a:t>
            </a:r>
            <a:endParaRPr kumimoji="1" lang="en-US" altLang="zh-Hant" dirty="0"/>
          </a:p>
          <a:p>
            <a:r>
              <a:rPr kumimoji="1" lang="zh-CN" altLang="en-US" dirty="0"/>
              <a:t>檢查</a:t>
            </a:r>
            <a:r>
              <a:rPr kumimoji="1" lang="en-US" altLang="zh-CN" dirty="0"/>
              <a:t>docker image</a:t>
            </a:r>
            <a:endParaRPr kumimoji="1" lang="en-US" altLang="zh-Hant" dirty="0"/>
          </a:p>
          <a:p>
            <a:pPr lvl="1"/>
            <a:r>
              <a:rPr kumimoji="1" lang="en-US" altLang="zh-Hant" dirty="0"/>
              <a:t>docker image ls</a:t>
            </a:r>
          </a:p>
          <a:p>
            <a:pPr lvl="1"/>
            <a:endParaRPr kumimoji="1" lang="en-US" altLang="zh-Hant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730D134-A7A7-EC78-ECAE-8A179261A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566" y="5859656"/>
            <a:ext cx="7772400" cy="81400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6DD0765-1028-EE88-5CE6-3CB4E5B01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566" y="4474562"/>
            <a:ext cx="7772400" cy="12954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AFD297-1BBA-8525-542F-ADEB75A0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06021E-1DB1-39CA-28AA-3829501A0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34713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BA786-804A-C941-A52B-1E3ECCBD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0CF588-A6E8-324B-9B9A-53294DE3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幫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增加一個新的</a:t>
            </a:r>
            <a:r>
              <a:rPr kumimoji="1" lang="en-US" altLang="zh-CN" dirty="0"/>
              <a:t>tag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tag 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 </a:t>
            </a:r>
            <a:r>
              <a:rPr lang="en-US" altLang="zh-TW" dirty="0" err="1"/>
              <a:t>demoyuw</a:t>
            </a:r>
            <a:r>
              <a:rPr lang="en-US" altLang="zh-TW" dirty="0"/>
              <a:t>/</a:t>
            </a:r>
            <a:r>
              <a:rPr lang="en-US" altLang="zh-TW" dirty="0" err="1"/>
              <a:t>nginx</a:t>
            </a:r>
            <a:endParaRPr lang="en-US" altLang="zh-TW" dirty="0"/>
          </a:p>
          <a:p>
            <a:r>
              <a:rPr lang="zh-CN" altLang="en-US" dirty="0"/>
              <a:t>刪除</a:t>
            </a:r>
            <a:r>
              <a:rPr lang="en-US" altLang="zh-CN" dirty="0"/>
              <a:t>image</a:t>
            </a:r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</a:t>
            </a:r>
            <a:r>
              <a:rPr kumimoji="1" lang="en-US" altLang="zh-TW" dirty="0"/>
              <a:t>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</a:t>
            </a:r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rmi</a:t>
            </a:r>
            <a:r>
              <a:rPr kumimoji="1" lang="en-US" altLang="zh-TW" dirty="0"/>
              <a:t> {</a:t>
            </a:r>
            <a:r>
              <a:rPr kumimoji="1" lang="en-US" altLang="zh-TW" dirty="0" err="1"/>
              <a:t>repository:tag</a:t>
            </a:r>
            <a:r>
              <a:rPr kumimoji="1" lang="en-US" altLang="zh-TW" dirty="0"/>
              <a:t>} 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匯出成一個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</a:t>
            </a:r>
            <a:endParaRPr kumimoji="1" lang="en-US" altLang="zh-CN" dirty="0"/>
          </a:p>
          <a:p>
            <a:pPr lvl="1"/>
            <a:r>
              <a:rPr lang="en-US" altLang="zh-TW" dirty="0"/>
              <a:t>docker save -o {</a:t>
            </a:r>
            <a:r>
              <a:rPr lang="en-US" altLang="zh-TW" dirty="0" err="1"/>
              <a:t>output_file.tgz</a:t>
            </a:r>
            <a:r>
              <a:rPr lang="en-US" altLang="zh-TW" dirty="0"/>
              <a:t>} {</a:t>
            </a:r>
            <a:r>
              <a:rPr lang="en-US" altLang="zh-TW" dirty="0" err="1"/>
              <a:t>docker_image_id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檔匯入到</a:t>
            </a:r>
            <a:r>
              <a:rPr kumimoji="1" lang="en-US" altLang="zh-CN" dirty="0"/>
              <a:t>docker image</a:t>
            </a:r>
            <a:r>
              <a:rPr kumimoji="1" lang="zh-CN" altLang="en-US" dirty="0"/>
              <a:t>裡</a:t>
            </a:r>
            <a:endParaRPr lang="en-US" altLang="zh-CN" dirty="0"/>
          </a:p>
          <a:p>
            <a:pPr lvl="1"/>
            <a:r>
              <a:rPr lang="en-US" altLang="zh-TW" dirty="0"/>
              <a:t>docker load -</a:t>
            </a:r>
            <a:r>
              <a:rPr lang="en-US" altLang="zh-TW" dirty="0" err="1"/>
              <a:t>i</a:t>
            </a:r>
            <a:r>
              <a:rPr lang="en-US" altLang="zh-TW" dirty="0"/>
              <a:t>  </a:t>
            </a:r>
            <a:r>
              <a:rPr lang="en-US" altLang="zh-TW" dirty="0" err="1"/>
              <a:t>backendscheduler.tgz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7B1BF-680E-7B87-C540-D73DA0EB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CC0624-5042-2C1E-7A36-8150A201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35410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78A557-4A1D-164A-B37C-A5A94992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48020F-0A8C-5E48-94B0-60C9FC32F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Hub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(Docker </a:t>
            </a:r>
            <a:r>
              <a:rPr lang="en-US" altLang="zh-TW" dirty="0"/>
              <a:t>Registries</a:t>
            </a:r>
            <a:r>
              <a:rPr kumimoji="1" lang="en-US" altLang="zh-Hant" dirty="0"/>
              <a:t>)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Container </a:t>
            </a:r>
            <a:r>
              <a:rPr kumimoji="1" lang="zh-CN" altLang="en-US" dirty="0"/>
              <a:t>的</a:t>
            </a:r>
            <a:r>
              <a:rPr kumimoji="1" lang="en-US" altLang="zh-CN" dirty="0"/>
              <a:t>GitHub</a:t>
            </a:r>
          </a:p>
          <a:p>
            <a:pPr lvl="1"/>
            <a:r>
              <a:rPr kumimoji="1" lang="en-US" altLang="zh-CN" dirty="0">
                <a:hlinkClick r:id="rId2"/>
              </a:rPr>
              <a:t>https://hub.docker.com/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可下載與上傳的</a:t>
            </a:r>
            <a:r>
              <a:rPr kumimoji="1" lang="en-US" altLang="zh-CN" dirty="0"/>
              <a:t>Container image.</a:t>
            </a:r>
          </a:p>
          <a:p>
            <a:pPr lvl="2"/>
            <a:r>
              <a:rPr kumimoji="1" lang="en-US" altLang="zh-CN" dirty="0"/>
              <a:t>Ex: FROM ubuntu:16.04</a:t>
            </a:r>
          </a:p>
          <a:p>
            <a:pPr lvl="3"/>
            <a:r>
              <a:rPr kumimoji="1" lang="zh-CN" altLang="en-US" dirty="0"/>
              <a:t>選用</a:t>
            </a:r>
            <a:r>
              <a:rPr kumimoji="1" lang="en-US" altLang="zh-CN" dirty="0"/>
              <a:t>ubuntu</a:t>
            </a:r>
            <a:r>
              <a:rPr kumimoji="1" lang="zh-CN" altLang="en-US" dirty="0"/>
              <a:t>官方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，並且指定</a:t>
            </a:r>
            <a:r>
              <a:rPr kumimoji="1" lang="en-US" altLang="zh-CN" dirty="0"/>
              <a:t>ubuntu16.04 </a:t>
            </a:r>
          </a:p>
          <a:p>
            <a:pPr lvl="3"/>
            <a:r>
              <a:rPr kumimoji="1" lang="zh-CN" altLang="en-US" dirty="0"/>
              <a:t>不指定系統自動安裝</a:t>
            </a:r>
            <a:r>
              <a:rPr kumimoji="1" lang="en-US" altLang="zh-CN" dirty="0" err="1"/>
              <a:t>Lastest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Ex: FROM </a:t>
            </a:r>
            <a:r>
              <a:rPr kumimoji="1" lang="en-US" altLang="zh-CN" dirty="0" err="1"/>
              <a:t>demoyuw</a:t>
            </a:r>
            <a:r>
              <a:rPr kumimoji="1" lang="en-US" altLang="zh-CN" dirty="0"/>
              <a:t>/nginx:v1.0.0</a:t>
            </a:r>
          </a:p>
          <a:p>
            <a:pPr lvl="3"/>
            <a:r>
              <a:rPr kumimoji="1" lang="zh-CN" altLang="en-US" dirty="0"/>
              <a:t>取得特定賬號</a:t>
            </a:r>
            <a:r>
              <a:rPr kumimoji="1" lang="en-US" altLang="zh-CN" dirty="0" err="1"/>
              <a:t>demoyuw</a:t>
            </a:r>
            <a:r>
              <a:rPr kumimoji="1" lang="zh-Hant" altLang="en-US" dirty="0"/>
              <a:t> </a:t>
            </a:r>
            <a:r>
              <a:rPr kumimoji="1" lang="zh-CN" altLang="en-US" dirty="0"/>
              <a:t>上傳</a:t>
            </a:r>
            <a:r>
              <a:rPr kumimoji="1" lang="zh-Hant" altLang="en-US" dirty="0"/>
              <a:t>的</a:t>
            </a:r>
            <a:r>
              <a:rPr kumimoji="1" lang="en-US" altLang="zh-Hant" dirty="0" err="1"/>
              <a:t>nginx</a:t>
            </a:r>
            <a:r>
              <a:rPr kumimoji="1" lang="zh-Hant" altLang="en-US" dirty="0"/>
              <a:t>，並指定使用</a:t>
            </a:r>
            <a:r>
              <a:rPr kumimoji="1" lang="en-US" altLang="zh-Hant" dirty="0"/>
              <a:t>v1.0.0</a:t>
            </a:r>
            <a:r>
              <a:rPr kumimoji="1" lang="zh-CN" altLang="en-US" dirty="0"/>
              <a:t>版</a:t>
            </a:r>
            <a:endParaRPr kumimoji="1" lang="en-US" altLang="zh-CN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F8D9835A-C2E4-9848-8EB5-0917A9A2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3793981-34A1-7246-B6F8-A39939EF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9031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32D2B-E1BA-7940-B230-893B5F884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BBEF51-C8B5-1642-A116-D13794C68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docker login</a:t>
            </a:r>
          </a:p>
          <a:p>
            <a:pPr lvl="1"/>
            <a:r>
              <a:rPr kumimoji="1" lang="zh-CN" altLang="en-US" dirty="0"/>
              <a:t>登入</a:t>
            </a:r>
            <a:r>
              <a:rPr kumimoji="1" lang="en-US" altLang="zh-CN" dirty="0"/>
              <a:t>docker hub</a:t>
            </a:r>
          </a:p>
          <a:p>
            <a:pPr lvl="1"/>
            <a:r>
              <a:rPr kumimoji="1" lang="zh-CN" altLang="en-US" dirty="0"/>
              <a:t>登入指定路徑</a:t>
            </a:r>
            <a:r>
              <a:rPr kumimoji="1" lang="en-US" altLang="zh-CN" dirty="0"/>
              <a:t>docker registry</a:t>
            </a:r>
          </a:p>
          <a:p>
            <a:pPr lvl="2"/>
            <a:r>
              <a:rPr kumimoji="1" lang="en-US" altLang="zh-CN" dirty="0"/>
              <a:t>ex: docker login </a:t>
            </a:r>
            <a:r>
              <a:rPr lang="en-US" altLang="zh-TW" b="1" dirty="0"/>
              <a:t>10.30.1.1 </a:t>
            </a:r>
          </a:p>
          <a:p>
            <a:r>
              <a:rPr kumimoji="1" lang="en-US" altLang="zh-CN" dirty="0"/>
              <a:t>docker logout</a:t>
            </a:r>
          </a:p>
          <a:p>
            <a:pPr lvl="1"/>
            <a:r>
              <a:rPr kumimoji="1" lang="zh-CN" altLang="en-US" dirty="0"/>
              <a:t>登出</a:t>
            </a:r>
            <a:endParaRPr kumimoji="1" lang="en-US" altLang="zh-CN" dirty="0"/>
          </a:p>
          <a:p>
            <a:r>
              <a:rPr kumimoji="1" lang="en-US" altLang="zh-CN" dirty="0"/>
              <a:t>docker push </a:t>
            </a:r>
            <a:r>
              <a:rPr kumimoji="1" lang="en-US" altLang="zh-CN" dirty="0" err="1"/>
              <a:t>demoyuw</a:t>
            </a:r>
            <a:r>
              <a:rPr kumimoji="1" lang="en-US" altLang="zh-CN" dirty="0"/>
              <a:t>/nginx:v1</a:t>
            </a:r>
          </a:p>
          <a:p>
            <a:pPr lvl="1"/>
            <a:r>
              <a:rPr kumimoji="1" lang="en-US" altLang="zh-CN" dirty="0"/>
              <a:t>Image </a:t>
            </a:r>
            <a:r>
              <a:rPr kumimoji="1" lang="zh-CN" altLang="en-US" dirty="0"/>
              <a:t>上傳</a:t>
            </a:r>
            <a:r>
              <a:rPr kumimoji="1" lang="en-US" altLang="zh-CN" dirty="0"/>
              <a:t> </a:t>
            </a:r>
          </a:p>
          <a:p>
            <a:r>
              <a:rPr kumimoji="1" lang="en-US" altLang="zh-CN" dirty="0"/>
              <a:t>docker pull </a:t>
            </a:r>
            <a:r>
              <a:rPr kumimoji="1" lang="en-US" altLang="zh-CN" dirty="0" err="1"/>
              <a:t>demoyuw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nginx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Image </a:t>
            </a:r>
            <a:r>
              <a:rPr kumimoji="1" lang="zh-CN" altLang="en-US" dirty="0"/>
              <a:t>下載</a:t>
            </a:r>
            <a:endParaRPr kumimoji="1" lang="en-US" altLang="zh-CN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8883864-B35E-164B-A043-640B2836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305136B5-D89F-5E44-9A86-1348E6EF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8713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0D77-E2A9-7B49-90E1-037AF6CF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06C78-2FB8-DE46-970F-562153E7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執行</a:t>
            </a:r>
            <a:endParaRPr kumimoji="1" lang="en-US" altLang="zh-TW" dirty="0"/>
          </a:p>
          <a:p>
            <a:pPr lvl="1"/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-v {{</a:t>
            </a:r>
            <a:r>
              <a:rPr lang="zh-TW" altLang="en-US" dirty="0"/>
              <a:t>本地端路徑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 -p {{</a:t>
            </a:r>
            <a:r>
              <a:rPr lang="zh-CN" altLang="en-US" dirty="0"/>
              <a:t>本地端</a:t>
            </a:r>
            <a:r>
              <a:rPr lang="en-US" altLang="zh-CN" dirty="0"/>
              <a:t>port}}:{{container port}} --name {</a:t>
            </a:r>
            <a:r>
              <a:rPr lang="en-US" altLang="zh-CN" dirty="0" err="1"/>
              <a:t>process_name</a:t>
            </a:r>
            <a:r>
              <a:rPr lang="en-US" altLang="zh-CN" dirty="0"/>
              <a:t>} {</a:t>
            </a:r>
            <a:r>
              <a:rPr lang="en-US" altLang="zh-CN" dirty="0" err="1"/>
              <a:t>image_name:version</a:t>
            </a:r>
            <a:r>
              <a:rPr lang="en-US" altLang="zh-CN" dirty="0"/>
              <a:t>} </a:t>
            </a:r>
          </a:p>
          <a:p>
            <a:pPr lvl="1"/>
            <a:r>
              <a:rPr kumimoji="1" lang="en-US" altLang="zh-TW" dirty="0"/>
              <a:t>e.g. 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80:10009 -v /opt:/opt --name flask </a:t>
            </a:r>
            <a:r>
              <a:rPr kumimoji="1" lang="en-US" altLang="zh-Hant" dirty="0"/>
              <a:t>flask:v0.1</a:t>
            </a:r>
            <a:endParaRPr kumimoji="1" lang="en-US" altLang="zh-TW" dirty="0"/>
          </a:p>
          <a:p>
            <a:r>
              <a:rPr kumimoji="1" lang="en-US" altLang="zh-CN" dirty="0"/>
              <a:t>Container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F30C6001-DCD8-B644-9C64-2E81E8F6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8DA33729-D7DA-3F47-993A-74FB2367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89755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3A1EC-08FF-0F42-9040-B78372E9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run </a:t>
            </a:r>
            <a:r>
              <a:rPr kumimoji="1" lang="zh-CN" altLang="en-US" dirty="0"/>
              <a:t>參數介紹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579F35-EB68-FE4B-AF0D-F2B3182C6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 (interactive)</a:t>
            </a:r>
          </a:p>
          <a:p>
            <a:pPr lvl="2"/>
            <a:r>
              <a:rPr kumimoji="1" lang="en-US" altLang="zh-TW" dirty="0"/>
              <a:t>Keep STDIN open</a:t>
            </a:r>
          </a:p>
          <a:p>
            <a:pPr lvl="2"/>
            <a:r>
              <a:rPr kumimoji="1" lang="zh-CN" altLang="en-US" dirty="0"/>
              <a:t>維持標準輸入</a:t>
            </a:r>
            <a:r>
              <a:rPr kumimoji="1" lang="en-US" altLang="zh-CN" dirty="0"/>
              <a:t>open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-t (</a:t>
            </a:r>
            <a:r>
              <a:rPr kumimoji="1" lang="en-US" altLang="zh-TW" dirty="0" err="1"/>
              <a:t>tty</a:t>
            </a:r>
            <a:r>
              <a:rPr kumimoji="1" lang="en-US" altLang="zh-TW" dirty="0"/>
              <a:t>)</a:t>
            </a:r>
          </a:p>
          <a:p>
            <a:pPr lvl="2"/>
            <a:r>
              <a:rPr kumimoji="1" lang="en-US" altLang="zh-TW" dirty="0"/>
              <a:t>Allocate a pseudo-TTY</a:t>
            </a:r>
          </a:p>
          <a:p>
            <a:pPr lvl="2"/>
            <a:r>
              <a:rPr lang="zh-TW" altLang="en-US" dirty="0"/>
              <a:t>为容器分配一个虛擬終端機，才能執行</a:t>
            </a:r>
            <a:r>
              <a:rPr lang="zh-CN" altLang="en-US" dirty="0"/>
              <a:t>給後續執行</a:t>
            </a:r>
            <a:r>
              <a:rPr lang="en-US" altLang="zh-CN" dirty="0"/>
              <a:t>shell(ex: /bin/bash or /bin/</a:t>
            </a:r>
            <a:r>
              <a:rPr lang="en-US" altLang="zh-CN" dirty="0" err="1"/>
              <a:t>sh</a:t>
            </a:r>
            <a:r>
              <a:rPr lang="en-US" altLang="zh-CN" dirty="0"/>
              <a:t>)</a:t>
            </a:r>
            <a:r>
              <a:rPr lang="zh-TW" altLang="en-US" dirty="0"/>
              <a:t>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-d (detach)</a:t>
            </a:r>
          </a:p>
          <a:p>
            <a:pPr lvl="2"/>
            <a:r>
              <a:rPr kumimoji="1" lang="en-US" altLang="zh-TW" dirty="0"/>
              <a:t>Run container in background</a:t>
            </a:r>
          </a:p>
          <a:p>
            <a:pPr lvl="2"/>
            <a:r>
              <a:rPr kumimoji="1" lang="zh-CN" altLang="en-US" dirty="0"/>
              <a:t>在背景裡執行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1BC144-4CA1-4646-B232-4059D9A2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7562E1-2411-824B-A9B3-3BF7C152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7553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621F0-AA5B-FD42-B2C0-DB2D939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159F93-F52B-C74F-850F-221EF0262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TW" altLang="en-US" dirty="0"/>
              <a:t>停止</a:t>
            </a:r>
            <a:r>
              <a:rPr kumimoji="1" lang="en-US" altLang="zh-TW" dirty="0"/>
              <a:t> container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啟動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zh-TW" altLang="en-US" dirty="0"/>
              <a:t>重啟 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restart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restart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endParaRPr kumimoji="1" lang="en-US" altLang="zh-TW" dirty="0"/>
          </a:p>
          <a:p>
            <a:r>
              <a:rPr kumimoji="1" lang="zh-TW" altLang="en-US" dirty="0"/>
              <a:t>刪除</a:t>
            </a:r>
            <a:r>
              <a:rPr kumimoji="1" lang="en-US" altLang="zh-TW" dirty="0"/>
              <a:t>process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3E3DD2-C92D-F649-B17A-4092A92D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474A6B-41AA-2A4B-8011-544C8FDE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8494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9AEBD-2371-084D-AE43-386CA269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EDA505-9CA6-C14B-87D2-0520CC27B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停止所有正在執行的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stop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</a:t>
            </a:r>
            <a:r>
              <a:rPr lang="en-US" altLang="zh-TW" dirty="0"/>
              <a:t>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 image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$(docker images -q)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74D323-FEB8-4D4E-B531-D92C2A86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59A24B-7AD1-4346-8B62-769F17AF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3042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9E7882-67CC-DC49-874C-D61C0995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</a:t>
            </a:r>
            <a:r>
              <a:rPr kumimoji="1" lang="zh-TW" altLang="en-US" dirty="0"/>
              <a:t> 除錯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05E55-42BD-A542-B044-E4D9EFCF4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Container</a:t>
            </a:r>
            <a:r>
              <a:rPr kumimoji="1" lang="zh-TW" altLang="en-US" dirty="0"/>
              <a:t> 內執行</a:t>
            </a:r>
            <a:r>
              <a:rPr kumimoji="1" lang="en-US" altLang="zh-TW" dirty="0"/>
              <a:t>command</a:t>
            </a:r>
            <a:endParaRPr kumimoji="1" lang="en-US" altLang="zh-CN" dirty="0"/>
          </a:p>
          <a:p>
            <a:pPr lvl="1"/>
            <a:r>
              <a:rPr lang="en-US" altLang="zh-TW" dirty="0"/>
              <a:t>docker exec -it {</a:t>
            </a:r>
            <a:r>
              <a:rPr lang="en-US" altLang="zh-TW" dirty="0" err="1"/>
              <a:t>container_name</a:t>
            </a:r>
            <a:r>
              <a:rPr lang="en-US" altLang="zh-TW" dirty="0"/>
              <a:t>} /bin/bash</a:t>
            </a:r>
          </a:p>
          <a:p>
            <a:pPr lvl="2"/>
            <a:r>
              <a:rPr lang="zh-CN" altLang="en-US" dirty="0"/>
              <a:t>在</a:t>
            </a:r>
            <a:r>
              <a:rPr lang="en-US" altLang="zh-CN" dirty="0"/>
              <a:t>container</a:t>
            </a:r>
            <a:r>
              <a:rPr lang="zh-CN" altLang="en-US" dirty="0"/>
              <a:t>內執行</a:t>
            </a:r>
            <a:r>
              <a:rPr lang="en-US" altLang="zh-CN" dirty="0"/>
              <a:t>/bin/bash</a:t>
            </a:r>
            <a:r>
              <a:rPr lang="zh-TW" altLang="en-US" dirty="0"/>
              <a:t> 提供互動環境</a:t>
            </a:r>
            <a:endParaRPr lang="en-US" altLang="zh-TW" dirty="0"/>
          </a:p>
          <a:p>
            <a:pPr lvl="1"/>
            <a:r>
              <a:rPr kumimoji="1" lang="en-US" altLang="zh-TW" dirty="0"/>
              <a:t>docker exec -it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r>
              <a:rPr kumimoji="1" lang="en-US" altLang="zh-TW" dirty="0"/>
              <a:t> ls /</a:t>
            </a:r>
          </a:p>
          <a:p>
            <a:pPr lvl="2"/>
            <a:r>
              <a:rPr kumimoji="1" lang="zh-CN" altLang="en-US" dirty="0"/>
              <a:t>幫你至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執行</a:t>
            </a:r>
            <a:r>
              <a:rPr kumimoji="1" lang="en-US" altLang="zh-CN" dirty="0"/>
              <a:t> `ls</a:t>
            </a:r>
            <a:r>
              <a:rPr kumimoji="1" lang="zh-TW" altLang="en-US" dirty="0"/>
              <a:t> </a:t>
            </a:r>
            <a:r>
              <a:rPr kumimoji="1" lang="en-US" altLang="zh-TW" dirty="0"/>
              <a:t>/ ` command</a:t>
            </a:r>
            <a:r>
              <a:rPr kumimoji="1" lang="zh-CN" altLang="en-US" dirty="0"/>
              <a:t>，並</a:t>
            </a:r>
            <a:r>
              <a:rPr kumimoji="1" lang="en-US" altLang="zh-CN" dirty="0"/>
              <a:t>print output</a:t>
            </a:r>
            <a:endParaRPr kumimoji="1" lang="en-US" altLang="zh-TW" dirty="0"/>
          </a:p>
          <a:p>
            <a:r>
              <a:rPr kumimoji="1" lang="en-US" altLang="zh-TW" dirty="0"/>
              <a:t>Logs (</a:t>
            </a:r>
            <a:r>
              <a:rPr kumimoji="1" lang="zh-CN" altLang="en-US" dirty="0"/>
              <a:t>顯示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內的</a:t>
            </a:r>
            <a:r>
              <a:rPr kumimoji="1" lang="en-US" altLang="zh-CN" dirty="0" err="1"/>
              <a:t>stdout</a:t>
            </a:r>
            <a:r>
              <a:rPr kumimoji="1" lang="zh-TW" altLang="en-US" dirty="0"/>
              <a:t> </a:t>
            </a:r>
            <a:r>
              <a:rPr kumimoji="1" lang="en-US" altLang="zh-TW" dirty="0"/>
              <a:t>and </a:t>
            </a:r>
            <a:r>
              <a:rPr kumimoji="1" lang="en-US" altLang="zh-CN" dirty="0"/>
              <a:t>stderr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docker logs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en-US" altLang="zh-TW" dirty="0"/>
              <a:t>Container detail(</a:t>
            </a:r>
            <a:r>
              <a:rPr kumimoji="1" lang="zh-TW" altLang="en-US" dirty="0"/>
              <a:t>查詢</a:t>
            </a:r>
            <a:r>
              <a:rPr kumimoji="1" lang="en-US" altLang="zh-TW" dirty="0"/>
              <a:t>container</a:t>
            </a:r>
            <a:r>
              <a:rPr kumimoji="1" lang="zh-TW" altLang="en-US" dirty="0"/>
              <a:t> 詳細</a:t>
            </a:r>
            <a:r>
              <a:rPr kumimoji="1" lang="zh-CN" altLang="en-US" dirty="0"/>
              <a:t>設定</a:t>
            </a:r>
            <a:r>
              <a:rPr kumimoji="1" lang="en-US" altLang="zh-TW" dirty="0"/>
              <a:t>)</a:t>
            </a:r>
          </a:p>
          <a:p>
            <a:pPr lvl="1"/>
            <a:r>
              <a:rPr lang="en-US" altLang="zh-TW" dirty="0"/>
              <a:t>docker inspect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pPr lvl="1"/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ED1F591-09A4-224E-92DA-A3E33AA61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363CE5B8-37C0-8D4A-A73C-420D4119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8587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68B08-DFB1-DD44-8D71-4630EEAF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Multi-stage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6C027C-22BA-D24A-81E0-13235ADB4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一個</a:t>
            </a:r>
            <a:r>
              <a:rPr kumimoji="1" lang="en-US" altLang="zh-TW" dirty="0"/>
              <a:t>docker file </a:t>
            </a:r>
            <a:r>
              <a:rPr kumimoji="1" lang="zh-TW" altLang="en-US" dirty="0"/>
              <a:t>可以設計</a:t>
            </a:r>
            <a:r>
              <a:rPr kumimoji="1" lang="zh-CN" altLang="en-US" dirty="0"/>
              <a:t>多個</a:t>
            </a:r>
            <a:r>
              <a:rPr kumimoji="1" lang="en-US" altLang="zh-CN" dirty="0"/>
              <a:t>stages</a:t>
            </a:r>
          </a:p>
          <a:p>
            <a:r>
              <a:rPr kumimoji="1" lang="zh-CN" altLang="en-US" dirty="0"/>
              <a:t>常見的為編譯</a:t>
            </a:r>
            <a:r>
              <a:rPr kumimoji="1" lang="en-US" altLang="zh-CN" dirty="0"/>
              <a:t>1</a:t>
            </a:r>
            <a:r>
              <a:rPr kumimoji="1" lang="zh-CN" altLang="en-US" dirty="0"/>
              <a:t>個</a:t>
            </a:r>
            <a:r>
              <a:rPr kumimoji="1" lang="en-US" altLang="zh-CN" dirty="0"/>
              <a:t>stage</a:t>
            </a:r>
            <a:r>
              <a:rPr kumimoji="1" lang="zh-CN" altLang="en-US" dirty="0"/>
              <a:t>，運行</a:t>
            </a:r>
            <a:r>
              <a:rPr kumimoji="1" lang="en-US" altLang="zh-CN" dirty="0"/>
              <a:t>1</a:t>
            </a:r>
            <a:r>
              <a:rPr kumimoji="1" lang="zh-CN" altLang="en-US" dirty="0"/>
              <a:t>個</a:t>
            </a:r>
            <a:r>
              <a:rPr kumimoji="1" lang="en-US" altLang="zh-CN" dirty="0"/>
              <a:t>stage</a:t>
            </a:r>
          </a:p>
          <a:p>
            <a:r>
              <a:rPr kumimoji="1" lang="zh-CN" altLang="en-US" dirty="0"/>
              <a:t>後執行的</a:t>
            </a:r>
            <a:r>
              <a:rPr kumimoji="1" lang="en-US" altLang="zh-CN" dirty="0"/>
              <a:t>stage</a:t>
            </a:r>
            <a:r>
              <a:rPr kumimoji="1" lang="zh-CN" altLang="en-US" dirty="0"/>
              <a:t>可以</a:t>
            </a:r>
            <a:r>
              <a:rPr kumimoji="1" lang="en-US" altLang="zh-CN" dirty="0"/>
              <a:t>Copy</a:t>
            </a:r>
            <a:r>
              <a:rPr kumimoji="1" lang="zh-CN" altLang="en-US" dirty="0"/>
              <a:t>先執行</a:t>
            </a:r>
            <a:r>
              <a:rPr kumimoji="1" lang="en-US" altLang="zh-CN" dirty="0"/>
              <a:t>stage</a:t>
            </a:r>
            <a:r>
              <a:rPr kumimoji="1" lang="zh-CN" altLang="en-US" dirty="0"/>
              <a:t>裡的檔案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F0A25E-FA0E-7248-AFCD-2CA29C3C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92C11-ECD2-6047-B6F3-7F01577C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45050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77E98-B4F9-D344-B08E-1D9E69DD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Java Spring with </a:t>
            </a:r>
            <a:r>
              <a:rPr kumimoji="1" lang="en-US" altLang="zh-TW" dirty="0" err="1"/>
              <a:t>gradle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93EC9-3290-954B-9863-154943D98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TW" dirty="0">
                <a:latin typeface="+mj-lt"/>
              </a:rPr>
              <a:t>FROM </a:t>
            </a:r>
            <a:r>
              <a:rPr kumimoji="1" lang="en-US" altLang="zh-TW" dirty="0" err="1">
                <a:latin typeface="+mj-lt"/>
              </a:rPr>
              <a:t>gradle</a:t>
            </a:r>
            <a:r>
              <a:rPr kumimoji="1" lang="en-US" altLang="zh-TW" dirty="0">
                <a:latin typeface="+mj-lt"/>
              </a:rPr>
              <a:t>:</a:t>
            </a:r>
            <a:r>
              <a:rPr lang="en" altLang="zh-TW" b="0" i="0" dirty="0">
                <a:solidFill>
                  <a:srgbClr val="1F2328"/>
                </a:solidFill>
                <a:effectLst/>
                <a:latin typeface="+mj-lt"/>
              </a:rPr>
              <a:t>7.6.0-jdk8</a:t>
            </a:r>
            <a:r>
              <a:rPr kumimoji="1" lang="en-US" altLang="zh-TW" dirty="0">
                <a:latin typeface="+mj-lt"/>
              </a:rPr>
              <a:t>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--</a:t>
            </a:r>
            <a:r>
              <a:rPr kumimoji="1" lang="en-US" altLang="zh-TW" dirty="0" err="1"/>
              <a:t>chown</a:t>
            </a:r>
            <a:r>
              <a:rPr kumimoji="1" lang="en-US" altLang="zh-TW" dirty="0"/>
              <a:t>=</a:t>
            </a:r>
            <a:r>
              <a:rPr kumimoji="1" lang="en-US" altLang="zh-TW" dirty="0" err="1"/>
              <a:t>gradle:gradle</a:t>
            </a:r>
            <a:r>
              <a:rPr kumimoji="1" lang="en-US" altLang="zh-TW" dirty="0"/>
              <a:t>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FROM openjdk:8-jdk-alpine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/build/libs/spring-boot-docker-0.0.1-SNAPSHOT.jar </a:t>
            </a:r>
            <a:r>
              <a:rPr kumimoji="1" lang="en-US" altLang="zh-TW" dirty="0" err="1"/>
              <a:t>app.jar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ENTRYPOINT ["java","-jar","/</a:t>
            </a:r>
            <a:r>
              <a:rPr kumimoji="1" lang="en-US" altLang="zh-TW" dirty="0" err="1"/>
              <a:t>app.jar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29A227-18E0-844A-A530-D103F0B4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FF4D18-F835-9B4A-A931-0C235670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36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3166BF-C149-4D24-83FF-8B43287890DA}"/>
              </a:ext>
            </a:extLst>
          </p:cNvPr>
          <p:cNvSpPr txBox="1"/>
          <p:nvPr/>
        </p:nvSpPr>
        <p:spPr>
          <a:xfrm>
            <a:off x="1233150" y="6176963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k8s/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/java-spring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8104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65C2A-9906-DF25-8A01-FD6138CD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Build and Run Java Spring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74A16-01D7-043D-5D1F-401A80E34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建置</a:t>
            </a:r>
            <a:r>
              <a:rPr kumimoji="1" lang="en-US" altLang="zh-TW" dirty="0"/>
              <a:t>image</a:t>
            </a:r>
          </a:p>
          <a:p>
            <a:pPr lvl="1"/>
            <a:r>
              <a:rPr kumimoji="1" lang="en-US" altLang="zh-TW" dirty="0"/>
              <a:t>docker build . -t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r>
              <a:rPr kumimoji="1" lang="zh-TW" altLang="en-US" dirty="0"/>
              <a:t>運行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8080:8080 --name java-spring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r>
              <a:rPr kumimoji="1" lang="zh-TW" altLang="en-US" dirty="0"/>
              <a:t>檢查狀態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  <a:p>
            <a:pPr lvl="1"/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D572F3-BC95-D657-6498-A26835115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099F4F-0FB2-8481-F4E5-F3274DDE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38976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EF0DF-0908-4D87-6FB7-6CAB4B33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驗證 </a:t>
            </a:r>
            <a:r>
              <a:rPr kumimoji="1" lang="en-US" altLang="zh-TW" dirty="0"/>
              <a:t>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9B4874-5EC9-0014-8ADE-24A6F49A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http://{VM1 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IP}:8080/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421C11-6F7B-0BE6-E676-C57142B0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66" y="3028713"/>
            <a:ext cx="9893300" cy="2578100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BB45B9B-7CB2-8A55-1614-C400CB00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D3F45C-9F7D-6775-D04C-4A3B8802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5957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9C7C3-8653-EA44-B56C-F46D8A77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VueJS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08C184-AC69-6743-9736-C813F559C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1" lang="en-US" altLang="zh-TW" dirty="0"/>
              <a:t># build stage</a:t>
            </a:r>
          </a:p>
          <a:p>
            <a:pPr marL="0" indent="0">
              <a:buNone/>
            </a:pPr>
            <a:r>
              <a:rPr kumimoji="1" lang="en-US" altLang="zh-TW" dirty="0"/>
              <a:t>FROM </a:t>
            </a:r>
            <a:r>
              <a:rPr kumimoji="1" lang="en-US" altLang="zh-TW" dirty="0" err="1"/>
              <a:t>node:lts-alpine</a:t>
            </a:r>
            <a:r>
              <a:rPr kumimoji="1" lang="en-US" altLang="zh-TW" dirty="0"/>
              <a:t>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/app</a:t>
            </a:r>
          </a:p>
          <a:p>
            <a:pPr marL="0" indent="0">
              <a:buNone/>
            </a:pPr>
            <a:r>
              <a:rPr kumimoji="1" lang="en-US" altLang="zh-TW" dirty="0"/>
              <a:t>COPY package*.json ./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 install</a:t>
            </a:r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 run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# production stage</a:t>
            </a:r>
          </a:p>
          <a:p>
            <a:pPr marL="0" indent="0">
              <a:buNone/>
            </a:pPr>
            <a:r>
              <a:rPr kumimoji="1" lang="en-US" altLang="zh-TW" dirty="0"/>
              <a:t>FROM </a:t>
            </a:r>
            <a:r>
              <a:rPr kumimoji="1" lang="en-US" altLang="zh-TW" dirty="0" err="1"/>
              <a:t>nginx:stable-alpine</a:t>
            </a:r>
            <a:r>
              <a:rPr kumimoji="1" lang="en-US" altLang="zh-TW" dirty="0"/>
              <a:t> as production-stage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/app/</a:t>
            </a:r>
            <a:r>
              <a:rPr kumimoji="1" lang="en-US" altLang="zh-TW" dirty="0" err="1"/>
              <a:t>dist</a:t>
            </a:r>
            <a:r>
              <a:rPr kumimoji="1" lang="en-US" altLang="zh-TW" dirty="0"/>
              <a:t>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/share/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/html</a:t>
            </a:r>
          </a:p>
          <a:p>
            <a:pPr marL="0" indent="0">
              <a:buNone/>
            </a:pPr>
            <a:r>
              <a:rPr kumimoji="1" lang="en-US" altLang="zh-TW" dirty="0"/>
              <a:t>CMD ["nginx", "-g", "daemon off;"]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AAA29D1-91B0-9D40-95AB-F13EA382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BEC9862-16D6-9F4C-B689-636DBB0A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39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37672D-A6E2-8E84-0873-8653D5BBB78A}"/>
              </a:ext>
            </a:extLst>
          </p:cNvPr>
          <p:cNvSpPr txBox="1"/>
          <p:nvPr/>
        </p:nvSpPr>
        <p:spPr>
          <a:xfrm>
            <a:off x="1216058" y="6081991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k8s/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vuejs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64145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A28D6A-D279-FD4C-8574-7EBCBC5E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None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810C4-E9B2-394B-8263-C998D148F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None network</a:t>
            </a:r>
          </a:p>
          <a:p>
            <a:pPr lvl="1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--net=none</a:t>
            </a:r>
          </a:p>
          <a:p>
            <a:pPr lvl="1"/>
            <a:r>
              <a:rPr kumimoji="1" lang="en-US" altLang="zh-TW" dirty="0"/>
              <a:t>Ex:</a:t>
            </a:r>
          </a:p>
          <a:p>
            <a:pPr lvl="2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--net=none -p 80:80 --name ubuntu16-none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/ubuntu16</a:t>
            </a:r>
          </a:p>
          <a:p>
            <a:pPr lvl="2"/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C2BB48-B0AD-E848-A86B-431AE05C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5ED1DB-D2EE-0943-98A7-CE380ADF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40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5261557-EA26-9242-995B-BFB091007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33" y="4628364"/>
            <a:ext cx="10767933" cy="22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072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B67A7F-EE99-A948-9EEC-46706C1D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Container 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69BCDA-3DCE-C441-AEBE-74462B90A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Container network</a:t>
            </a:r>
          </a:p>
          <a:p>
            <a:pPr lvl="1"/>
            <a:r>
              <a:rPr kumimoji="1" lang="en-US" altLang="zh-TW" dirty="0"/>
              <a:t>docker run -it --net=container:{container name}</a:t>
            </a:r>
          </a:p>
          <a:p>
            <a:pPr lvl="1"/>
            <a:r>
              <a:rPr kumimoji="1" lang="en-US" altLang="zh-TW" dirty="0"/>
              <a:t>Ex:</a:t>
            </a:r>
          </a:p>
          <a:p>
            <a:pPr lvl="2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--name ubuntu16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/ubuntu16</a:t>
            </a:r>
          </a:p>
          <a:p>
            <a:pPr lvl="2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--net=container:ubuntu16 --name ubuntu16-container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/ubuntu16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E61464-26D1-8248-8F46-9A1377A0B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086FF6-4299-0B42-8CCD-1CE61408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3436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5D55CA-2A51-9C43-BE63-6996E6FA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Container 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0EBCA00-8820-C343-9EC4-918BECCB0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0" y="1553102"/>
            <a:ext cx="8487167" cy="2789321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CA3B21-A6ED-924D-936F-EE300100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F0AF20-EFD8-FB4B-AFFA-1193400F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42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EA8F560-7A59-2B4C-AEA8-6AEF4C856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620" y="4351301"/>
            <a:ext cx="8793708" cy="251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669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514E9A-E205-D04B-9DA2-B2F147698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Host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296C35-5D19-384F-9B18-E566E02B5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Host network</a:t>
            </a:r>
          </a:p>
          <a:p>
            <a:pPr lvl="1"/>
            <a:r>
              <a:rPr kumimoji="1" lang="en-US" altLang="zh-TW" dirty="0"/>
              <a:t>docker run -it --net=host</a:t>
            </a:r>
          </a:p>
          <a:p>
            <a:pPr lvl="1"/>
            <a:r>
              <a:rPr kumimoji="1" lang="en-US" altLang="zh-TW" dirty="0"/>
              <a:t>Ex:</a:t>
            </a:r>
          </a:p>
          <a:p>
            <a:pPr lvl="2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--net=host --name ubuntu16-host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/ubuntu16</a:t>
            </a:r>
          </a:p>
          <a:p>
            <a:pPr lvl="1"/>
            <a:r>
              <a:rPr kumimoji="1" lang="zh-TW" altLang="en-US" dirty="0"/>
              <a:t>網路設定與</a:t>
            </a:r>
            <a:r>
              <a:rPr kumimoji="1" lang="en-US" altLang="zh-TW" dirty="0"/>
              <a:t>node</a:t>
            </a:r>
            <a:r>
              <a:rPr kumimoji="1" lang="zh-CN" altLang="en-US" dirty="0"/>
              <a:t>相同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D701DD-619B-0143-828F-E1FDAC51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6348A8-0498-AC43-B17D-7CAFD07A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4774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2D66F7-1E9C-104F-951E-6DB85195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Host</a:t>
            </a:r>
            <a:r>
              <a:rPr kumimoji="1" lang="zh-TW" altLang="en-US" dirty="0"/>
              <a:t> </a:t>
            </a:r>
            <a:r>
              <a:rPr kumimoji="1" lang="en-US" altLang="zh-TW" dirty="0"/>
              <a:t>-2</a:t>
            </a:r>
            <a:endParaRPr kumimoji="1" lang="zh-TW" altLang="en-US"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C8A670E7-32D7-F740-91C3-A7C191D6C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Container host network</a:t>
            </a:r>
            <a:endParaRPr kumimoji="1"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DECA8BCA-E419-3A48-A4B6-6036BEDFE2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6961" y="2822785"/>
            <a:ext cx="5282139" cy="2676283"/>
          </a:xfrm>
          <a:prstGeom prst="rect">
            <a:avLst/>
          </a:prstGeom>
        </p:spPr>
      </p:pic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2142A496-3BDB-8243-AF08-AE0DF1CE0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kumimoji="1" lang="en-US" altLang="zh-TW" dirty="0"/>
              <a:t>Node network</a:t>
            </a:r>
            <a:endParaRPr kumimoji="1" lang="zh-TW" altLang="en-US" dirty="0"/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95A912B1-D0E3-DA45-B47C-E0F81C060C2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674" y="2822785"/>
            <a:ext cx="5653101" cy="2556723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65916F-F6B8-484A-9436-7B0B36A6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E661FA-17C4-B64A-B1D6-F5E19596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4174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806451-A6EE-C24E-84A8-9A342302D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Bridge(default)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72757B-865C-E846-87A3-953B650E2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Bridge network</a:t>
            </a:r>
          </a:p>
          <a:p>
            <a:pPr lvl="1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Ex:</a:t>
            </a:r>
          </a:p>
          <a:p>
            <a:pPr lvl="2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--name ubuntu16-host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/ubuntu16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E9555A-535D-5149-96D6-4CA7E934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7F4316-1AC0-5746-8A63-97D2E4660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11445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5BACA56-0942-2E4E-97EA-1A6A7D1A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88AB1F7F-1F8A-2148-87DF-1CB49DA7E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ED579C24-F3E8-5D43-BA73-5126871B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D18EDA71-EE6F-1642-B064-0D525051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6383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EAB08AD-D650-174F-A9C4-49C913F7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488871-2601-0F4E-BA65-D856E5EA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Container</a:t>
            </a:r>
            <a:r>
              <a:rPr kumimoji="1" lang="zh-Hant" altLang="en-US" dirty="0"/>
              <a:t> 管理工具</a:t>
            </a:r>
            <a:endParaRPr kumimoji="1" lang="en-US" altLang="zh-Hant" dirty="0"/>
          </a:p>
          <a:p>
            <a:r>
              <a:rPr kumimoji="1" lang="zh-TW" altLang="en-US" dirty="0"/>
              <a:t>自動化部屬</a:t>
            </a:r>
            <a:endParaRPr kumimoji="1" lang="en-US" altLang="zh-TW" dirty="0"/>
          </a:p>
          <a:p>
            <a:r>
              <a:rPr kumimoji="1" lang="zh-TW" altLang="en-US" dirty="0"/>
              <a:t>自動化擴展</a:t>
            </a:r>
            <a:endParaRPr kumimoji="1" lang="en-US" altLang="zh-TW" dirty="0"/>
          </a:p>
          <a:p>
            <a:r>
              <a:rPr kumimoji="1" lang="zh-TW" altLang="en-US" dirty="0"/>
              <a:t>使用</a:t>
            </a:r>
            <a:r>
              <a:rPr kumimoji="1" lang="en-US" altLang="zh-TW" dirty="0"/>
              <a:t>Docker </a:t>
            </a:r>
            <a:r>
              <a:rPr kumimoji="1" lang="zh-CN" altLang="en-US" dirty="0"/>
              <a:t>封裝與執行</a:t>
            </a:r>
            <a:endParaRPr kumimoji="1" lang="en-US" altLang="zh-CN" dirty="0"/>
          </a:p>
          <a:p>
            <a:r>
              <a:rPr kumimoji="1" lang="zh-CN" altLang="en-US" dirty="0"/>
              <a:t>解決大規模部署問題</a:t>
            </a:r>
            <a:endParaRPr kumimoji="1" lang="en-US" altLang="zh-CN" dirty="0"/>
          </a:p>
          <a:p>
            <a:r>
              <a:rPr kumimoji="1" lang="zh-CN" altLang="en-US" dirty="0"/>
              <a:t>擁有自我修復機制</a:t>
            </a:r>
            <a:endParaRPr kumimoji="1" lang="en-US" altLang="zh-TW" dirty="0"/>
          </a:p>
          <a:p>
            <a:endParaRPr kumimoji="1" lang="en-US" altLang="zh-Hant" dirty="0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13F3F514-F443-4944-8A25-5092738F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5D9AD21B-ABE0-684D-9EF5-D557506E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47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56F963-65D8-874C-8F82-ACC314191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164" y="3576918"/>
            <a:ext cx="1999672" cy="199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707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53B904-FC86-0848-ABB8-1321DE7A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</a:t>
            </a:r>
            <a:r>
              <a:rPr kumimoji="1" lang="zh-CN" altLang="en-US" dirty="0"/>
              <a:t>架構圖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E6C4F333-CECA-5141-BFF8-1619CD061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9760" y="1218115"/>
            <a:ext cx="7621073" cy="5562508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943F7C6-99D2-4E4F-856E-8E139226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78024DBA-1641-9543-95EB-B17A86ADA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09901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255EE-D350-6344-92F0-B0A3DA80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7354C-023A-7C49-807D-6E437648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Pods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po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Kubernetes</a:t>
            </a:r>
            <a:r>
              <a:rPr kumimoji="1" lang="zh-CN" altLang="en-US" dirty="0"/>
              <a:t>最小單位，由一個或多個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所組成</a:t>
            </a:r>
            <a:endParaRPr kumimoji="1" lang="en-US" altLang="zh-CN" dirty="0"/>
          </a:p>
          <a:p>
            <a:r>
              <a:rPr kumimoji="1" lang="en-US" altLang="zh-TW" dirty="0" err="1"/>
              <a:t>ReplicaSet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rs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zh-CN" altLang="en-US" dirty="0"/>
              <a:t>部署的版本紀錄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對部屬出的</a:t>
            </a:r>
            <a:r>
              <a:rPr kumimoji="1" lang="en-US" altLang="zh-CN" dirty="0"/>
              <a:t>pod</a:t>
            </a:r>
            <a:r>
              <a:rPr kumimoji="1" lang="zh-CN" altLang="en-US" dirty="0"/>
              <a:t>進行管理及維持正常運作</a:t>
            </a:r>
            <a:endParaRPr kumimoji="1" lang="en-US" altLang="zh-CN" dirty="0"/>
          </a:p>
          <a:p>
            <a:r>
              <a:rPr kumimoji="1" lang="en-US" altLang="zh-TW" dirty="0"/>
              <a:t>Deployment (deploy)</a:t>
            </a:r>
          </a:p>
          <a:p>
            <a:pPr lvl="1"/>
            <a:r>
              <a:rPr kumimoji="1" lang="zh-CN" altLang="en-US" dirty="0"/>
              <a:t>管理</a:t>
            </a:r>
            <a:r>
              <a:rPr kumimoji="1" lang="zh-Hant" altLang="en-US" dirty="0"/>
              <a:t> </a:t>
            </a:r>
            <a:r>
              <a:rPr kumimoji="1" lang="en-US" altLang="zh-TW" dirty="0" err="1"/>
              <a:t>ReplicateSet</a:t>
            </a:r>
            <a:endParaRPr kumimoji="1" lang="en-US" altLang="zh-Hant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627C8-E6FF-6E7C-B907-EE63489A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49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8DA95F-3CD5-0D0A-CE9D-1B5F1E8C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121838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BF08E-8F2F-9649-9AB4-7067F64B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Deployment </a:t>
            </a:r>
            <a:r>
              <a:rPr kumimoji="1" lang="zh-CN" altLang="en-US" dirty="0"/>
              <a:t>資源從屬關係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4D659B4-58F2-3647-A530-76D4FBC6D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1996" y="1825625"/>
            <a:ext cx="6848007" cy="4351338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F4CBD8-9FCE-DE41-9A41-A3E09DBBE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4C6C28-02FD-F84B-AE65-71727FA5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50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DB5F1CE-D559-8B4A-8DC7-899B44713673}"/>
              </a:ext>
            </a:extLst>
          </p:cNvPr>
          <p:cNvSpPr txBox="1"/>
          <p:nvPr/>
        </p:nvSpPr>
        <p:spPr>
          <a:xfrm>
            <a:off x="1165253" y="6176963"/>
            <a:ext cx="9953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ithelp.ithome.com.tw</a:t>
            </a:r>
            <a:r>
              <a:rPr kumimoji="1" lang="en-US" altLang="zh-TW" dirty="0">
                <a:latin typeface="Times New Roman" panose="02020603050405020304" pitchFamily="18" charset="0"/>
              </a:rPr>
              <a:t>/articles/10195639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772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58E30-5432-5149-A95D-E4EE3C88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pods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8D3B82B-1BFA-864D-851A-D29FD8ABD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397"/>
            <a:ext cx="10515600" cy="4287794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AD6846B0-8D8D-4B48-9730-4C5CDDB3B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5951B8CF-863C-4141-8672-C11ECD42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22996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1A025-69D6-914C-A3E4-3A29018B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34EE5-1B96-C64F-893D-3C79855D0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Service (svc)</a:t>
            </a:r>
          </a:p>
          <a:p>
            <a:pPr lvl="1"/>
            <a:r>
              <a:rPr kumimoji="1" lang="zh-CN" altLang="en-US" dirty="0"/>
              <a:t>處理</a:t>
            </a:r>
            <a:r>
              <a:rPr kumimoji="1" lang="en-US" altLang="zh-CN" dirty="0"/>
              <a:t>Kubernetes</a:t>
            </a:r>
            <a:r>
              <a:rPr kumimoji="1" lang="zh-CN" altLang="en-US" dirty="0"/>
              <a:t>對外網路</a:t>
            </a:r>
            <a:endParaRPr kumimoji="1" lang="en-US" altLang="zh-CN" dirty="0"/>
          </a:p>
          <a:p>
            <a:r>
              <a:rPr kumimoji="1" lang="en-US" altLang="zh-TW" dirty="0"/>
              <a:t>Label and Label Selector</a:t>
            </a:r>
          </a:p>
          <a:p>
            <a:pPr lvl="1"/>
            <a:r>
              <a:rPr kumimoji="1" lang="en-US" altLang="zh-TW" dirty="0"/>
              <a:t> key value </a:t>
            </a:r>
            <a:r>
              <a:rPr kumimoji="1" lang="zh-CN" altLang="en-US" dirty="0"/>
              <a:t>標籤，用以選擇元件以及供</a:t>
            </a:r>
            <a:r>
              <a:rPr kumimoji="1" lang="en-US" altLang="zh-CN" dirty="0" err="1"/>
              <a:t>kubernetes</a:t>
            </a:r>
            <a:r>
              <a:rPr kumimoji="1" lang="en-US" altLang="zh-CN" dirty="0"/>
              <a:t> </a:t>
            </a:r>
            <a:r>
              <a:rPr kumimoji="1" lang="zh-CN" altLang="en-US" dirty="0"/>
              <a:t>進行資源間綁定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29A10D0-7617-AB43-B49D-3D1C110FE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E835BEBE-D031-D34C-B9F1-1BECA34F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72941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339A5D9-73FC-514D-80A3-8D1A8724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-Service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8B1815F-033B-BD47-948B-A5DF4FDB1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488" y="1825625"/>
            <a:ext cx="4947023" cy="4351338"/>
          </a:xfrm>
        </p:spPr>
      </p:pic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6F758C94-DDDF-4043-ACC4-56024A170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5311B0E9-997A-2543-8607-4F597D0E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94719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01C31-6A2B-ED4F-B546-EBCF104C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Label and Label Selector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67060C9-45AD-0E4A-8D75-B571D53B3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561" y="1514867"/>
            <a:ext cx="4409286" cy="4195762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E2C42B2-DD6E-7B4F-88B8-63049051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7C44117B-54DF-154F-8E19-A50BBA02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13291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A361E-5AFC-534A-ACFE-E41B176F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Selector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CD465378-A4DF-CA4F-87ED-698F4F579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823829" y="1206719"/>
            <a:ext cx="5190697" cy="4970244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3C9FA8-34AA-FF41-B6C8-E42881447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3557B8-2194-3441-9744-828A00D2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84935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3B06A7-69B4-DF4E-9D63-E835B8C4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藍綠部署</a:t>
            </a:r>
            <a:r>
              <a:rPr kumimoji="1" lang="zh-TW" altLang="en-US" dirty="0"/>
              <a:t> </a:t>
            </a:r>
            <a:r>
              <a:rPr kumimoji="1" lang="en-US" altLang="zh-TW" dirty="0"/>
              <a:t>-1 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0E718941-E63E-DD46-9D31-EE1B8DD42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859395" y="1825625"/>
            <a:ext cx="8473210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E2F1BE-FCA5-014F-A8E8-D568958A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F0CD34-D332-7446-8618-BA1FF690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16572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00983-A584-9148-B4C6-DC5911BB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藍綠部署</a:t>
            </a:r>
            <a:r>
              <a:rPr kumimoji="1" lang="zh-TW" altLang="en-US" dirty="0"/>
              <a:t> </a:t>
            </a:r>
            <a:r>
              <a:rPr kumimoji="1" lang="en-US" altLang="zh-TW" dirty="0"/>
              <a:t>- 2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6D6945A9-5797-B446-A843-E8AFEB1B3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110701" y="1825625"/>
            <a:ext cx="7970598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46D44A-497D-9545-92F8-4FD485C4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60D5AE-60B2-AD4A-84A0-BE4DEB49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970657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8A50B0-4302-0048-8552-92DF494E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藍綠部署</a:t>
            </a:r>
            <a:r>
              <a:rPr kumimoji="1" lang="zh-TW" altLang="en-US" dirty="0"/>
              <a:t> </a:t>
            </a:r>
            <a:r>
              <a:rPr kumimoji="1" lang="en-US" altLang="zh-TW" dirty="0"/>
              <a:t>- 3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BA86A795-3C6D-834F-AD01-3450552F0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137488" y="1825625"/>
            <a:ext cx="3917023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D9A15A-D42A-DD42-B1C8-B53EC819D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323439-90D4-7C4C-87CD-3FE95985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034741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6FB308-E185-4248-9BE9-4B1F2D17A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A/B</a:t>
            </a:r>
            <a:r>
              <a:rPr kumimoji="1" lang="zh-CN" altLang="en-US" dirty="0"/>
              <a:t>測試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8AD0E18-16F1-4246-92E6-931CD8A30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214409" y="1825625"/>
            <a:ext cx="7763182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50A6DD-AFDB-5343-AFCD-B5E8BC34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7158459-04B8-C045-A5E3-AC6D83F4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93407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E0D72E-2725-ED45-BE85-09C24C15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A/B</a:t>
            </a:r>
            <a:r>
              <a:rPr kumimoji="1" lang="zh-CN" altLang="en-US" dirty="0"/>
              <a:t>測試</a:t>
            </a:r>
            <a:r>
              <a:rPr kumimoji="1" lang="en-US" altLang="zh-CN" dirty="0"/>
              <a:t>- 2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943F1CF-7D0F-9F41-B767-BE967D0AC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91478" y="1825625"/>
            <a:ext cx="9209044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492BCE-BECF-4542-943E-53D87F6D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93BA9A-7DA8-5142-B5CB-D836A5B1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547403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75EBE3-3B4C-4E47-B755-6AFFDA62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A/B</a:t>
            </a:r>
            <a:r>
              <a:rPr kumimoji="1" lang="zh-CN" altLang="en-US" dirty="0"/>
              <a:t>測試</a:t>
            </a:r>
            <a:r>
              <a:rPr kumimoji="1" lang="en-US" altLang="zh-CN" dirty="0"/>
              <a:t>- 3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8E730AA-8B7E-FD41-9EFE-45B12F6C0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18563" y="1825625"/>
            <a:ext cx="9154873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037641-C040-F246-BBC2-D7783A83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C10ABD-FA82-154C-9D7E-486929F1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21072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93920A-CCA6-5C48-B690-FCF5A9AD0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A/B</a:t>
            </a:r>
            <a:r>
              <a:rPr kumimoji="1" lang="zh-CN" altLang="en-US" dirty="0"/>
              <a:t>測試</a:t>
            </a:r>
            <a:r>
              <a:rPr kumimoji="1" lang="en-US" altLang="zh-CN" dirty="0"/>
              <a:t>- 4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471BEEA-EA33-9B46-A279-9D415D1D0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75678" y="1825625"/>
            <a:ext cx="9040644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625FA5-B2E7-8940-A358-DBB6B3D0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58E0349-9106-4D4E-A525-6259F224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10152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D68356-AF74-BA4D-80D8-E8623EA6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Two Service to one deployment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084D0EF0-2EAF-E14C-9AA2-B8FE62607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571808" y="1825625"/>
            <a:ext cx="7048383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B58A65-C10B-4E45-B243-64495286E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90A7F4-8163-3D40-BF0C-B3B03992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53601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23A8F-AE5C-7141-ABEB-AF60E5C4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Scaling</a:t>
            </a:r>
            <a:endParaRPr kumimoji="1"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90FE9BF6-FF55-044B-87D6-D00664BC4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3783" y="1825625"/>
            <a:ext cx="3970434" cy="4351338"/>
          </a:xfrm>
        </p:spPr>
      </p:pic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9D2EFE03-4E8B-EE42-B8CB-C0290AD00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72053" y="1825625"/>
            <a:ext cx="4181893" cy="4351338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65BE9F31-6D17-9C4F-BAED-E24FD6F9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1537782F-A4E6-F747-90F3-EAC5EF45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68259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720F2-121D-EE41-9D01-3E0D496C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38ABCE8-F959-384F-BA09-0A4CBF349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61567" y="1656878"/>
            <a:ext cx="3726750" cy="4195763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D56F9DF5-E9D0-3844-8BC2-442B5AA98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6309" y="1678405"/>
            <a:ext cx="4254500" cy="3898900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033733B4-A504-0949-AF09-E9564156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77555AAA-939C-9B43-9665-FE9787F7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679961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9468-B349-6047-ADD0-8FAD2077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3D2AC46-FDC6-8F4C-B209-7ACF56FAEA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4906" y="2092017"/>
            <a:ext cx="4292600" cy="3975100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D509847-CDB6-7C42-BD67-3B28DB2460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55413"/>
            <a:ext cx="5181600" cy="4291761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DDEB5B02-4A02-2C46-95D9-6812F294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9CB45192-712E-9C4B-A767-B248641A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53821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708507-0B60-A347-94B9-8AE929AD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network module - Flannel (Overlay network)</a:t>
            </a:r>
            <a:endParaRPr kumimoji="1"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3B4FFC6-7AFB-CB4D-B1DD-4CFAE0D11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40" y="2052918"/>
            <a:ext cx="4245159" cy="4195481"/>
          </a:xfrm>
        </p:spPr>
        <p:txBody>
          <a:bodyPr/>
          <a:lstStyle/>
          <a:p>
            <a:r>
              <a:rPr kumimoji="1" lang="en-US" altLang="zh-TW" dirty="0" err="1"/>
              <a:t>Coreos</a:t>
            </a:r>
            <a:r>
              <a:rPr kumimoji="1" lang="en-US" altLang="zh-TW" dirty="0"/>
              <a:t> project </a:t>
            </a:r>
          </a:p>
          <a:p>
            <a:r>
              <a:rPr kumimoji="1" lang="zh-TW" altLang="en-US" dirty="0"/>
              <a:t>簡化的</a:t>
            </a:r>
            <a:r>
              <a:rPr kumimoji="1" lang="en-US" altLang="zh-TW" dirty="0"/>
              <a:t>layer 3</a:t>
            </a:r>
            <a:r>
              <a:rPr kumimoji="1" lang="zh-CN" altLang="en-US" dirty="0"/>
              <a:t>層網路</a:t>
            </a:r>
            <a:endParaRPr kumimoji="1" lang="en-US" altLang="zh-CN" dirty="0"/>
          </a:p>
          <a:p>
            <a:r>
              <a:rPr kumimoji="1" lang="zh-CN" altLang="en-US" dirty="0"/>
              <a:t>全部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皆在同個內網</a:t>
            </a:r>
            <a:endParaRPr kumimoji="1" lang="en-US" altLang="zh-CN" dirty="0"/>
          </a:p>
          <a:p>
            <a:r>
              <a:rPr kumimoji="1" lang="zh-CN" altLang="en-US" dirty="0"/>
              <a:t>不支援</a:t>
            </a:r>
            <a:r>
              <a:rPr kumimoji="1" lang="en-US" altLang="zh-CN" dirty="0"/>
              <a:t>Network Policy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0B81A3-5E3B-8841-9C20-687BF84E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3BA594-FF11-9A4F-8387-B34E94D0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67</a:t>
            </a:fld>
            <a:endParaRPr kumimoji="1"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D43B8EC-9EE9-6145-BA6D-7DCB80BD7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699" y="1563915"/>
            <a:ext cx="6963641" cy="480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579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51C2C-7A34-9340-8EBD-C82888DE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network module - Calico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3E60E2-0D6C-2748-8EE9-05A16CE2A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5533015" cy="4195481"/>
          </a:xfrm>
        </p:spPr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TW" dirty="0"/>
              <a:t>iptables</a:t>
            </a:r>
            <a:r>
              <a:rPr kumimoji="1" lang="zh-TW" altLang="en-US" dirty="0"/>
              <a:t> </a:t>
            </a:r>
            <a:r>
              <a:rPr kumimoji="1" lang="en-US" altLang="zh-TW" dirty="0"/>
              <a:t>forward</a:t>
            </a:r>
            <a:endParaRPr kumimoji="1" lang="en-US" altLang="zh-CN" dirty="0"/>
          </a:p>
          <a:p>
            <a:r>
              <a:rPr kumimoji="1" lang="zh-CN" altLang="en-US" dirty="0"/>
              <a:t>可建立</a:t>
            </a:r>
            <a:r>
              <a:rPr kumimoji="1" lang="zh-TW" altLang="en-US" dirty="0"/>
              <a:t>軟體防火牆，在</a:t>
            </a:r>
            <a:r>
              <a:rPr kumimoji="1" lang="en-US" altLang="zh-TW" dirty="0"/>
              <a:t>network policy </a:t>
            </a:r>
            <a:r>
              <a:rPr kumimoji="1" lang="zh-CN" altLang="en-US" dirty="0"/>
              <a:t>設定</a:t>
            </a:r>
            <a:r>
              <a:rPr kumimoji="1" lang="en-US" altLang="zh-CN" dirty="0"/>
              <a:t>ingress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 Egress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CF549F-F4DF-1A47-ABB6-95FC51E22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4D5118-12DF-1948-BD39-608A302B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F955050-C188-7745-A23F-761486600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456" y="1317447"/>
            <a:ext cx="5216544" cy="554055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589CE91-D02F-B849-97B7-D9F956406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12" y="4246039"/>
            <a:ext cx="4024438" cy="261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677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D88173B-54E7-3A43-A66B-57C57005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command on VM1</a:t>
            </a:r>
            <a:endParaRPr kumimoji="1"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1C0FE1C-52BA-F447-BD2D-6A83B77C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Ubuntu install </a:t>
            </a:r>
            <a:r>
              <a:rPr lang="en" altLang="zh-TW" dirty="0" err="1"/>
              <a:t>kubectl</a:t>
            </a:r>
            <a:endParaRPr lang="en" altLang="zh-TW" dirty="0"/>
          </a:p>
          <a:p>
            <a:pPr lvl="1"/>
            <a:r>
              <a:rPr lang="en" altLang="zh-TW" dirty="0" err="1"/>
              <a:t>sudo</a:t>
            </a:r>
            <a:r>
              <a:rPr lang="en" altLang="zh-TW" dirty="0"/>
              <a:t> snap install </a:t>
            </a:r>
            <a:r>
              <a:rPr lang="en" altLang="zh-TW" dirty="0" err="1"/>
              <a:t>kubectl</a:t>
            </a:r>
            <a:r>
              <a:rPr lang="en" altLang="zh-TW" dirty="0"/>
              <a:t> --classic</a:t>
            </a:r>
          </a:p>
          <a:p>
            <a:r>
              <a:rPr kumimoji="1" lang="zh-CN" altLang="en-US" dirty="0"/>
              <a:t>安裝方式參照</a:t>
            </a:r>
            <a:endParaRPr kumimoji="1" lang="en-US" altLang="zh-CN" dirty="0"/>
          </a:p>
          <a:p>
            <a:pPr lvl="1"/>
            <a:r>
              <a:rPr lang="en-US" altLang="zh-TW" dirty="0">
                <a:hlinkClick r:id="rId2"/>
              </a:rPr>
              <a:t>https://kubernetes.io/docs/tasks/tools/install-kubectl/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19DFB808-E878-6242-A0ED-7FDE06A3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CEE48982-7315-6643-BAFD-EF3910B0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77759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BF62F8-EAAB-6069-105D-555EEDE4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驗證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</a:t>
            </a:r>
            <a:r>
              <a:rPr kumimoji="1" lang="zh-TW" altLang="en-US" dirty="0"/>
              <a:t>指令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86A926-ABAB-8826-DE12-58CFAA10D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kubectl</a:t>
            </a:r>
            <a:r>
              <a:rPr kumimoji="1" lang="en" altLang="zh-TW" dirty="0"/>
              <a:t> version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CF0179-F9BE-D792-5A32-7A08D1AB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8AA35E-7073-FB4E-3FAF-F6470C897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70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789068E-B372-5B95-1550-B2C24FC7D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01" y="2681554"/>
            <a:ext cx="11687022" cy="150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1666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EC0BF1D-70FA-5B4B-B92A-5A64FCC4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rancher </a:t>
            </a:r>
            <a:r>
              <a:rPr kumimoji="1" lang="zh-Hant" altLang="en-US" dirty="0"/>
              <a:t>安裝</a:t>
            </a:r>
            <a:r>
              <a:rPr kumimoji="1" lang="en-US" altLang="zh-Hant" dirty="0"/>
              <a:t>Kubernetes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D085377-797C-6E43-AD50-E8C15C394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9D12F2D6-5135-7647-BBD7-7CB2EAE1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236B877B-EAB8-3242-BDAA-17A82771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09746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B4518-179A-DA44-AC15-D2E1980E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Kubernetes: Rancher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773B8C-96F1-FA4E-87E8-78839D6E6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部署與管理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open source software</a:t>
            </a:r>
          </a:p>
          <a:p>
            <a:r>
              <a:rPr kumimoji="1" lang="zh-CN" altLang="en-US" dirty="0"/>
              <a:t>可同時管理多套</a:t>
            </a:r>
            <a:endParaRPr kumimoji="1" lang="en-US" altLang="zh-CN" dirty="0"/>
          </a:p>
          <a:p>
            <a:r>
              <a:rPr kumimoji="1" lang="zh-CN" altLang="en-US" dirty="0"/>
              <a:t>視覺化部署與操作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3343D3C2-379C-CC48-B33E-66F989D5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6962720A-CC44-804D-9D96-3FAF3664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72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A5ED1D-0A64-C043-9D08-1246D1CF2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509" y="4150658"/>
            <a:ext cx="2336800" cy="18288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AA85885-98E7-8B5F-01E6-F9C07264F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84" y="3944086"/>
            <a:ext cx="6481594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7747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03F61-DD0D-A443-A8DF-8555A5B1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 Container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9451A5-D890-7741-940B-4687EF20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/k8s/script/</a:t>
            </a:r>
            <a:r>
              <a:rPr kumimoji="1" lang="en" altLang="zh-TW" dirty="0" err="1"/>
              <a:t>ubuntu_deploy_rancher.sh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99C076C-E860-924A-9290-87BFEF89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029A26C-81C8-F444-9147-B446A206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633430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2818B5-49FE-6C41-B6A5-138A0788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73B3260A-7E5C-3E4E-9969-B84F0472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400D4600-2640-D747-BB57-B3F8C60E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74</a:t>
            </a:fld>
            <a:endParaRPr kumimoji="1" lang="zh-TW" altLang="en-US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0D934D22-9288-B1FA-CEB2-31B38D807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078" y="1981086"/>
            <a:ext cx="11785922" cy="1570377"/>
          </a:xfrm>
        </p:spPr>
      </p:pic>
    </p:spTree>
    <p:extLst>
      <p:ext uri="{BB962C8B-B14F-4D97-AF65-F5344CB8AC3E}">
        <p14:creationId xmlns:p14="http://schemas.microsoft.com/office/powerpoint/2010/main" val="31821705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2149B-1796-B06D-1AC4-7C0A0D67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</a:t>
            </a:r>
            <a:r>
              <a:rPr kumimoji="1" lang="zh-TW" altLang="en-US" dirty="0"/>
              <a:t>網頁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721BB-F03D-FF6E-7F83-6C2ACE41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https://{VM1_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IP}</a:t>
            </a:r>
          </a:p>
          <a:p>
            <a:pPr lvl="1"/>
            <a:r>
              <a:rPr kumimoji="1" lang="en-US" altLang="zh-TW" dirty="0"/>
              <a:t>e.g. </a:t>
            </a:r>
            <a:r>
              <a:rPr kumimoji="1" lang="en-US" altLang="zh-TW" dirty="0">
                <a:hlinkClick r:id="rId2"/>
              </a:rPr>
              <a:t>https://35.188.47.40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D87BDF-403C-05D7-BBF8-41B27BD42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01" y="2737426"/>
            <a:ext cx="7352015" cy="3987009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BCF53-EBCC-D867-2CC9-7D7EA624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75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C5FC3B-9AA0-B784-9CD8-FA73A364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30559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DB956-1BEA-8749-BB41-6EB68407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UI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4C78999-D134-B60F-C433-3001D7AF2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331" y="1825625"/>
            <a:ext cx="7879338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264B0-A135-AF80-6D6C-F75E3BA5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76</a:t>
            </a:fld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3A96E86-4200-6918-6477-E774838F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68621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C70AE-F301-ED40-9B81-85950B5A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rancher container </a:t>
            </a:r>
            <a:r>
              <a:rPr kumimoji="1" lang="zh-CN" altLang="en-US" dirty="0"/>
              <a:t>取得</a:t>
            </a:r>
            <a:r>
              <a:rPr kumimoji="1" lang="en-US" altLang="zh-CN" dirty="0"/>
              <a:t>admin</a:t>
            </a:r>
            <a:r>
              <a:rPr kumimoji="1" lang="zh-CN" altLang="en-US" dirty="0"/>
              <a:t>預設密碼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1FF842-9415-1940-B9F6-FE4B9EAC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84E373-913B-4C4D-A260-7489C038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77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803408E-2C01-6544-90E6-1DC4A3E4A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130" y="1265682"/>
            <a:ext cx="5102959" cy="44431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8D0D9F-0D21-B94A-864E-DA6FB4CB0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4" y="5806906"/>
            <a:ext cx="11756032" cy="54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045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F0804-977A-8F4D-9D21-FEC70D36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設定</a:t>
            </a:r>
            <a:r>
              <a:rPr kumimoji="1" lang="en-US" altLang="zh-TW" dirty="0"/>
              <a:t> admin password,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 URL 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326662-0BA9-C047-8E61-4BB01A9A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63A571-7AAC-6541-A5DE-832643F3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78</a:t>
            </a:fld>
            <a:endParaRPr kumimoji="1" lang="zh-TW" altLang="en-US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A62C321D-1C8D-2249-A579-1F349E844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460744"/>
            <a:ext cx="5029200" cy="508110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46DA521-D8DF-38E0-2E52-D4BA874F4430}"/>
              </a:ext>
            </a:extLst>
          </p:cNvPr>
          <p:cNvSpPr txBox="1"/>
          <p:nvPr/>
        </p:nvSpPr>
        <p:spPr>
          <a:xfrm>
            <a:off x="8815227" y="3811712"/>
            <a:ext cx="2270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密碼要記下來啊</a:t>
            </a:r>
          </a:p>
        </p:txBody>
      </p:sp>
    </p:spTree>
    <p:extLst>
      <p:ext uri="{BB962C8B-B14F-4D97-AF65-F5344CB8AC3E}">
        <p14:creationId xmlns:p14="http://schemas.microsoft.com/office/powerpoint/2010/main" val="29282282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8F452-4EAA-4149-B8D3-4241845F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Create Cluster(k8s) on Rancher UI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AC5A4C5B-EC51-D743-9DF0-5EF73F47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94E0A11F-67F8-1641-88E7-DCDA5F2A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79</a:t>
            </a:fld>
            <a:endParaRPr kumimoji="1"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11709B57-C5E7-E841-ACFA-CE9184C50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205" y="1448577"/>
            <a:ext cx="7043352" cy="5099470"/>
          </a:xfrm>
        </p:spPr>
      </p:pic>
    </p:spTree>
    <p:extLst>
      <p:ext uri="{BB962C8B-B14F-4D97-AF65-F5344CB8AC3E}">
        <p14:creationId xmlns:p14="http://schemas.microsoft.com/office/powerpoint/2010/main" val="409693275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699FB4-224C-5C46-86A8-5C5B97C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預計裝在裸機，點選</a:t>
            </a:r>
            <a:r>
              <a:rPr kumimoji="1" lang="en-US" altLang="zh-CN" dirty="0"/>
              <a:t>Custom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F12966A-F79A-BD4A-9E63-8EDD89C3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348F0C9D-7010-C44D-85CB-82A97C43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80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A278A368-AA4F-50DD-2479-962312E21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7323" y="1825625"/>
            <a:ext cx="8937354" cy="4351338"/>
          </a:xfrm>
        </p:spPr>
      </p:pic>
    </p:spTree>
    <p:extLst>
      <p:ext uri="{BB962C8B-B14F-4D97-AF65-F5344CB8AC3E}">
        <p14:creationId xmlns:p14="http://schemas.microsoft.com/office/powerpoint/2010/main" val="17602907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28851-7E04-5945-B88B-39C7D289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Cluster</a:t>
            </a:r>
            <a:r>
              <a:rPr kumimoji="1" lang="zh-CN" altLang="en-US" dirty="0"/>
              <a:t>命名、選擇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版本，選擇網路模組</a:t>
            </a:r>
            <a:r>
              <a:rPr kumimoji="1" lang="en-US" altLang="zh-CN" dirty="0"/>
              <a:t>Calico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95133B2-0129-494F-9B49-84EDD87E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5DF8BD3-7306-E840-AEB5-6F72B656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81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A3A9282-C976-4A64-AA32-E0BBF5172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944" y="1825625"/>
            <a:ext cx="8674111" cy="4351338"/>
          </a:xfrm>
        </p:spPr>
      </p:pic>
    </p:spTree>
    <p:extLst>
      <p:ext uri="{BB962C8B-B14F-4D97-AF65-F5344CB8AC3E}">
        <p14:creationId xmlns:p14="http://schemas.microsoft.com/office/powerpoint/2010/main" val="18453046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2A18F-CCDC-164F-84D0-6E8DD792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勾選</a:t>
            </a:r>
            <a:r>
              <a:rPr kumimoji="1" lang="en-US" altLang="zh-CN" dirty="0" err="1"/>
              <a:t>etcd</a:t>
            </a:r>
            <a:r>
              <a:rPr kumimoji="1" lang="en-US" altLang="zh-CN" dirty="0"/>
              <a:t>, control plane, worker</a:t>
            </a:r>
            <a:r>
              <a:rPr kumimoji="1" lang="zh-CN" altLang="en-US" dirty="0"/>
              <a:t>三項，複製下面</a:t>
            </a:r>
            <a:r>
              <a:rPr kumimoji="1" lang="en-US" altLang="zh-CN" dirty="0"/>
              <a:t>docker command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B6EFFB4F-2BEB-4A48-B1DE-1EFE144F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483ACBB-B839-A143-BA6A-1CC454C8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82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9C641313-A113-3DC1-E147-C5BF32A25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0798" y="1825625"/>
            <a:ext cx="7830403" cy="4351338"/>
          </a:xfrm>
        </p:spPr>
      </p:pic>
    </p:spTree>
    <p:extLst>
      <p:ext uri="{BB962C8B-B14F-4D97-AF65-F5344CB8AC3E}">
        <p14:creationId xmlns:p14="http://schemas.microsoft.com/office/powerpoint/2010/main" val="44402230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162D2-1CB2-2300-25E6-AA08FC36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VM2</a:t>
            </a:r>
            <a:r>
              <a:rPr kumimoji="1" lang="zh-TW" altLang="en-US" dirty="0"/>
              <a:t>上執行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EA988FD-C692-F3EA-7DCC-53BB3CAA0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3653"/>
            <a:ext cx="10515600" cy="4115282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4DB5FC-1749-4B7C-6F01-E6D38BEA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E02504-5EE8-1631-4186-3D58C0DA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38984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40E14-6FDD-E443-EBDA-31DFD6B7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進度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BF6C70-D5AF-21E3-1950-FEB4D0DD9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檢查</a:t>
            </a:r>
            <a:r>
              <a:rPr lang="en-US" altLang="zh-TW" dirty="0" err="1"/>
              <a:t>agenet</a:t>
            </a:r>
            <a:r>
              <a:rPr lang="en-US" altLang="zh-TW" dirty="0"/>
              <a:t> service </a:t>
            </a:r>
            <a:r>
              <a:rPr lang="zh-TW" altLang="en-US" dirty="0"/>
              <a:t>運作有正常啟動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systemctl</a:t>
            </a:r>
            <a:r>
              <a:rPr lang="en" altLang="zh-TW" dirty="0">
                <a:effectLst/>
              </a:rPr>
              <a:t> status rancher-system-agent</a:t>
            </a:r>
          </a:p>
          <a:p>
            <a:pPr lvl="1"/>
            <a:endParaRPr lang="en" altLang="zh-TW" dirty="0">
              <a:effectLst/>
            </a:endParaRPr>
          </a:p>
          <a:p>
            <a:pPr lvl="1"/>
            <a:endParaRPr lang="en" altLang="zh-TW" dirty="0">
              <a:effectLst/>
            </a:endParaRPr>
          </a:p>
          <a:p>
            <a:pPr marL="0" indent="0">
              <a:buNone/>
            </a:pPr>
            <a:endParaRPr lang="en" altLang="zh-TW" dirty="0"/>
          </a:p>
          <a:p>
            <a:r>
              <a:rPr lang="zh-TW" altLang="en-US" dirty="0">
                <a:effectLst/>
              </a:rPr>
              <a:t>查看</a:t>
            </a:r>
            <a:r>
              <a:rPr lang="en-US" altLang="zh-TW" dirty="0">
                <a:effectLst/>
              </a:rPr>
              <a:t>agent log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journalctl</a:t>
            </a:r>
            <a:r>
              <a:rPr lang="en" altLang="zh-TW" dirty="0">
                <a:effectLst/>
              </a:rPr>
              <a:t> -u rancher-system-agent -f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FDDE1-CAEF-EBE3-EEC6-0917E84B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84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368FF2F-E98F-4AD2-9200-BFD45579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992" y="2628182"/>
            <a:ext cx="5129676" cy="144158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88170B7-AB99-8274-001A-56A4EFF4D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30" y="5044690"/>
            <a:ext cx="7772400" cy="1311660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6E01A1-D32D-6E62-44C7-ABB781F6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1880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520A6C-28CF-EB2D-8BB8-4E7C400E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安裝</a:t>
            </a:r>
            <a:r>
              <a:rPr kumimoji="1" lang="en-US" altLang="zh-TW" dirty="0" err="1"/>
              <a:t>kubernetes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BD610A0-6B77-F314-AE76-DC8D43DB6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582" y="2680707"/>
            <a:ext cx="8564310" cy="286441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3BC828-EB5A-46DC-63F6-681408C1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310E4B-D363-7D49-5857-9B9D7C92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115198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11059-EA61-9640-9C69-227A58D1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CN" altLang="en-US" dirty="0"/>
              <a:t>部署中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B8AA87-312F-C942-9334-1A3D52AE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6F2379-05A0-F14A-82DA-14AD8A36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86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ABCFB2C-D970-5A48-8F64-D87ECB4B2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72704"/>
            <a:ext cx="10515600" cy="30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2838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27445-D9DE-4047-B20E-F989280C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部署完成，點選</a:t>
            </a:r>
            <a:r>
              <a:rPr kumimoji="1" lang="en-US" altLang="zh-CN" dirty="0"/>
              <a:t>Download </a:t>
            </a:r>
            <a:r>
              <a:rPr kumimoji="1" lang="en-US" altLang="zh-CN" dirty="0" err="1"/>
              <a:t>KubeConfig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F824DC0-2006-E54A-85C2-B9CE2E8A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A72F5DA-7693-7748-B953-62E667C2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87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870BAFE-8029-DA46-AC9F-0307F584E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6047"/>
            <a:ext cx="10515600" cy="411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909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F632-3C09-7B45-BE8F-E3570729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另存</a:t>
            </a:r>
            <a:r>
              <a:rPr kumimoji="1" lang="en-US" altLang="zh-CN" dirty="0" err="1"/>
              <a:t>Kubeconfig</a:t>
            </a:r>
            <a:r>
              <a:rPr kumimoji="1" lang="zh-TW" altLang="en-US" dirty="0"/>
              <a:t> </a:t>
            </a:r>
            <a:r>
              <a:rPr kumimoji="1" lang="en-US" altLang="zh-TW" dirty="0"/>
              <a:t>file.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BF39B4-0228-4C4C-B5E4-C57BAFA1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4CE738-5E7B-CD44-A97B-DC5878C9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88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31EE3EC-5F84-A247-8578-B8768A7A3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675" y="1825625"/>
            <a:ext cx="81726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148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DD4FD0F-69E2-1B43-89C9-228C4A6C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Hant" altLang="en-US" dirty="0"/>
              <a:t>操作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97EC1AAA-844F-6544-95DD-3E612AC6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FF604AE3-CF3B-A64C-934D-05DD1958B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9E2530EA-3169-5145-975A-B219DB40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0109352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CBC5B-9F23-974A-AF5E-C63365D9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放置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conf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59B2D-44D4-5840-BC1D-970DC321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mkdir</a:t>
            </a:r>
            <a:r>
              <a:rPr kumimoji="1" lang="en-US" altLang="zh-TW" dirty="0"/>
              <a:t> -p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 </a:t>
            </a:r>
          </a:p>
          <a:p>
            <a:r>
              <a:rPr kumimoji="1" lang="en-US" altLang="zh-TW" dirty="0" err="1"/>
              <a:t>Kube</a:t>
            </a:r>
            <a:r>
              <a:rPr kumimoji="1" lang="en-US" altLang="zh-TW" dirty="0"/>
              <a:t> config file </a:t>
            </a:r>
            <a:r>
              <a:rPr kumimoji="1" lang="zh-CN" altLang="en-US" dirty="0"/>
              <a:t>放置到</a:t>
            </a:r>
            <a:r>
              <a:rPr kumimoji="1" lang="en-US" altLang="zh-CN" dirty="0"/>
              <a:t>VM1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~/.</a:t>
            </a:r>
            <a:r>
              <a:rPr kumimoji="1" lang="en-US" altLang="zh-Hant" dirty="0" err="1"/>
              <a:t>kube</a:t>
            </a:r>
            <a:r>
              <a:rPr kumimoji="1" lang="en-US" altLang="zh-Hant" dirty="0"/>
              <a:t>/config</a:t>
            </a:r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node</a:t>
            </a:r>
          </a:p>
          <a:p>
            <a:pPr lvl="1"/>
            <a:r>
              <a:rPr kumimoji="1" lang="zh-TW" altLang="en-US" dirty="0"/>
              <a:t>檢查</a:t>
            </a:r>
            <a:r>
              <a:rPr kumimoji="1" lang="en-US" altLang="zh-TW" dirty="0"/>
              <a:t> k8s</a:t>
            </a:r>
            <a:r>
              <a:rPr kumimoji="1" lang="zh-TW" altLang="en-US" dirty="0"/>
              <a:t>節點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785465-5CB1-15A7-7BBC-7ACD9C8C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024" y="3429000"/>
            <a:ext cx="5816600" cy="8636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FEAB30-86AE-7299-DC11-750B4B67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90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D0A0178-CA02-41CA-E775-716A3DE0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8617425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77948-267F-2A47-8264-6C183B54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切換</a:t>
            </a:r>
            <a:r>
              <a:rPr kumimoji="1" lang="en-US" altLang="zh-TW" dirty="0"/>
              <a:t>k8s </a:t>
            </a:r>
            <a:r>
              <a:rPr kumimoji="1" lang="zh-CN" altLang="en-US" dirty="0"/>
              <a:t>環境</a:t>
            </a:r>
            <a:r>
              <a:rPr kumimoji="1" lang="en-US" altLang="zh-CN" dirty="0"/>
              <a:t> (</a:t>
            </a:r>
            <a:r>
              <a:rPr kumimoji="1" lang="zh-CN" altLang="en-US" dirty="0"/>
              <a:t>讀取</a:t>
            </a:r>
            <a:r>
              <a:rPr kumimoji="1" lang="en-US" altLang="zh-CN" dirty="0"/>
              <a:t>~/.</a:t>
            </a:r>
            <a:r>
              <a:rPr kumimoji="1" lang="en-US" altLang="zh-CN" dirty="0" err="1"/>
              <a:t>kube</a:t>
            </a:r>
            <a:r>
              <a:rPr kumimoji="1" lang="en-US" altLang="zh-CN" dirty="0"/>
              <a:t>/config)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736299-322B-C04A-9660-5E1EEFE4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Cluster </a:t>
            </a:r>
            <a:r>
              <a:rPr kumimoji="1" lang="zh-TW" altLang="en-US" dirty="0"/>
              <a:t>列表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config get-contexts </a:t>
            </a:r>
          </a:p>
          <a:p>
            <a:r>
              <a:rPr kumimoji="1" lang="zh-CN" altLang="en-US" dirty="0"/>
              <a:t>選擇使用</a:t>
            </a:r>
            <a:r>
              <a:rPr kumimoji="1" lang="en-US" altLang="zh-CN" dirty="0"/>
              <a:t> Cluster </a:t>
            </a:r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config use-context {cluster name}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998DF0-0765-FB4C-805D-B4C158B7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BC47C4-DE6E-024E-9BD5-8673F2C1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11087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08250-C5BF-4746-A6AA-90A458EF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Kubernets</a:t>
            </a:r>
            <a:r>
              <a:rPr kumimoji="1" lang="en-US" altLang="zh-TW" dirty="0"/>
              <a:t> </a:t>
            </a:r>
            <a:r>
              <a:rPr kumimoji="1" lang="zh-TW" altLang="en-US" dirty="0"/>
              <a:t>最小單位</a:t>
            </a:r>
            <a:r>
              <a:rPr kumimoji="1" lang="en-US" altLang="zh-TW" dirty="0"/>
              <a:t>: pod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9D437C-1BA0-0049-9FDC-B6306D8BF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zh-TW" sz="3200" dirty="0" err="1"/>
              <a:t>containers.image</a:t>
            </a:r>
            <a:endParaRPr kumimoji="1" lang="en-US" altLang="zh-TW" sz="3200" dirty="0"/>
          </a:p>
          <a:p>
            <a:pPr lvl="1"/>
            <a:r>
              <a:rPr kumimoji="1" lang="en-US" altLang="zh-TW" sz="2800" dirty="0"/>
              <a:t>Image:</a:t>
            </a:r>
            <a:r>
              <a:rPr kumimoji="1" lang="zh-CN" altLang="en-US" sz="2800" dirty="0"/>
              <a:t>版號</a:t>
            </a:r>
            <a:endParaRPr kumimoji="1" lang="en-US" altLang="zh-CN" sz="2800" dirty="0"/>
          </a:p>
          <a:p>
            <a:r>
              <a:rPr kumimoji="1" lang="en-US" altLang="zh-TW" sz="3200" dirty="0" err="1"/>
              <a:t>Containers.ports.containPort</a:t>
            </a:r>
            <a:endParaRPr kumimoji="1" lang="en-US" altLang="zh-TW" sz="3200" dirty="0"/>
          </a:p>
          <a:p>
            <a:pPr lvl="1"/>
            <a:r>
              <a:rPr kumimoji="1" lang="en-US" altLang="zh-TW" sz="2800" dirty="0"/>
              <a:t>container</a:t>
            </a:r>
            <a:r>
              <a:rPr kumimoji="1" lang="zh-CN" altLang="en-US" sz="2800" dirty="0"/>
              <a:t>服務</a:t>
            </a:r>
            <a:r>
              <a:rPr kumimoji="1" lang="en-US" altLang="zh-CN" sz="2800" dirty="0"/>
              <a:t>port</a:t>
            </a:r>
            <a:endParaRPr kumimoji="1" lang="zh-TW" altLang="en-US" sz="2800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FC978A1-9037-E64B-976A-92DB3B22A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C73431BD-E6AC-7746-9BDF-77EDED3E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92</a:t>
            </a:fld>
            <a:endParaRPr kumimoji="1"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70FFF7E-B0DE-24B1-C172-2503B8D50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EA8DDBC-C510-27F2-BFB2-51585723D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7930"/>
            <a:ext cx="5273068" cy="444397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146889B-1CE4-2078-7F22-11B189F2771D}"/>
              </a:ext>
            </a:extLst>
          </p:cNvPr>
          <p:cNvSpPr txBox="1"/>
          <p:nvPr/>
        </p:nvSpPr>
        <p:spPr>
          <a:xfrm>
            <a:off x="6545549" y="5313333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>
                <a:latin typeface="Times New Roman" panose="02020603050405020304" pitchFamily="18" charset="0"/>
              </a:rPr>
              <a:t>k8s/pods/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2509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B52E666-08FA-6A61-69AC-7856C51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r>
              <a:rPr lang="en-US" altLang="zh-TW" dirty="0"/>
              <a:t>Kubernetes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zh-TW" altLang="en-US" dirty="0"/>
              <a:t>檔，</a:t>
            </a:r>
            <a:r>
              <a:rPr lang="en-US" altLang="zh-TW" dirty="0"/>
              <a:t>apply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B45B0B-E08D-5726-B93D-7C347543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apply -f ~/k8s/pods/</a:t>
            </a:r>
            <a:r>
              <a:rPr lang="en-US" altLang="zh-TW" dirty="0" err="1"/>
              <a:t>nginx.yaml</a:t>
            </a:r>
            <a:endParaRPr lang="en-US" altLang="zh-TW" dirty="0"/>
          </a:p>
          <a:p>
            <a:r>
              <a:rPr lang="zh-TW" altLang="en-US" dirty="0"/>
              <a:t>檢查狀態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get pod</a:t>
            </a:r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7C78AE-5B38-69CB-4397-5F34046D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93</a:t>
            </a:fld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3F943A1-094B-1CD7-D820-587A8027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43697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C998-0B8B-304A-A376-75C4FA25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C713B3A-6478-404F-91E3-726E76670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64941" y="1447801"/>
            <a:ext cx="8255000" cy="1574800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6600DADC-AEFE-254E-9B03-73C19EE9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92BC1FC1-1B86-BC4D-B3CA-E4B73F9E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94</a:t>
            </a:fld>
            <a:endParaRPr kumimoji="1"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B868C5-F4B2-1D43-90E5-6C3C349A34E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55813"/>
            <a:ext cx="6827838" cy="4200525"/>
          </a:xfrm>
        </p:spPr>
        <p:txBody>
          <a:bodyPr>
            <a:noAutofit/>
          </a:bodyPr>
          <a:lstStyle/>
          <a:p>
            <a:r>
              <a:rPr kumimoji="1" lang="en-US" altLang="zh-TW" sz="3200" dirty="0"/>
              <a:t>READY</a:t>
            </a:r>
          </a:p>
          <a:p>
            <a:pPr lvl="1"/>
            <a:r>
              <a:rPr kumimoji="1" lang="en-US" altLang="zh-TW" sz="3200" dirty="0"/>
              <a:t>Ready/ pods </a:t>
            </a:r>
            <a:r>
              <a:rPr kumimoji="1" lang="zh-CN" altLang="en-US" sz="3200" dirty="0"/>
              <a:t>數量</a:t>
            </a:r>
            <a:endParaRPr kumimoji="1" lang="en-US" altLang="zh-CN" sz="3200" dirty="0"/>
          </a:p>
          <a:p>
            <a:r>
              <a:rPr kumimoji="1" lang="en-US" altLang="zh-TW" sz="3200" dirty="0"/>
              <a:t>Restarts</a:t>
            </a:r>
          </a:p>
          <a:p>
            <a:pPr lvl="1"/>
            <a:r>
              <a:rPr kumimoji="1" lang="zh-CN" altLang="en-US" sz="3200" dirty="0"/>
              <a:t>重啟次數</a:t>
            </a:r>
            <a:endParaRPr kumimoji="1" lang="en-US" altLang="zh-CN" sz="3200" dirty="0"/>
          </a:p>
          <a:p>
            <a:r>
              <a:rPr kumimoji="1" lang="en-US" altLang="zh-TW" sz="3200" dirty="0"/>
              <a:t>AGE</a:t>
            </a:r>
          </a:p>
          <a:p>
            <a:pPr lvl="1"/>
            <a:r>
              <a:rPr kumimoji="1" lang="zh-CN" altLang="en-US" sz="3200" dirty="0"/>
              <a:t>此</a:t>
            </a:r>
            <a:r>
              <a:rPr kumimoji="1" lang="en-US" altLang="zh-CN" sz="3200" dirty="0"/>
              <a:t>pod </a:t>
            </a:r>
            <a:r>
              <a:rPr kumimoji="1" lang="zh-CN" altLang="en-US" sz="3200" dirty="0"/>
              <a:t>存在時間</a:t>
            </a:r>
            <a:endParaRPr kumimoji="1"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3564893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FF85F-1AA0-8847-A83B-9CB3F9E8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568710-EA4A-6340-BB9C-8D7ED73FA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Status</a:t>
            </a:r>
          </a:p>
          <a:p>
            <a:pPr lvl="1"/>
            <a:r>
              <a:rPr kumimoji="1" lang="en-US" altLang="zh-TW" sz="3200" dirty="0"/>
              <a:t>Pending</a:t>
            </a:r>
          </a:p>
          <a:p>
            <a:pPr lvl="2"/>
            <a:r>
              <a:rPr kumimoji="1" lang="zh-TW" altLang="en-US" sz="3200" dirty="0"/>
              <a:t>待建立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Running</a:t>
            </a:r>
          </a:p>
          <a:p>
            <a:pPr lvl="2"/>
            <a:r>
              <a:rPr kumimoji="1" lang="zh-TW" altLang="en-US" sz="3200" dirty="0"/>
              <a:t>運行中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Succeeded</a:t>
            </a:r>
          </a:p>
          <a:p>
            <a:pPr lvl="2"/>
            <a:r>
              <a:rPr kumimoji="1" lang="zh-CN" altLang="en-US" sz="3200" dirty="0"/>
              <a:t>終止成功</a:t>
            </a:r>
            <a:endParaRPr kumimoji="1" lang="en-US" altLang="zh-CN" sz="3200" dirty="0"/>
          </a:p>
          <a:p>
            <a:pPr lvl="1"/>
            <a:r>
              <a:rPr kumimoji="1" lang="en-US" altLang="zh-TW" sz="3200" dirty="0"/>
              <a:t>Failed</a:t>
            </a:r>
          </a:p>
          <a:p>
            <a:pPr lvl="2"/>
            <a:r>
              <a:rPr kumimoji="1" lang="zh-CN" altLang="en-US" sz="3200" dirty="0"/>
              <a:t>終止時有ㄧ</a:t>
            </a:r>
            <a:r>
              <a:rPr kumimoji="1" lang="en-US" altLang="zh-CN" sz="3200" dirty="0"/>
              <a:t>pod</a:t>
            </a:r>
            <a:r>
              <a:rPr kumimoji="1" lang="zh-CN" altLang="en-US" sz="3200" dirty="0"/>
              <a:t>不正常終止</a:t>
            </a:r>
            <a:endParaRPr kumimoji="1" lang="en-US" altLang="zh-TW" sz="3200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384C64DD-B41C-554D-9D60-3B82BB680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6CD27030-FA46-9B4C-B996-1EB60448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555648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A9F81-2B5C-8C4C-B3B3-A43B04F9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-1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760886E-30EB-5041-8509-F13AB4DA8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9119" y="1744978"/>
            <a:ext cx="3905755" cy="5092916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CB29FF4-A115-D248-B7F3-95D946C8A452}"/>
              </a:ext>
            </a:extLst>
          </p:cNvPr>
          <p:cNvSpPr txBox="1"/>
          <p:nvPr/>
        </p:nvSpPr>
        <p:spPr>
          <a:xfrm>
            <a:off x="1388662" y="1375646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deployment/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</a:t>
            </a:r>
            <a:r>
              <a:rPr kumimoji="1" lang="en-US" altLang="zh-TW" dirty="0">
                <a:latin typeface="Times New Roman" panose="02020603050405020304" pitchFamily="18" charset="0"/>
              </a:rPr>
              <a:t>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nginx-deploy.yaml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E8B042-182B-4E7B-60E7-254E7D41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96</a:t>
            </a:fld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633F9A-DB52-EA62-3154-0A37FEB4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238899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B52E666-08FA-6A61-69AC-7856C51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Apply deployment </a:t>
            </a:r>
            <a:r>
              <a:rPr lang="en-US" altLang="zh-TW" dirty="0" err="1"/>
              <a:t>yaml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B45B0B-E08D-5726-B93D-7C347543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Apply</a:t>
            </a:r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apply -f k8s/</a:t>
            </a:r>
            <a:r>
              <a:rPr kumimoji="1" lang="en-US" altLang="zh-TW" dirty="0">
                <a:latin typeface="Times New Roman" panose="02020603050405020304" pitchFamily="18" charset="0"/>
              </a:rPr>
              <a:t>deployment/nginx/nginx-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deploy.yaml</a:t>
            </a:r>
            <a:endParaRPr lang="en-US" altLang="zh-TW" dirty="0"/>
          </a:p>
          <a:p>
            <a:r>
              <a:rPr lang="zh-TW" altLang="en-US" dirty="0"/>
              <a:t>檢查狀態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get deployment</a:t>
            </a:r>
          </a:p>
          <a:p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FA2181B-3CB6-9E4F-E53A-0455A4CD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252451-A45D-71AE-8769-0CF29355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8877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D3F-E4B9-F248-8246-63D60C4F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顯示資訊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1B685B-61BE-F444-AD4D-E76BD302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pPr lvl="1"/>
            <a:r>
              <a:rPr kumimoji="1" lang="en-US" altLang="zh-TW" dirty="0" err="1"/>
              <a:t>po</a:t>
            </a:r>
            <a:r>
              <a:rPr kumimoji="1" lang="en-US" altLang="zh-TW" dirty="0"/>
              <a:t> : pods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pods</a:t>
            </a:r>
          </a:p>
          <a:p>
            <a:pPr lvl="1"/>
            <a:r>
              <a:rPr kumimoji="1" lang="en-US" altLang="zh-TW" dirty="0"/>
              <a:t>svc: Service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svc</a:t>
            </a:r>
          </a:p>
          <a:p>
            <a:pPr lvl="1"/>
            <a:r>
              <a:rPr kumimoji="1" lang="en-US" altLang="zh-TW" dirty="0"/>
              <a:t>deploy: deployment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deploy</a:t>
            </a:r>
          </a:p>
          <a:p>
            <a:pPr lvl="1"/>
            <a:r>
              <a:rPr kumimoji="1" lang="en-US" altLang="zh-TW" dirty="0" err="1"/>
              <a:t>rs</a:t>
            </a:r>
            <a:r>
              <a:rPr kumimoji="1" lang="en-US" altLang="zh-TW" dirty="0"/>
              <a:t>: replicate set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rs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F9C01524-0EFB-9446-B2E2-607150CA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433B6B56-5B34-E246-944E-905C29DF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98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C50E90-5786-3648-9EF1-E09AF175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745" y="1152983"/>
            <a:ext cx="6987255" cy="334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044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F9B8C0A-DFA4-FC4A-9275-AE88DC5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4F456F1-2D17-8248-8081-1E590AF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kind: </a:t>
            </a:r>
            <a:r>
              <a:rPr kumimoji="1" lang="en-US" altLang="zh-TW" dirty="0" err="1"/>
              <a:t>Deploymnet</a:t>
            </a:r>
            <a:endParaRPr kumimoji="1" lang="en-US" altLang="zh-TW" dirty="0"/>
          </a:p>
          <a:p>
            <a:r>
              <a:rPr kumimoji="1" lang="en-US" altLang="zh-TW" dirty="0" err="1"/>
              <a:t>metadata.name</a:t>
            </a:r>
            <a:r>
              <a:rPr kumimoji="1" lang="en-US" altLang="zh-TW" dirty="0"/>
              <a:t>: deployment name</a:t>
            </a:r>
          </a:p>
          <a:p>
            <a:r>
              <a:rPr kumimoji="1" lang="en-US" altLang="zh-TW" dirty="0" err="1"/>
              <a:t>metadata.labels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app:nginx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設定此</a:t>
            </a:r>
            <a:r>
              <a:rPr kumimoji="1" lang="en-US" altLang="zh-CN" dirty="0"/>
              <a:t>deployment </a:t>
            </a:r>
            <a:r>
              <a:rPr kumimoji="1" lang="zh-CN" altLang="en-US" dirty="0"/>
              <a:t>標籤</a:t>
            </a:r>
            <a:r>
              <a:rPr kumimoji="1" lang="en-US" altLang="zh-CN" dirty="0"/>
              <a:t>, key: value</a:t>
            </a:r>
          </a:p>
          <a:p>
            <a:r>
              <a:rPr kumimoji="1" lang="en-US" altLang="zh-TW" dirty="0" err="1"/>
              <a:t>Metadata.annotations</a:t>
            </a:r>
            <a:r>
              <a:rPr kumimoji="1" lang="en-US" altLang="zh-TW" dirty="0"/>
              <a:t>:</a:t>
            </a:r>
            <a:r>
              <a:rPr kumimoji="1" lang="zh-TW" altLang="en-US" dirty="0"/>
              <a:t> 註解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F0AE06A0-1F88-7547-A1E6-0E833EAE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DCBBD755-31F5-2C42-9FC8-8E0AAC1C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0482136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E4782-3D17-144A-8115-B0E29163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E86E81-6A58-C14C-90DC-9AA2ED5BC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spec.replicas</a:t>
            </a:r>
            <a:r>
              <a:rPr kumimoji="1" lang="en-US" altLang="zh-TW" dirty="0"/>
              <a:t>: 3</a:t>
            </a:r>
          </a:p>
          <a:p>
            <a:pPr lvl="1"/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 err="1"/>
              <a:t>sepc.selector.matchLables</a:t>
            </a:r>
            <a:r>
              <a:rPr kumimoji="1" lang="en-US" altLang="zh-CN" dirty="0"/>
              <a:t>: </a:t>
            </a:r>
            <a:r>
              <a:rPr kumimoji="1" lang="en-US" altLang="zh-CN" dirty="0" err="1"/>
              <a:t>app:nginx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Pod </a:t>
            </a:r>
            <a:r>
              <a:rPr kumimoji="1" lang="zh-CN" altLang="en-US" dirty="0"/>
              <a:t>裡的</a:t>
            </a:r>
            <a:r>
              <a:rPr kumimoji="1" lang="en-US" altLang="zh-CN" dirty="0"/>
              <a:t>labels </a:t>
            </a:r>
            <a:r>
              <a:rPr kumimoji="1" lang="zh-CN" altLang="en-US" dirty="0"/>
              <a:t>的值需與此相同</a:t>
            </a:r>
            <a:endParaRPr kumimoji="1" lang="en-US" altLang="zh-CN" dirty="0"/>
          </a:p>
          <a:p>
            <a:r>
              <a:rPr kumimoji="1" lang="en-US" altLang="zh-TW" dirty="0" err="1"/>
              <a:t>spec.template.metadata.labels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2E18D6-8B36-2B49-9FB7-97EAD230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6BC8846-5B1C-AC42-A3B8-E8BCC383C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44549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DB11EF2-A2F1-8944-8A4C-04093DA0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-1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EF9DCC-65F1-A049-9866-BAC270083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1400" y="1573477"/>
            <a:ext cx="8089900" cy="1282700"/>
          </a:xfrm>
        </p:spPr>
      </p:pic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495A3559-F0BA-3747-82B7-4AB909FC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69F73E5D-7D6E-1049-A92D-52E48652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101</a:t>
            </a:fld>
            <a:endParaRPr kumimoji="1"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E13598-280B-3C49-AAE6-3D2C2454F56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55813"/>
            <a:ext cx="7772400" cy="4200525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NAME</a:t>
            </a:r>
          </a:p>
          <a:p>
            <a:pPr lvl="1"/>
            <a:r>
              <a:rPr kumimoji="1" lang="en-US" altLang="zh-TW" sz="2800" dirty="0" err="1"/>
              <a:t>Dployment</a:t>
            </a:r>
            <a:r>
              <a:rPr kumimoji="1" lang="en-US" altLang="zh-TW" sz="2800" dirty="0"/>
              <a:t> name</a:t>
            </a:r>
          </a:p>
          <a:p>
            <a:r>
              <a:rPr kumimoji="1" lang="en-US" altLang="zh-TW" sz="3200" dirty="0"/>
              <a:t>DESIRED</a:t>
            </a:r>
          </a:p>
          <a:p>
            <a:pPr lvl="1"/>
            <a:r>
              <a:rPr kumimoji="1" lang="zh-CN" altLang="en-US" sz="2800" dirty="0"/>
              <a:t>要求此</a:t>
            </a:r>
            <a:r>
              <a:rPr kumimoji="1" lang="en-US" altLang="zh-CN" sz="2800" dirty="0"/>
              <a:t>deployment</a:t>
            </a:r>
            <a:r>
              <a:rPr kumimoji="1" lang="zh-Hant" altLang="en-US" sz="2800" dirty="0"/>
              <a:t> </a:t>
            </a:r>
            <a:r>
              <a:rPr kumimoji="1" lang="zh-CN" altLang="en-US" sz="2800" dirty="0"/>
              <a:t>須啟多少</a:t>
            </a:r>
            <a:r>
              <a:rPr kumimoji="1" lang="en-US" altLang="zh-CN" sz="2800" dirty="0"/>
              <a:t>replicas</a:t>
            </a:r>
          </a:p>
          <a:p>
            <a:r>
              <a:rPr kumimoji="1" lang="en-US" altLang="zh-CN" sz="3200" dirty="0"/>
              <a:t>CURRENT</a:t>
            </a:r>
          </a:p>
          <a:p>
            <a:pPr lvl="1"/>
            <a:r>
              <a:rPr kumimoji="1" lang="zh-CN" altLang="en-US" sz="2800" dirty="0"/>
              <a:t>顯示正在</a:t>
            </a:r>
            <a:r>
              <a:rPr kumimoji="1" lang="en-US" altLang="zh-CN" sz="2800" dirty="0"/>
              <a:t>running </a:t>
            </a:r>
            <a:r>
              <a:rPr kumimoji="1" lang="zh-CN" altLang="en-US" sz="2800" dirty="0"/>
              <a:t>的</a:t>
            </a:r>
            <a:r>
              <a:rPr kumimoji="1" lang="zh-Hant" altLang="en-US" sz="2800" dirty="0"/>
              <a:t> </a:t>
            </a:r>
            <a:r>
              <a:rPr kumimoji="1" lang="en-US" altLang="zh-CN" sz="2800" dirty="0"/>
              <a:t>replicas</a:t>
            </a:r>
          </a:p>
        </p:txBody>
      </p:sp>
    </p:spTree>
    <p:extLst>
      <p:ext uri="{BB962C8B-B14F-4D97-AF65-F5344CB8AC3E}">
        <p14:creationId xmlns:p14="http://schemas.microsoft.com/office/powerpoint/2010/main" val="29461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2EC5B-B0A6-1D43-88DA-6AC748A2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D601F-2B21-8A43-B992-1F035453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UP-TO-DATE</a:t>
            </a:r>
          </a:p>
          <a:p>
            <a:pPr lvl="1"/>
            <a:r>
              <a:rPr kumimoji="1" lang="zh-CN" altLang="en-US" dirty="0"/>
              <a:t>已更新多少</a:t>
            </a:r>
            <a:r>
              <a:rPr kumimoji="1" lang="en-US" altLang="zh-CN" dirty="0"/>
              <a:t>replicas</a:t>
            </a:r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/>
              <a:t>AVAILABLE</a:t>
            </a:r>
          </a:p>
          <a:p>
            <a:pPr lvl="1"/>
            <a:r>
              <a:rPr kumimoji="1" lang="zh-CN" altLang="en-US" dirty="0"/>
              <a:t>多少</a:t>
            </a:r>
            <a:r>
              <a:rPr kumimoji="1" lang="en-US" altLang="zh-CN" dirty="0"/>
              <a:t>replicas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可用</a:t>
            </a:r>
            <a:endParaRPr kumimoji="1" lang="en-US" altLang="zh-CN" dirty="0"/>
          </a:p>
          <a:p>
            <a:r>
              <a:rPr kumimoji="1" lang="en-US" altLang="zh-CN" dirty="0"/>
              <a:t>Age</a:t>
            </a:r>
          </a:p>
          <a:p>
            <a:pPr lvl="1"/>
            <a:r>
              <a:rPr kumimoji="1" lang="zh-CN" altLang="en-US" dirty="0"/>
              <a:t>此</a:t>
            </a:r>
            <a:r>
              <a:rPr kumimoji="1" lang="en-US" altLang="zh-CN" dirty="0" err="1"/>
              <a:t>Deploment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存在時間</a:t>
            </a:r>
            <a:endParaRPr kumimoji="1" lang="en-US" altLang="zh-CN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9A62FEE-5432-DE44-876C-9D1DFA287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82FF93B4-D13D-9C4D-BD0D-7B6FAEE9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476485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C8C0F005-34D0-A847-90BF-82DC7AA4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container request and limit -1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5DCF1AC3-91E4-AC49-8280-1C0931525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6850" y="1905794"/>
            <a:ext cx="4178300" cy="4191000"/>
          </a:xfr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D81A99-9177-F74A-8DB0-7483E64A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DD6943-F383-EB44-8119-1B335D4E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103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AF9A1C9-426D-A34D-8E91-9D7015177794}"/>
              </a:ext>
            </a:extLst>
          </p:cNvPr>
          <p:cNvSpPr txBox="1"/>
          <p:nvPr/>
        </p:nvSpPr>
        <p:spPr>
          <a:xfrm>
            <a:off x="1388662" y="1375646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deployment/backend/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backend.yaml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04510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C83026-2835-0348-BFCE-A3E6858C1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container request and limit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D17AD3-E2EB-FA4A-911F-66642BEC8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CPU</a:t>
            </a:r>
          </a:p>
          <a:p>
            <a:pPr lvl="1"/>
            <a:r>
              <a:rPr lang="zh-TW" altLang="en-US" dirty="0"/>
              <a:t>預設</a:t>
            </a:r>
            <a:r>
              <a:rPr lang="en-US" altLang="zh-TW" dirty="0"/>
              <a:t>CPU</a:t>
            </a:r>
            <a:r>
              <a:rPr lang="zh-TW" altLang="en-US" dirty="0"/>
              <a:t>值 </a:t>
            </a:r>
            <a:r>
              <a:rPr lang="en-US" altLang="zh-TW" dirty="0"/>
              <a:t>request </a:t>
            </a:r>
            <a:r>
              <a:rPr lang="zh-TW" altLang="en-US" dirty="0"/>
              <a:t>為</a:t>
            </a:r>
            <a:r>
              <a:rPr lang="en-US" altLang="zh-TW" dirty="0"/>
              <a:t>0.5</a:t>
            </a:r>
            <a:r>
              <a:rPr lang="zh-TW" altLang="en-US" dirty="0"/>
              <a:t>，</a:t>
            </a:r>
            <a:r>
              <a:rPr lang="en-US" altLang="zh-TW" dirty="0"/>
              <a:t>limits</a:t>
            </a:r>
            <a:r>
              <a:rPr lang="zh-TW" altLang="en-US" dirty="0"/>
              <a:t>為</a:t>
            </a:r>
            <a:r>
              <a:rPr lang="en-US" altLang="zh-TW" dirty="0"/>
              <a:t>1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en-US" altLang="zh-TW" dirty="0"/>
              <a:t>1 </a:t>
            </a:r>
            <a:r>
              <a:rPr lang="en-US" altLang="zh-TW" dirty="0" err="1"/>
              <a:t>cpu</a:t>
            </a:r>
            <a:r>
              <a:rPr lang="en-US" altLang="zh-TW" dirty="0"/>
              <a:t> = 1 AWS vCPU = 1 GCP Core = 1 Azure </a:t>
            </a:r>
            <a:r>
              <a:rPr lang="en-US" altLang="zh-TW" dirty="0" err="1"/>
              <a:t>vCore</a:t>
            </a:r>
            <a:r>
              <a:rPr lang="en-US" altLang="zh-TW" dirty="0"/>
              <a:t> = 1 IBM vCPU = 1 </a:t>
            </a:r>
            <a:r>
              <a:rPr lang="en-US" altLang="zh-TW" dirty="0" err="1"/>
              <a:t>Hyperthread</a:t>
            </a:r>
            <a:r>
              <a:rPr lang="en-US" altLang="zh-TW" dirty="0"/>
              <a:t> on a bare-metal intel processor with Hyperthreading  </a:t>
            </a:r>
          </a:p>
          <a:p>
            <a:pPr lvl="2"/>
            <a:r>
              <a:rPr lang="en-US" altLang="zh-TW" dirty="0"/>
              <a:t>0.1 </a:t>
            </a:r>
            <a:r>
              <a:rPr lang="en-US" altLang="zh-TW" dirty="0" err="1"/>
              <a:t>cpu</a:t>
            </a:r>
            <a:r>
              <a:rPr lang="en-US" altLang="zh-TW" dirty="0"/>
              <a:t> = 100m (one hundred </a:t>
            </a:r>
            <a:r>
              <a:rPr lang="en-US" altLang="zh-TW" dirty="0" err="1"/>
              <a:t>millicpu</a:t>
            </a:r>
            <a:r>
              <a:rPr lang="en-US" altLang="zh-TW" dirty="0"/>
              <a:t>)  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C431E2-4CA2-924C-9E19-DBA7090AE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15DDEAD-E7AD-E545-AE87-BF542C94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58958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4627E1-16E0-584E-B6BA-5BD9847D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container request and limit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498F43-D78D-3544-8664-C3E0156E6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Memory</a:t>
            </a:r>
          </a:p>
          <a:p>
            <a:pPr lvl="1"/>
            <a:r>
              <a:rPr lang="en-US" altLang="zh-TW" dirty="0" err="1"/>
              <a:t>Ti</a:t>
            </a:r>
            <a:r>
              <a:rPr lang="en-US" altLang="zh-TW" dirty="0"/>
              <a:t> = </a:t>
            </a:r>
            <a:r>
              <a:rPr lang="en-US" altLang="zh-TW" dirty="0" err="1"/>
              <a:t>TiB</a:t>
            </a:r>
            <a:r>
              <a:rPr lang="en-US" altLang="zh-TW" dirty="0"/>
              <a:t>, </a:t>
            </a:r>
            <a:r>
              <a:rPr lang="en-US" altLang="zh-TW" dirty="0" err="1"/>
              <a:t>Gi</a:t>
            </a:r>
            <a:r>
              <a:rPr lang="en-US" altLang="zh-TW" dirty="0"/>
              <a:t>= </a:t>
            </a:r>
            <a:r>
              <a:rPr lang="en-US" altLang="zh-TW" dirty="0" err="1"/>
              <a:t>GiB</a:t>
            </a:r>
            <a:r>
              <a:rPr lang="en-US" altLang="zh-TW" dirty="0"/>
              <a:t>, Mi = </a:t>
            </a:r>
            <a:r>
              <a:rPr lang="en-US" altLang="zh-TW" dirty="0" err="1"/>
              <a:t>MiB</a:t>
            </a:r>
            <a:r>
              <a:rPr lang="en-US" altLang="zh-TW" dirty="0"/>
              <a:t>, Ki = KiB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B5E8D1-1291-A347-AA53-76BBA3C96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3941F3-AD92-8244-BA61-06520D50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76934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28FDE-8B13-0442-949A-D07AD07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-1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4FA4D4-5E7E-3C45-9FD3-9A64AC00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exec -it {pod-name} -- {command}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CN" altLang="en-US" dirty="0"/>
              <a:t>直接到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內執行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 -- /bin/bash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exec -it nginx-deployment-76659fcbf6-djgxd -- /bin/bash</a:t>
            </a:r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F7DC617-AD46-7149-81B0-8C90F010F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797748CF-F526-8647-8123-84BABC18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106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F6BE53-5238-6448-B2FD-F62BBF60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2348651"/>
            <a:ext cx="12054840" cy="72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40972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742B7-F677-EE44-992F-36476862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F62D6-4A42-FE4D-A5FC-A9E098829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內的指定</a:t>
            </a:r>
            <a:r>
              <a:rPr kumimoji="1" lang="en-US" altLang="zh-CN" dirty="0"/>
              <a:t>Container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-c {container-name}  -- /bin/bash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36DEF1-0B4F-CE42-B883-67EC958EB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CE08EFF-65F3-B646-BCF9-FF4343A4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55329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A6298-1B10-A344-8C1E-4E8DD4E8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Pod</a:t>
            </a:r>
            <a:r>
              <a:rPr kumimoji="1" lang="zh-CN" altLang="en-US" dirty="0"/>
              <a:t>訊息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9ADC85-AEFB-7F43-AC84-6D842FB3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Pod</a:t>
            </a:r>
            <a:r>
              <a:rPr kumimoji="1" lang="zh-CN" altLang="en-US" dirty="0"/>
              <a:t>狀態正常：可以讀取</a:t>
            </a:r>
            <a:r>
              <a:rPr kumimoji="1" lang="en-US" altLang="zh-CN" dirty="0" err="1"/>
              <a:t>stdout</a:t>
            </a:r>
            <a:r>
              <a:rPr kumimoji="1" lang="zh-TW" altLang="en-US" dirty="0"/>
              <a:t> 與</a:t>
            </a:r>
            <a:r>
              <a:rPr kumimoji="1" lang="en-US" altLang="zh-TW" dirty="0"/>
              <a:t>stderr</a:t>
            </a:r>
            <a:r>
              <a:rPr kumimoji="1" lang="zh-TW" altLang="en-US" dirty="0"/>
              <a:t> 來查看資訊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kuebectl</a:t>
            </a:r>
            <a:r>
              <a:rPr kumimoji="1" lang="en-US" altLang="zh-TW" dirty="0"/>
              <a:t> logs {pod-name} </a:t>
            </a:r>
          </a:p>
          <a:p>
            <a:r>
              <a:rPr kumimoji="1" lang="en-US" altLang="zh-CN" dirty="0"/>
              <a:t>Pod</a:t>
            </a:r>
            <a:r>
              <a:rPr kumimoji="1" lang="zh-CN" altLang="en-US" dirty="0"/>
              <a:t>狀態異常：可經由</a:t>
            </a:r>
            <a:r>
              <a:rPr kumimoji="1" lang="en-US" altLang="zh-CN" dirty="0"/>
              <a:t>describe </a:t>
            </a:r>
            <a:r>
              <a:rPr kumimoji="1" lang="zh-CN" altLang="en-US" dirty="0"/>
              <a:t>來查看</a:t>
            </a:r>
            <a:r>
              <a:rPr kumimoji="1" lang="en-US" altLang="zh-TW" dirty="0"/>
              <a:t>k8s</a:t>
            </a:r>
            <a:r>
              <a:rPr kumimoji="1" lang="zh-TW" altLang="en-US" dirty="0"/>
              <a:t> 啟動</a:t>
            </a:r>
            <a:r>
              <a:rPr kumimoji="1" lang="en-US" altLang="zh-TW" dirty="0"/>
              <a:t>pod</a:t>
            </a:r>
            <a:r>
              <a:rPr kumimoji="1" lang="zh-TW" altLang="en-US" dirty="0"/>
              <a:t>時所記錄下的</a:t>
            </a:r>
            <a:r>
              <a:rPr kumimoji="1" lang="en-US" altLang="zh-TW" dirty="0"/>
              <a:t>Events</a:t>
            </a:r>
            <a:r>
              <a:rPr kumimoji="1" lang="zh-TW" altLang="en-US" dirty="0"/>
              <a:t>與</a:t>
            </a:r>
            <a:r>
              <a:rPr kumimoji="1" lang="en-US" altLang="zh-TW" dirty="0"/>
              <a:t>pod</a:t>
            </a:r>
            <a:r>
              <a:rPr kumimoji="1" lang="zh-TW" altLang="en-US" dirty="0"/>
              <a:t>的詳細資訊</a:t>
            </a:r>
            <a:endParaRPr kumimoji="1" lang="en-US" altLang="zh-CN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describe pod {pod-name}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92BDF4-8A5D-1B42-785C-9EBBBA58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108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72E803-C392-3BAB-0C7D-E0CE5B19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4819247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9C6339-6045-324E-BC73-29D1571B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</a:t>
            </a:r>
            <a:r>
              <a:rPr kumimoji="1" lang="zh-CN" altLang="en-US" dirty="0"/>
              <a:t>指令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6A83A8-7867-6845-9B52-A59FFAF28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動詞支援多個資源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{</a:t>
            </a:r>
            <a:r>
              <a:rPr kumimoji="1" lang="zh-CN" altLang="en-US" dirty="0"/>
              <a:t>動詞</a:t>
            </a:r>
            <a:r>
              <a:rPr kumimoji="1" lang="en-US" altLang="zh-TW" dirty="0"/>
              <a:t>}</a:t>
            </a:r>
            <a:r>
              <a:rPr kumimoji="1" lang="zh-TW" altLang="en-US" dirty="0"/>
              <a:t> </a:t>
            </a:r>
            <a:r>
              <a:rPr kumimoji="1" lang="en-US" altLang="zh-TW" dirty="0"/>
              <a:t>{</a:t>
            </a:r>
            <a:r>
              <a:rPr kumimoji="1" lang="zh-CN" altLang="en-US" dirty="0"/>
              <a:t>資源種類</a:t>
            </a:r>
            <a:r>
              <a:rPr kumimoji="1" lang="en-US" altLang="zh-TW" dirty="0"/>
              <a:t>} {</a:t>
            </a:r>
            <a:r>
              <a:rPr kumimoji="1" lang="zh-CN" altLang="en-US" dirty="0"/>
              <a:t>特定資訊名稱</a:t>
            </a:r>
            <a:r>
              <a:rPr kumimoji="1" lang="en-US" altLang="zh-TW" dirty="0"/>
              <a:t>}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pod 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-pod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apply -f </a:t>
            </a:r>
            <a:r>
              <a:rPr kumimoji="1" lang="en-US" altLang="zh-TW" dirty="0" err="1"/>
              <a:t>nginx-pod.yaml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describe pod nginx-pod</a:t>
            </a:r>
          </a:p>
          <a:p>
            <a:r>
              <a:rPr kumimoji="1" lang="zh-CN" altLang="en-US" dirty="0"/>
              <a:t>動詞只支援某個特定資源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{</a:t>
            </a:r>
            <a:r>
              <a:rPr kumimoji="1" lang="zh-CN" altLang="en-US" dirty="0"/>
              <a:t>動詞</a:t>
            </a:r>
            <a:r>
              <a:rPr kumimoji="1" lang="en-US" altLang="zh-TW" dirty="0"/>
              <a:t>}{</a:t>
            </a:r>
            <a:r>
              <a:rPr kumimoji="1" lang="zh-CN" altLang="en-US" dirty="0"/>
              <a:t>特定資訊名稱</a:t>
            </a:r>
            <a:r>
              <a:rPr kumimoji="1" lang="en-US" altLang="zh-TW" dirty="0"/>
              <a:t>}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exec -it 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-pod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logs 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-pod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5746BF-2ABA-5B42-B279-38DA2FDE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055035-9CF6-FD4C-BCFD-7849E559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068977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21B6A2-3343-C54B-B10D-F69BAEC8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: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run </a:t>
            </a:r>
            <a:r>
              <a:rPr kumimoji="1" lang="en-US" altLang="zh-Hant" dirty="0" err="1"/>
              <a:t>nginx</a:t>
            </a:r>
            <a:r>
              <a:rPr kumimoji="1" lang="en-US" altLang="zh-Hant" dirty="0"/>
              <a:t> deployment upgrade and </a:t>
            </a:r>
            <a:r>
              <a:rPr kumimoji="1" lang="en-US" altLang="zh-TW" dirty="0"/>
              <a:t>rollout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2FD9C2-CCF9-7648-BC31-4225CFBCC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更改</a:t>
            </a:r>
            <a:r>
              <a:rPr kumimoji="1" lang="en-US" altLang="zh-TW" dirty="0"/>
              <a:t>deployment </a:t>
            </a:r>
            <a:r>
              <a:rPr kumimoji="1" lang="en-US" altLang="zh-TW" dirty="0" err="1"/>
              <a:t>yaml</a:t>
            </a:r>
            <a:r>
              <a:rPr kumimoji="1" lang="zh-TW" altLang="en-US" dirty="0"/>
              <a:t>裡的</a:t>
            </a:r>
            <a:r>
              <a:rPr kumimoji="1" lang="en-US" altLang="zh-TW" dirty="0"/>
              <a:t>container tag</a:t>
            </a:r>
          </a:p>
          <a:p>
            <a:pPr lvl="1"/>
            <a:r>
              <a:rPr kumimoji="1" lang="en-US" altLang="zh-TW" dirty="0"/>
              <a:t>nginx:1.14.2 --&gt; nginx:1.15</a:t>
            </a:r>
          </a:p>
          <a:p>
            <a:r>
              <a:rPr kumimoji="1" lang="zh-TW" altLang="en-US" dirty="0"/>
              <a:t>重新部署服務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nginx-</a:t>
            </a:r>
            <a:r>
              <a:rPr kumimoji="1" lang="en-US" altLang="zh-TW" dirty="0" err="1"/>
              <a:t>deploy.yaml</a:t>
            </a:r>
            <a:endParaRPr kumimoji="1" lang="en-US" altLang="zh-TW" dirty="0"/>
          </a:p>
          <a:p>
            <a:r>
              <a:rPr kumimoji="1" lang="zh-CN" altLang="en-US" dirty="0"/>
              <a:t>增加註解說明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annotate deploy </a:t>
            </a:r>
            <a:r>
              <a:rPr kumimoji="1" lang="en-US" altLang="zh-CN" dirty="0" err="1"/>
              <a:t>nginx</a:t>
            </a:r>
            <a:r>
              <a:rPr kumimoji="1" lang="en-US" altLang="zh-CN" dirty="0"/>
              <a:t>-deployment description="first version"</a:t>
            </a:r>
            <a:endParaRPr kumimoji="1" lang="en-US" altLang="zh-TW" dirty="0"/>
          </a:p>
          <a:p>
            <a:r>
              <a:rPr kumimoji="1" lang="zh-TW" altLang="en-US" dirty="0"/>
              <a:t>查看</a:t>
            </a:r>
            <a:r>
              <a:rPr kumimoji="1" lang="en-US" altLang="zh-TW" dirty="0" err="1"/>
              <a:t>rs</a:t>
            </a:r>
            <a:r>
              <a:rPr kumimoji="1" lang="zh-TW" altLang="en-US" dirty="0"/>
              <a:t>的部署歷程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describe </a:t>
            </a:r>
            <a:r>
              <a:rPr kumimoji="1" lang="en-US" altLang="zh-TW" dirty="0" err="1"/>
              <a:t>rs</a:t>
            </a:r>
            <a:r>
              <a:rPr kumimoji="1" lang="en-US" altLang="zh-TW" dirty="0"/>
              <a:t> {</a:t>
            </a:r>
            <a:r>
              <a:rPr lang="en-US" altLang="zh-TW" dirty="0" err="1"/>
              <a:t>ReplicationSet_name</a:t>
            </a:r>
            <a:r>
              <a:rPr kumimoji="1" lang="en-US" altLang="zh-TW" dirty="0"/>
              <a:t>}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8B47E2-251F-5545-8FCB-A7C79CD5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7AAC97-5501-444B-BED2-A4C08C1C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380372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940DE7-2F52-B540-A258-B697652BD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: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run </a:t>
            </a:r>
            <a:r>
              <a:rPr kumimoji="1" lang="en-US" altLang="zh-Hant" dirty="0" err="1"/>
              <a:t>nginx</a:t>
            </a:r>
            <a:r>
              <a:rPr kumimoji="1" lang="en-US" altLang="zh-Hant" dirty="0"/>
              <a:t> deployment upgrade and </a:t>
            </a:r>
            <a:r>
              <a:rPr kumimoji="1" lang="en-US" altLang="zh-TW" dirty="0"/>
              <a:t>rollout -4</a:t>
            </a:r>
            <a:br>
              <a:rPr kumimoji="1" lang="en-US" altLang="zh-Hant" dirty="0"/>
            </a:b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7B266A-C462-8A42-BD7F-6D2F779E6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對</a:t>
            </a:r>
            <a:r>
              <a:rPr kumimoji="1" lang="en-US" altLang="zh-CN" dirty="0" err="1"/>
              <a:t>kubernets</a:t>
            </a:r>
            <a:r>
              <a:rPr kumimoji="1" lang="zh-TW" altLang="en-US" dirty="0"/>
              <a:t> 運作中資源進行即時</a:t>
            </a:r>
            <a:r>
              <a:rPr kumimoji="1" lang="zh-CN" altLang="en-US" dirty="0"/>
              <a:t>調整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edit deploy nginx-deployment</a:t>
            </a:r>
          </a:p>
          <a:p>
            <a:r>
              <a:rPr kumimoji="1" lang="zh-CN" altLang="en-US" dirty="0"/>
              <a:t>回朔到上一個版本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rollout undo deploy {</a:t>
            </a:r>
            <a:r>
              <a:rPr kumimoji="1" lang="en-US" altLang="zh-CN" dirty="0" err="1"/>
              <a:t>deployment_name</a:t>
            </a:r>
            <a:r>
              <a:rPr kumimoji="1" lang="en-US" altLang="zh-CN" dirty="0"/>
              <a:t>}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35DF7025-7D38-C543-9BEA-65D8C516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09A7B46F-75C7-8B4B-81D8-51515F9B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220379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3A058D-51F1-804E-9054-0534499E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: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run </a:t>
            </a:r>
            <a:r>
              <a:rPr kumimoji="1" lang="en-US" altLang="zh-Hant" dirty="0" err="1"/>
              <a:t>nginx</a:t>
            </a:r>
            <a:r>
              <a:rPr kumimoji="1" lang="en-US" altLang="zh-Hant" dirty="0"/>
              <a:t> deployment upgrade and </a:t>
            </a:r>
            <a:r>
              <a:rPr kumimoji="1" lang="en-US" altLang="zh-TW" dirty="0"/>
              <a:t>rollout -5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BB874E-280B-8C4D-B535-FBF1D0EF9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回朔到指定版本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rollout undo deploy {</a:t>
            </a:r>
            <a:r>
              <a:rPr kumimoji="1" lang="en-US" altLang="zh-CN" dirty="0" err="1"/>
              <a:t>deployment_name</a:t>
            </a:r>
            <a:r>
              <a:rPr kumimoji="1" lang="en-US" altLang="zh-CN" dirty="0"/>
              <a:t>} --to-revision=n</a:t>
            </a:r>
          </a:p>
          <a:p>
            <a:r>
              <a:rPr kumimoji="1" lang="zh-CN" altLang="en-US" dirty="0"/>
              <a:t>重新啟動部署服務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rollout restart deploy {</a:t>
            </a:r>
            <a:r>
              <a:rPr kumimoji="1" lang="en-US" altLang="zh-CN" dirty="0" err="1"/>
              <a:t>deployment_name</a:t>
            </a:r>
            <a:r>
              <a:rPr kumimoji="1" lang="en-US" altLang="zh-CN" dirty="0"/>
              <a:t>}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93B8AC5-95B3-4740-BB81-F5721755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7CAF4BC1-A040-E144-8A55-61CC2122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1495204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6596EF-2BB6-D042-836C-D914FFEB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node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5FD9A0-6333-B140-A2C6-8938CD5FE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25209"/>
            <a:ext cx="8946541" cy="4195481"/>
          </a:xfrm>
        </p:spPr>
        <p:txBody>
          <a:bodyPr/>
          <a:lstStyle/>
          <a:p>
            <a:r>
              <a:rPr lang="en-US" altLang="zh-TW" dirty="0" err="1"/>
              <a:t>kubectl</a:t>
            </a:r>
            <a:r>
              <a:rPr lang="en-US" altLang="zh-TW" dirty="0"/>
              <a:t> get nodes -o wide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get nodes --show-labels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BF02164E-5273-B344-A222-A0D0FB96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6B375F01-370A-8B4F-9787-9636449B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113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44FDE87-AA6C-4A44-9BD0-8466DA1D1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29577"/>
            <a:ext cx="10228279" cy="106333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877B997-E311-AA45-8628-658691FF3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43940"/>
            <a:ext cx="10326938" cy="98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7045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548A98-1F87-064E-9EFE-F78189EF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node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4F94EC-6AE5-A342-969E-BD2BA27CF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Set labels on node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label node {node name} hardware=high-</a:t>
            </a:r>
            <a:r>
              <a:rPr kumimoji="1" lang="en-US" altLang="zh-TW" dirty="0" err="1"/>
              <a:t>cpu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r>
              <a:rPr kumimoji="1" lang="en-US" altLang="zh-TW" dirty="0"/>
              <a:t>Remove labels on node</a:t>
            </a:r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label node {node name} {key}-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label node Django-</a:t>
            </a:r>
            <a:r>
              <a:rPr kumimoji="1" lang="en-US" altLang="zh-TW" dirty="0" err="1"/>
              <a:t>vm</a:t>
            </a:r>
            <a:r>
              <a:rPr kumimoji="1" lang="en-US" altLang="zh-TW" dirty="0"/>
              <a:t> hardware-</a:t>
            </a:r>
            <a:endParaRPr kumimoji="1" lang="zh-TW" altLang="en-US" dirty="0"/>
          </a:p>
          <a:p>
            <a:pPr marL="0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921E00-C6D3-3F4A-8157-E10B014C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EE53CF-7D9E-E044-AFE1-3B2D18DF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114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4A92FC-2D5C-7C41-AA67-8AF97F5C2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58" y="2911763"/>
            <a:ext cx="11693251" cy="51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1234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BFDC8B-B438-5441-9F16-24F63FAB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node-3 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C052D-9B35-494D-A455-979DEC4D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513EA92-887C-A84F-9413-EDCC7E74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115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61F5A59-82EE-9D4F-AB1E-7CF52B501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451" y="1357399"/>
            <a:ext cx="7568308" cy="492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3557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D3C0C2-B685-C64D-A210-ECA6CE12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-1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AC6E089-0169-974B-BCC9-02FF9BF7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1BE8514-ECD9-3F42-BDAF-D1B1A7C0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116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3209B91B-C7AC-3E66-7D27-AAD3D03EA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501" y="1272528"/>
            <a:ext cx="3657600" cy="5416953"/>
          </a:xfr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DC918E8-CDCA-3CAB-9196-C9103107DD3E}"/>
              </a:ext>
            </a:extLst>
          </p:cNvPr>
          <p:cNvSpPr txBox="1"/>
          <p:nvPr/>
        </p:nvSpPr>
        <p:spPr>
          <a:xfrm>
            <a:off x="8311792" y="1690688"/>
            <a:ext cx="290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k8s/service/nginx-service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803411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67D718D-8759-4747-B592-5A6D6A07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C63B5390-E4C4-594C-BE20-2423FA9B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Type:</a:t>
            </a:r>
          </a:p>
          <a:p>
            <a:pPr lvl="1"/>
            <a:r>
              <a:rPr kumimoji="1" lang="en-US" altLang="zh-TW" dirty="0" err="1"/>
              <a:t>NodePort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需設</a:t>
            </a:r>
            <a:r>
              <a:rPr kumimoji="1" lang="en-US" altLang="zh-CN" dirty="0" err="1"/>
              <a:t>nodePort</a:t>
            </a:r>
            <a:r>
              <a:rPr kumimoji="1" lang="zh-CN" altLang="en-US" dirty="0"/>
              <a:t>，預設可用範圍：</a:t>
            </a:r>
            <a:r>
              <a:rPr kumimoji="1" lang="en-US" altLang="zh-CN" dirty="0"/>
              <a:t>32000~32767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ClusterIP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不直接對外，</a:t>
            </a:r>
            <a:r>
              <a:rPr kumimoji="1" lang="en-US" altLang="zh-CN" dirty="0"/>
              <a:t>k8s</a:t>
            </a:r>
            <a:r>
              <a:rPr kumimoji="1" lang="zh-CN" altLang="en-US" dirty="0"/>
              <a:t>內部服務使用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LoadBalancer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需接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使用</a:t>
            </a:r>
            <a:endParaRPr kumimoji="1" lang="en-US" altLang="zh-TW" dirty="0"/>
          </a:p>
          <a:p>
            <a:r>
              <a:rPr kumimoji="1" lang="en-US" altLang="zh-TW" dirty="0"/>
              <a:t>Port: cluster</a:t>
            </a:r>
            <a:r>
              <a:rPr kumimoji="1" lang="zh-CN" altLang="en-US" dirty="0"/>
              <a:t>內對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</a:p>
          <a:p>
            <a:r>
              <a:rPr kumimoji="1" lang="en-US" altLang="zh-TW" dirty="0" err="1"/>
              <a:t>targetPort</a:t>
            </a:r>
            <a:r>
              <a:rPr kumimoji="1" lang="en-US" altLang="zh-TW" dirty="0"/>
              <a:t>: </a:t>
            </a:r>
            <a:r>
              <a:rPr kumimoji="1" lang="en-US" altLang="zh-CN" dirty="0"/>
              <a:t>pod</a:t>
            </a:r>
            <a:r>
              <a:rPr kumimoji="1" lang="zh-CN" altLang="en-US" dirty="0"/>
              <a:t>端口所使用的</a:t>
            </a:r>
            <a:r>
              <a:rPr kumimoji="1" lang="en-US" altLang="zh-CN" dirty="0"/>
              <a:t>port</a:t>
            </a:r>
          </a:p>
          <a:p>
            <a:r>
              <a:rPr kumimoji="1" lang="en-US" altLang="zh-TW" dirty="0" err="1"/>
              <a:t>nodePort</a:t>
            </a:r>
            <a:r>
              <a:rPr kumimoji="1" lang="en-US" altLang="zh-TW" dirty="0"/>
              <a:t>: cluster</a:t>
            </a:r>
            <a:r>
              <a:rPr kumimoji="1" lang="zh-CN" altLang="en-US" dirty="0"/>
              <a:t>外對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7BDB91D2-9D86-C34B-8877-1D471C70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9FE50EA5-F973-9F42-A651-03DD954A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2322227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D6966-38F5-EB44-AA6A-D09F6687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2 K8s Service Expose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88BE10-DDCA-3941-8207-BDA8836E8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部署</a:t>
            </a:r>
            <a:r>
              <a:rPr kumimoji="1" lang="en-US" altLang="zh-CN" dirty="0"/>
              <a:t>service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apply -f nginx-</a:t>
            </a:r>
            <a:r>
              <a:rPr kumimoji="1" lang="en-US" altLang="zh-CN" dirty="0" err="1"/>
              <a:t>service.yaml</a:t>
            </a:r>
            <a:r>
              <a:rPr kumimoji="1" lang="en-US" altLang="zh-CN" dirty="0"/>
              <a:t>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TW" altLang="en-US" dirty="0"/>
              <a:t>連線驗證，瀏覽器開啟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http://{k8s node (vm2) </a:t>
            </a:r>
            <a:r>
              <a:rPr kumimoji="1" lang="en-US" altLang="zh-TW" dirty="0" err="1"/>
              <a:t>ip</a:t>
            </a:r>
            <a:r>
              <a:rPr kumimoji="1" lang="en-US" altLang="zh-TW" dirty="0"/>
              <a:t>}:30060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B2ED1EB-C9F1-4040-93E9-4BFEC304E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E4845E0F-C4CE-9846-A028-E4731B12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19F54F-46E6-8443-8D2C-E3754B9E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8" y="3094591"/>
            <a:ext cx="8002515" cy="123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055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60D37E97-0C55-354B-A0CA-EC0CC931F2B9}"/>
              </a:ext>
            </a:extLst>
          </p:cNvPr>
          <p:cNvSpPr>
            <a:spLocks/>
          </p:cNvSpPr>
          <p:nvPr/>
        </p:nvSpPr>
        <p:spPr bwMode="auto">
          <a:xfrm>
            <a:off x="1703389" y="2299855"/>
            <a:ext cx="5494337" cy="3381809"/>
          </a:xfrm>
          <a:custGeom>
            <a:avLst/>
            <a:gdLst>
              <a:gd name="T0" fmla="*/ 3496 w 3496"/>
              <a:gd name="T1" fmla="*/ 2080 h 2120"/>
              <a:gd name="T2" fmla="*/ 3456 w 3496"/>
              <a:gd name="T3" fmla="*/ 2120 h 2120"/>
              <a:gd name="T4" fmla="*/ 40 w 3496"/>
              <a:gd name="T5" fmla="*/ 2120 h 2120"/>
              <a:gd name="T6" fmla="*/ 0 w 3496"/>
              <a:gd name="T7" fmla="*/ 2080 h 2120"/>
              <a:gd name="T8" fmla="*/ 0 w 3496"/>
              <a:gd name="T9" fmla="*/ 40 h 2120"/>
              <a:gd name="T10" fmla="*/ 40 w 3496"/>
              <a:gd name="T11" fmla="*/ 0 h 2120"/>
              <a:gd name="T12" fmla="*/ 3456 w 3496"/>
              <a:gd name="T13" fmla="*/ 0 h 2120"/>
              <a:gd name="T14" fmla="*/ 3496 w 3496"/>
              <a:gd name="T15" fmla="*/ 40 h 2120"/>
              <a:gd name="T16" fmla="*/ 3496 w 3496"/>
              <a:gd name="T17" fmla="*/ 2080 h 2120"/>
              <a:gd name="T18" fmla="*/ 3496 w 3496"/>
              <a:gd name="T19" fmla="*/ 2080 h 2120"/>
              <a:gd name="T20" fmla="*/ 3496 w 3496"/>
              <a:gd name="T21" fmla="*/ 2080 h 2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96" h="2120">
                <a:moveTo>
                  <a:pt x="3496" y="2080"/>
                </a:moveTo>
                <a:cubicBezTo>
                  <a:pt x="3496" y="2106"/>
                  <a:pt x="3482" y="2120"/>
                  <a:pt x="3456" y="2120"/>
                </a:cubicBezTo>
                <a:lnTo>
                  <a:pt x="40" y="2120"/>
                </a:lnTo>
                <a:cubicBezTo>
                  <a:pt x="13" y="2120"/>
                  <a:pt x="0" y="2106"/>
                  <a:pt x="0" y="208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3456" y="0"/>
                </a:lnTo>
                <a:cubicBezTo>
                  <a:pt x="3482" y="0"/>
                  <a:pt x="3496" y="13"/>
                  <a:pt x="3496" y="40"/>
                </a:cubicBezTo>
                <a:lnTo>
                  <a:pt x="3496" y="2080"/>
                </a:lnTo>
                <a:lnTo>
                  <a:pt x="3496" y="2080"/>
                </a:lnTo>
                <a:lnTo>
                  <a:pt x="3496" y="2080"/>
                </a:lnTo>
                <a:close/>
              </a:path>
            </a:pathLst>
          </a:custGeom>
          <a:solidFill>
            <a:srgbClr val="FFFFFF"/>
          </a:solidFill>
          <a:ln w="24094">
            <a:solidFill>
              <a:srgbClr val="0079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84FEC9BE-34C2-F246-90D5-E92390CC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9" y="3915361"/>
            <a:ext cx="52403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4100" name="Freeform 4">
            <a:extLst>
              <a:ext uri="{FF2B5EF4-FFF2-40B4-BE49-F238E27FC236}">
                <a16:creationId xmlns:a16="http://schemas.microsoft.com/office/drawing/2014/main" id="{3D2CC538-C2C4-104A-A301-5D7A898CC44F}"/>
              </a:ext>
            </a:extLst>
          </p:cNvPr>
          <p:cNvSpPr>
            <a:spLocks/>
          </p:cNvSpPr>
          <p:nvPr/>
        </p:nvSpPr>
        <p:spPr bwMode="auto">
          <a:xfrm>
            <a:off x="212566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DDA5648C-21C7-D040-97C8-8981E481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2" name="Freeform 6">
            <a:extLst>
              <a:ext uri="{FF2B5EF4-FFF2-40B4-BE49-F238E27FC236}">
                <a16:creationId xmlns:a16="http://schemas.microsoft.com/office/drawing/2014/main" id="{94FDDEB3-D70F-8944-821B-5A753572D20E}"/>
              </a:ext>
            </a:extLst>
          </p:cNvPr>
          <p:cNvSpPr>
            <a:spLocks/>
          </p:cNvSpPr>
          <p:nvPr/>
        </p:nvSpPr>
        <p:spPr bwMode="auto">
          <a:xfrm>
            <a:off x="3311526" y="4403726"/>
            <a:ext cx="842963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73F59A0F-B1C6-9E43-A9F9-D808A8E6C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4" name="Freeform 8">
            <a:extLst>
              <a:ext uri="{FF2B5EF4-FFF2-40B4-BE49-F238E27FC236}">
                <a16:creationId xmlns:a16="http://schemas.microsoft.com/office/drawing/2014/main" id="{EBA7DA2B-181D-DE4C-80F4-8D9D6D0697AB}"/>
              </a:ext>
            </a:extLst>
          </p:cNvPr>
          <p:cNvSpPr>
            <a:spLocks/>
          </p:cNvSpPr>
          <p:nvPr/>
        </p:nvSpPr>
        <p:spPr bwMode="auto">
          <a:xfrm>
            <a:off x="575151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06542EAF-D99B-B94B-A777-1DE554D32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6" name="Freeform 10">
            <a:extLst>
              <a:ext uri="{FF2B5EF4-FFF2-40B4-BE49-F238E27FC236}">
                <a16:creationId xmlns:a16="http://schemas.microsoft.com/office/drawing/2014/main" id="{0DDADDB5-A6CC-0543-B151-49C5BC22ED5C}"/>
              </a:ext>
            </a:extLst>
          </p:cNvPr>
          <p:cNvSpPr>
            <a:spLocks/>
          </p:cNvSpPr>
          <p:nvPr/>
        </p:nvSpPr>
        <p:spPr bwMode="auto">
          <a:xfrm>
            <a:off x="4541838" y="4403726"/>
            <a:ext cx="844550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B7138F90-D8EA-D843-A5F3-0A988329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8" name="Freeform 12">
            <a:extLst>
              <a:ext uri="{FF2B5EF4-FFF2-40B4-BE49-F238E27FC236}">
                <a16:creationId xmlns:a16="http://schemas.microsoft.com/office/drawing/2014/main" id="{E4050AA7-B2D5-5C48-8855-A3E35FA1825F}"/>
              </a:ext>
            </a:extLst>
          </p:cNvPr>
          <p:cNvSpPr>
            <a:spLocks/>
          </p:cNvSpPr>
          <p:nvPr/>
        </p:nvSpPr>
        <p:spPr bwMode="auto">
          <a:xfrm>
            <a:off x="3065464" y="2681288"/>
            <a:ext cx="3101975" cy="900112"/>
          </a:xfrm>
          <a:custGeom>
            <a:avLst/>
            <a:gdLst>
              <a:gd name="T0" fmla="*/ 2060 w 2060"/>
              <a:gd name="T1" fmla="*/ 557 h 597"/>
              <a:gd name="T2" fmla="*/ 2020 w 2060"/>
              <a:gd name="T3" fmla="*/ 597 h 597"/>
              <a:gd name="T4" fmla="*/ 40 w 2060"/>
              <a:gd name="T5" fmla="*/ 597 h 597"/>
              <a:gd name="T6" fmla="*/ 0 w 2060"/>
              <a:gd name="T7" fmla="*/ 557 h 597"/>
              <a:gd name="T8" fmla="*/ 0 w 2060"/>
              <a:gd name="T9" fmla="*/ 40 h 597"/>
              <a:gd name="T10" fmla="*/ 40 w 2060"/>
              <a:gd name="T11" fmla="*/ 0 h 597"/>
              <a:gd name="T12" fmla="*/ 2020 w 2060"/>
              <a:gd name="T13" fmla="*/ 0 h 597"/>
              <a:gd name="T14" fmla="*/ 2060 w 2060"/>
              <a:gd name="T15" fmla="*/ 40 h 597"/>
              <a:gd name="T16" fmla="*/ 2060 w 2060"/>
              <a:gd name="T17" fmla="*/ 557 h 597"/>
              <a:gd name="T18" fmla="*/ 2060 w 2060"/>
              <a:gd name="T19" fmla="*/ 557 h 597"/>
              <a:gd name="T20" fmla="*/ 2060 w 2060"/>
              <a:gd name="T21" fmla="*/ 557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0" h="597">
                <a:moveTo>
                  <a:pt x="2060" y="557"/>
                </a:moveTo>
                <a:cubicBezTo>
                  <a:pt x="2060" y="584"/>
                  <a:pt x="2046" y="597"/>
                  <a:pt x="2020" y="597"/>
                </a:cubicBezTo>
                <a:lnTo>
                  <a:pt x="40" y="597"/>
                </a:lnTo>
                <a:cubicBezTo>
                  <a:pt x="13" y="597"/>
                  <a:pt x="0" y="584"/>
                  <a:pt x="0" y="557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2020" y="0"/>
                </a:lnTo>
                <a:cubicBezTo>
                  <a:pt x="2046" y="0"/>
                  <a:pt x="2060" y="13"/>
                  <a:pt x="2060" y="40"/>
                </a:cubicBezTo>
                <a:lnTo>
                  <a:pt x="2060" y="557"/>
                </a:lnTo>
                <a:lnTo>
                  <a:pt x="2060" y="557"/>
                </a:lnTo>
                <a:lnTo>
                  <a:pt x="2060" y="557"/>
                </a:lnTo>
                <a:close/>
              </a:path>
            </a:pathLst>
          </a:custGeom>
          <a:solidFill>
            <a:srgbClr val="FFFFFF"/>
          </a:solidFill>
          <a:ln w="36142">
            <a:solidFill>
              <a:srgbClr val="1A76D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EA98EC9F-C614-E74F-B206-A4E1E806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6" y="2610506"/>
            <a:ext cx="3084513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3400" dirty="0">
                <a:solidFill>
                  <a:srgbClr val="1A76D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Service (10.43.x.x)</a:t>
            </a:r>
          </a:p>
        </p:txBody>
      </p:sp>
      <p:sp>
        <p:nvSpPr>
          <p:cNvPr id="4110" name="Freeform 14">
            <a:extLst>
              <a:ext uri="{FF2B5EF4-FFF2-40B4-BE49-F238E27FC236}">
                <a16:creationId xmlns:a16="http://schemas.microsoft.com/office/drawing/2014/main" id="{00A0EE25-9FBB-2143-993F-D39F3930CAA3}"/>
              </a:ext>
            </a:extLst>
          </p:cNvPr>
          <p:cNvSpPr>
            <a:spLocks/>
          </p:cNvSpPr>
          <p:nvPr/>
        </p:nvSpPr>
        <p:spPr bwMode="auto">
          <a:xfrm>
            <a:off x="4964113" y="4143375"/>
            <a:ext cx="0" cy="260350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1" name="Freeform 15">
            <a:extLst>
              <a:ext uri="{FF2B5EF4-FFF2-40B4-BE49-F238E27FC236}">
                <a16:creationId xmlns:a16="http://schemas.microsoft.com/office/drawing/2014/main" id="{364EB0A3-A5B9-174C-AAEA-F375F8FF1CE1}"/>
              </a:ext>
            </a:extLst>
          </p:cNvPr>
          <p:cNvSpPr>
            <a:spLocks/>
          </p:cNvSpPr>
          <p:nvPr/>
        </p:nvSpPr>
        <p:spPr bwMode="auto">
          <a:xfrm>
            <a:off x="5392738" y="1778000"/>
            <a:ext cx="0" cy="903288"/>
          </a:xfrm>
          <a:custGeom>
            <a:avLst/>
            <a:gdLst>
              <a:gd name="T0" fmla="*/ 600 h 600"/>
              <a:gd name="T1" fmla="*/ 0 h 6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600">
                <a:moveTo>
                  <a:pt x="0" y="600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3" name="Freeform 17">
            <a:extLst>
              <a:ext uri="{FF2B5EF4-FFF2-40B4-BE49-F238E27FC236}">
                <a16:creationId xmlns:a16="http://schemas.microsoft.com/office/drawing/2014/main" id="{FC5C1385-CD37-9645-912A-49E7EC0FB76E}"/>
              </a:ext>
            </a:extLst>
          </p:cNvPr>
          <p:cNvSpPr>
            <a:spLocks/>
          </p:cNvSpPr>
          <p:nvPr/>
        </p:nvSpPr>
        <p:spPr bwMode="auto">
          <a:xfrm>
            <a:off x="5595939" y="1439863"/>
            <a:ext cx="1360487" cy="385762"/>
          </a:xfrm>
          <a:custGeom>
            <a:avLst/>
            <a:gdLst>
              <a:gd name="T0" fmla="*/ 904 w 904"/>
              <a:gd name="T1" fmla="*/ 0 h 256"/>
              <a:gd name="T2" fmla="*/ 0 w 904"/>
              <a:gd name="T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4" h="256">
                <a:moveTo>
                  <a:pt x="904" y="0"/>
                </a:moveTo>
                <a:lnTo>
                  <a:pt x="0" y="256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4" name="Freeform 18">
            <a:extLst>
              <a:ext uri="{FF2B5EF4-FFF2-40B4-BE49-F238E27FC236}">
                <a16:creationId xmlns:a16="http://schemas.microsoft.com/office/drawing/2014/main" id="{CBB81F74-B232-D648-B60D-67EA443CD3BB}"/>
              </a:ext>
            </a:extLst>
          </p:cNvPr>
          <p:cNvSpPr>
            <a:spLocks/>
          </p:cNvSpPr>
          <p:nvPr/>
        </p:nvSpPr>
        <p:spPr bwMode="auto">
          <a:xfrm>
            <a:off x="5595938" y="1698626"/>
            <a:ext cx="184150" cy="161925"/>
          </a:xfrm>
          <a:custGeom>
            <a:avLst/>
            <a:gdLst>
              <a:gd name="T0" fmla="*/ 0 w 123"/>
              <a:gd name="T1" fmla="*/ 84 h 107"/>
              <a:gd name="T2" fmla="*/ 92 w 123"/>
              <a:gd name="T3" fmla="*/ 0 h 107"/>
              <a:gd name="T4" fmla="*/ 123 w 123"/>
              <a:gd name="T5" fmla="*/ 107 h 107"/>
              <a:gd name="T6" fmla="*/ 0 w 123"/>
              <a:gd name="T7" fmla="*/ 84 h 107"/>
              <a:gd name="T8" fmla="*/ 0 w 123"/>
              <a:gd name="T9" fmla="*/ 8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07">
                <a:moveTo>
                  <a:pt x="0" y="84"/>
                </a:moveTo>
                <a:lnTo>
                  <a:pt x="92" y="0"/>
                </a:lnTo>
                <a:lnTo>
                  <a:pt x="123" y="107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5" name="Text Box 19">
            <a:extLst>
              <a:ext uri="{FF2B5EF4-FFF2-40B4-BE49-F238E27FC236}">
                <a16:creationId xmlns:a16="http://schemas.microsoft.com/office/drawing/2014/main" id="{E8EEB7EC-9944-5B46-B617-E42B09D7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6" y="1174750"/>
            <a:ext cx="2011363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nodePort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32000~32767</a:t>
            </a:r>
          </a:p>
        </p:txBody>
      </p:sp>
      <p:sp>
        <p:nvSpPr>
          <p:cNvPr id="4116" name="Freeform 20">
            <a:extLst>
              <a:ext uri="{FF2B5EF4-FFF2-40B4-BE49-F238E27FC236}">
                <a16:creationId xmlns:a16="http://schemas.microsoft.com/office/drawing/2014/main" id="{1515527E-97DF-F142-BE12-E524EA02D337}"/>
              </a:ext>
            </a:extLst>
          </p:cNvPr>
          <p:cNvSpPr>
            <a:spLocks/>
          </p:cNvSpPr>
          <p:nvPr/>
        </p:nvSpPr>
        <p:spPr bwMode="auto">
          <a:xfrm>
            <a:off x="6359525" y="4259263"/>
            <a:ext cx="2482850" cy="254000"/>
          </a:xfrm>
          <a:custGeom>
            <a:avLst/>
            <a:gdLst>
              <a:gd name="T0" fmla="*/ 1648 w 1648"/>
              <a:gd name="T1" fmla="*/ 168 h 168"/>
              <a:gd name="T2" fmla="*/ 0 w 1648"/>
              <a:gd name="T3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68">
                <a:moveTo>
                  <a:pt x="1648" y="16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7" name="Freeform 21">
            <a:extLst>
              <a:ext uri="{FF2B5EF4-FFF2-40B4-BE49-F238E27FC236}">
                <a16:creationId xmlns:a16="http://schemas.microsoft.com/office/drawing/2014/main" id="{CAAB7448-80B3-0F4F-BF4D-614994DC003C}"/>
              </a:ext>
            </a:extLst>
          </p:cNvPr>
          <p:cNvSpPr>
            <a:spLocks/>
          </p:cNvSpPr>
          <p:nvPr/>
        </p:nvSpPr>
        <p:spPr bwMode="auto">
          <a:xfrm>
            <a:off x="6359525" y="4192589"/>
            <a:ext cx="177800" cy="168275"/>
          </a:xfrm>
          <a:custGeom>
            <a:avLst/>
            <a:gdLst>
              <a:gd name="T0" fmla="*/ 0 w 117"/>
              <a:gd name="T1" fmla="*/ 44 h 111"/>
              <a:gd name="T2" fmla="*/ 117 w 117"/>
              <a:gd name="T3" fmla="*/ 0 h 111"/>
              <a:gd name="T4" fmla="*/ 105 w 117"/>
              <a:gd name="T5" fmla="*/ 111 h 111"/>
              <a:gd name="T6" fmla="*/ 0 w 117"/>
              <a:gd name="T7" fmla="*/ 44 h 111"/>
              <a:gd name="T8" fmla="*/ 0 w 117"/>
              <a:gd name="T9" fmla="*/ 44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" h="111">
                <a:moveTo>
                  <a:pt x="0" y="44"/>
                </a:moveTo>
                <a:lnTo>
                  <a:pt x="117" y="0"/>
                </a:lnTo>
                <a:lnTo>
                  <a:pt x="105" y="111"/>
                </a:lnTo>
                <a:lnTo>
                  <a:pt x="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8" name="Text Box 22">
            <a:extLst>
              <a:ext uri="{FF2B5EF4-FFF2-40B4-BE49-F238E27FC236}">
                <a16:creationId xmlns:a16="http://schemas.microsoft.com/office/drawing/2014/main" id="{D6AC59BE-4B08-C346-B3EE-4935BAFB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7325" y="4235450"/>
            <a:ext cx="1409700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targetPort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19" name="Freeform 23">
            <a:extLst>
              <a:ext uri="{FF2B5EF4-FFF2-40B4-BE49-F238E27FC236}">
                <a16:creationId xmlns:a16="http://schemas.microsoft.com/office/drawing/2014/main" id="{5D2D132E-BE29-2244-8EC8-86DE2E9BCDB9}"/>
              </a:ext>
            </a:extLst>
          </p:cNvPr>
          <p:cNvSpPr>
            <a:spLocks/>
          </p:cNvSpPr>
          <p:nvPr/>
        </p:nvSpPr>
        <p:spPr bwMode="auto">
          <a:xfrm>
            <a:off x="6270625" y="4138614"/>
            <a:ext cx="0" cy="261937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0" name="Freeform 24">
            <a:extLst>
              <a:ext uri="{FF2B5EF4-FFF2-40B4-BE49-F238E27FC236}">
                <a16:creationId xmlns:a16="http://schemas.microsoft.com/office/drawing/2014/main" id="{E2E1DACC-2568-524B-B73D-7C2FC010A591}"/>
              </a:ext>
            </a:extLst>
          </p:cNvPr>
          <p:cNvSpPr>
            <a:spLocks/>
          </p:cNvSpPr>
          <p:nvPr/>
        </p:nvSpPr>
        <p:spPr bwMode="auto">
          <a:xfrm>
            <a:off x="5392738" y="3581400"/>
            <a:ext cx="0" cy="312738"/>
          </a:xfrm>
          <a:custGeom>
            <a:avLst/>
            <a:gdLst>
              <a:gd name="T0" fmla="*/ 208 h 208"/>
              <a:gd name="T1" fmla="*/ 0 h 20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08">
                <a:moveTo>
                  <a:pt x="0" y="20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1A7096F5-EA0B-FF4F-9E79-F3727326E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3127375"/>
            <a:ext cx="1409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Port</a:t>
            </a: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22" name="Freeform 26">
            <a:extLst>
              <a:ext uri="{FF2B5EF4-FFF2-40B4-BE49-F238E27FC236}">
                <a16:creationId xmlns:a16="http://schemas.microsoft.com/office/drawing/2014/main" id="{6519816C-AA88-0A4E-AA78-896C41E37A09}"/>
              </a:ext>
            </a:extLst>
          </p:cNvPr>
          <p:cNvSpPr>
            <a:spLocks/>
          </p:cNvSpPr>
          <p:nvPr/>
        </p:nvSpPr>
        <p:spPr bwMode="auto">
          <a:xfrm>
            <a:off x="5510213" y="3584575"/>
            <a:ext cx="2482850" cy="228600"/>
          </a:xfrm>
          <a:custGeom>
            <a:avLst/>
            <a:gdLst>
              <a:gd name="T0" fmla="*/ 1648 w 1648"/>
              <a:gd name="T1" fmla="*/ 0 h 152"/>
              <a:gd name="T2" fmla="*/ 0 w 1648"/>
              <a:gd name="T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52">
                <a:moveTo>
                  <a:pt x="1648" y="0"/>
                </a:moveTo>
                <a:lnTo>
                  <a:pt x="0" y="152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3" name="Freeform 27">
            <a:extLst>
              <a:ext uri="{FF2B5EF4-FFF2-40B4-BE49-F238E27FC236}">
                <a16:creationId xmlns:a16="http://schemas.microsoft.com/office/drawing/2014/main" id="{54AB5414-B4AB-ED48-A11B-7FBD62C1BA37}"/>
              </a:ext>
            </a:extLst>
          </p:cNvPr>
          <p:cNvSpPr>
            <a:spLocks/>
          </p:cNvSpPr>
          <p:nvPr/>
        </p:nvSpPr>
        <p:spPr bwMode="auto">
          <a:xfrm>
            <a:off x="5510213" y="3714750"/>
            <a:ext cx="176212" cy="166688"/>
          </a:xfrm>
          <a:custGeom>
            <a:avLst/>
            <a:gdLst>
              <a:gd name="T0" fmla="*/ 0 w 116"/>
              <a:gd name="T1" fmla="*/ 66 h 111"/>
              <a:gd name="T2" fmla="*/ 106 w 116"/>
              <a:gd name="T3" fmla="*/ 0 h 111"/>
              <a:gd name="T4" fmla="*/ 116 w 116"/>
              <a:gd name="T5" fmla="*/ 111 h 111"/>
              <a:gd name="T6" fmla="*/ 0 w 116"/>
              <a:gd name="T7" fmla="*/ 66 h 111"/>
              <a:gd name="T8" fmla="*/ 0 w 116"/>
              <a:gd name="T9" fmla="*/ 66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" h="111">
                <a:moveTo>
                  <a:pt x="0" y="66"/>
                </a:moveTo>
                <a:lnTo>
                  <a:pt x="106" y="0"/>
                </a:lnTo>
                <a:lnTo>
                  <a:pt x="116" y="111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2A8CA4-9589-3D42-95D4-94763571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Service ports </a:t>
            </a:r>
            <a:r>
              <a:rPr lang="zh-CN" altLang="en-US" dirty="0"/>
              <a:t>介紹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CAF190-0331-40B1-FF00-DEEFB52D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DF9F79-AE6F-A6E6-C035-DBD63652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16474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5108361-29DF-CD44-88DC-2E9F51FB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</a:t>
            </a:r>
            <a:r>
              <a:rPr lang="zh-CN" altLang="en-US" dirty="0"/>
              <a:t>間互相呼叫，已</a:t>
            </a:r>
            <a:r>
              <a:rPr lang="en-US" altLang="zh-CN" dirty="0"/>
              <a:t>Web </a:t>
            </a:r>
            <a:r>
              <a:rPr lang="zh-CN" altLang="en-US" dirty="0"/>
              <a:t>呼叫</a:t>
            </a:r>
            <a:r>
              <a:rPr lang="en-US" altLang="zh-CN" dirty="0"/>
              <a:t>API</a:t>
            </a:r>
            <a:r>
              <a:rPr lang="zh-CN" altLang="en-US" dirty="0"/>
              <a:t>為例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419DABC-0E95-594F-A5D0-44E990AA0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68629"/>
            <a:ext cx="10515600" cy="3265329"/>
          </a:xfrm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7B26BA1-B192-9F44-BE02-9B4DA930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758A94F-9E7F-2941-A63F-59B3EE47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160629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13693-95B1-434D-90C7-893BBE94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查看</a:t>
            </a:r>
            <a:r>
              <a:rPr kumimoji="1" lang="zh-TW" altLang="en-US" dirty="0"/>
              <a:t> </a:t>
            </a:r>
            <a:r>
              <a:rPr kumimoji="1" lang="en-US" altLang="zh-TW" dirty="0"/>
              <a:t>k</a:t>
            </a:r>
            <a:r>
              <a:rPr kumimoji="1" lang="en-US" altLang="zh-CN" dirty="0"/>
              <a:t>8s Service </a:t>
            </a:r>
            <a:r>
              <a:rPr kumimoji="1" lang="zh-CN" altLang="en-US" dirty="0"/>
              <a:t>詳細資訊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AFE1AB-392C-2944-809A-42A4D6039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describe svc nginx-service</a:t>
            </a:r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2DCB8CAB-A817-A94F-A175-C63766D20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5FCF2E19-92C5-7D47-91CD-F1485142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121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832E69-888D-3844-A1DB-A1A3248F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264"/>
            <a:ext cx="12085320" cy="220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5934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2F8E3B-07CA-434E-BF8A-B7F9B9EF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DNS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23886-FF11-B74B-B1DD-DDFA4B048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TW" dirty="0"/>
          </a:p>
          <a:p>
            <a:r>
              <a:rPr kumimoji="1" lang="en-US" altLang="zh-TW" dirty="0"/>
              <a:t>DNS service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services </a:t>
            </a:r>
            <a:r>
              <a:rPr kumimoji="1" lang="en-US" altLang="zh-TW" dirty="0" err="1"/>
              <a:t>kube-dns</a:t>
            </a:r>
            <a:r>
              <a:rPr kumimoji="1" lang="en-US" altLang="zh-TW" dirty="0"/>
              <a:t> -n=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pPr lvl="1"/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run curl --image=radial/</a:t>
            </a:r>
            <a:r>
              <a:rPr kumimoji="1" lang="en-US" altLang="zh-TW" dirty="0" err="1"/>
              <a:t>busyboxplus:curl</a:t>
            </a:r>
            <a:r>
              <a:rPr kumimoji="1" lang="en-US" altLang="zh-TW" dirty="0"/>
              <a:t> -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 --</a:t>
            </a:r>
            <a:r>
              <a:rPr kumimoji="1" lang="en-US" altLang="zh-TW" dirty="0" err="1"/>
              <a:t>tty</a:t>
            </a:r>
            <a:endParaRPr kumimoji="1" lang="en-US" altLang="zh-TW" dirty="0"/>
          </a:p>
          <a:p>
            <a:pPr lvl="2"/>
            <a:r>
              <a:rPr lang="en-US" altLang="zh-TW" dirty="0" err="1"/>
              <a:t>nslookup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-service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89F6812A-2A3B-D549-B105-7F8A2B6F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CEC05275-2D20-4744-8B65-D5E2478B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122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41BE068-BD15-534E-B5B2-F39EB46BD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552" y="4278391"/>
            <a:ext cx="9494190" cy="226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980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1425C-2502-1B4D-813C-697CDE6D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系統資訊</a:t>
            </a:r>
            <a:r>
              <a:rPr kumimoji="1" lang="en-US" altLang="zh-Hant" dirty="0"/>
              <a:t> (</a:t>
            </a:r>
            <a:r>
              <a:rPr kumimoji="1" lang="en-US" altLang="zh-Hant" dirty="0" err="1"/>
              <a:t>kube</a:t>
            </a:r>
            <a:r>
              <a:rPr kumimoji="1" lang="en-US" altLang="zh-Hant" dirty="0"/>
              <a:t>-system namespace)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948203-89B0-204B-A7AF-5F097187B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-n=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82F4813-01CA-6F46-8945-14D1C8B4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832DCC0C-B437-3144-9D32-526DE15F9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123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75A3D8-F426-334D-891C-157C9565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371388"/>
            <a:ext cx="93726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9571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1323A-F65E-3B75-67B6-74C13127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縮寫：</a:t>
            </a:r>
            <a:r>
              <a:rPr kumimoji="1" lang="en-US" altLang="zh-TW" dirty="0"/>
              <a:t>ns)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628982-D539-FEF8-8D62-7744C160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命名空間，目的將資源進行區隔</a:t>
            </a:r>
            <a:endParaRPr kumimoji="1" lang="en-US" altLang="zh-TW" dirty="0"/>
          </a:p>
          <a:p>
            <a:r>
              <a:rPr kumimoji="1" lang="en-US" altLang="zh-TW" dirty="0"/>
              <a:t>Namespace list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ns</a:t>
            </a:r>
          </a:p>
          <a:p>
            <a:r>
              <a:rPr kumimoji="1" lang="en-US" altLang="zh-TW" dirty="0"/>
              <a:t>Create namespace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create ns </a:t>
            </a:r>
            <a:r>
              <a:rPr kumimoji="1" lang="en-US" altLang="zh-TW" dirty="0" err="1"/>
              <a:t>xxxxxxxx</a:t>
            </a:r>
            <a:endParaRPr kumimoji="1" lang="en-US" altLang="zh-TW" dirty="0"/>
          </a:p>
          <a:p>
            <a:r>
              <a:rPr kumimoji="1" lang="en-US" altLang="zh-TW" dirty="0"/>
              <a:t>Delete namespace (</a:t>
            </a:r>
            <a:r>
              <a:rPr kumimoji="1" lang="zh-TW" altLang="en-US" dirty="0"/>
              <a:t>刪除時，屬於此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上的資源也會依一起刪除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delete namespace</a:t>
            </a:r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3F91EA-8D4E-F0E1-B7D1-B8023D16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365555-D240-CD97-7967-6BEABB60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262377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99E8A-5526-7229-76E5-C7D365B8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0ACE1-87C7-49CD-795B-363D00CDB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查詢指定</a:t>
            </a:r>
            <a:r>
              <a:rPr kumimoji="1" lang="en-US" altLang="zh-TW" dirty="0"/>
              <a:t>namespace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r>
              <a:rPr kumimoji="1" lang="zh-TW" altLang="en-US" dirty="0"/>
              <a:t>取得全域資源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all -A</a:t>
            </a:r>
          </a:p>
          <a:p>
            <a:r>
              <a:rPr kumimoji="1" lang="zh-TW" altLang="en-US" dirty="0"/>
              <a:t>不指定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，預設使用名為</a:t>
            </a:r>
            <a:r>
              <a:rPr kumimoji="1" lang="en-US" altLang="zh-TW" dirty="0"/>
              <a:t>default namespace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795A44-B059-5A28-D714-B49B7B83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51BF3EE-0C19-0A86-8A94-23DFA42B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6011991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934947-1654-DF45-98DC-20377C4DC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K8s Ingress-1</a:t>
            </a:r>
            <a:endParaRPr lang="zh-TW" altLang="en-US" dirty="0"/>
          </a:p>
        </p:txBody>
      </p:sp>
      <p:pic>
        <p:nvPicPr>
          <p:cNvPr id="9" name="內容版面配置區 8" descr="一張含有 螢幕擷取畫面 的圖片&#10;&#10;自動產生的描述">
            <a:extLst>
              <a:ext uri="{FF2B5EF4-FFF2-40B4-BE49-F238E27FC236}">
                <a16:creationId xmlns:a16="http://schemas.microsoft.com/office/drawing/2014/main" id="{B8F2FA49-741A-C443-85A8-82E711EDA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7100" y="2210594"/>
            <a:ext cx="7797800" cy="3581400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F90B1F-42BE-FD43-9BE7-A42ACFE3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2026/5/30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1467C0-B97D-CD4C-B92E-2451C3D5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lang="zh-TW" altLang="en-US" smtClean="0"/>
              <a:pPr/>
              <a:t>126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03997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D6DB8-CE3B-8D4B-88D5-7FC16918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Ingress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50338C-DA2E-744D-A53A-C620D9C33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domain name</a:t>
            </a:r>
            <a:r>
              <a:rPr kumimoji="1" lang="zh-CN" altLang="en-US" dirty="0"/>
              <a:t>與路徑來</a:t>
            </a:r>
            <a:r>
              <a:rPr kumimoji="1" lang="zh-TW" altLang="en-US" dirty="0"/>
              <a:t>包含一個</a:t>
            </a:r>
            <a:r>
              <a:rPr kumimoji="1" lang="zh-CN" altLang="en-US" dirty="0"/>
              <a:t>或</a:t>
            </a:r>
            <a:r>
              <a:rPr kumimoji="1" lang="zh-TW" altLang="en-US" dirty="0"/>
              <a:t>多個</a:t>
            </a:r>
            <a:r>
              <a:rPr kumimoji="1" lang="en-US" altLang="zh-TW" dirty="0"/>
              <a:t>Service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r>
              <a:rPr kumimoji="1" lang="zh-TW" altLang="en-US" dirty="0"/>
              <a:t>支援</a:t>
            </a:r>
            <a:r>
              <a:rPr kumimoji="1" lang="en-US" altLang="zh-TW" dirty="0"/>
              <a:t>Https</a:t>
            </a:r>
            <a:r>
              <a:rPr kumimoji="1" lang="zh-TW" altLang="en-US" dirty="0"/>
              <a:t>，可設定</a:t>
            </a:r>
            <a:r>
              <a:rPr kumimoji="1" lang="zh-CN" altLang="en-US" dirty="0"/>
              <a:t>憑證</a:t>
            </a:r>
            <a:endParaRPr kumimoji="1" lang="en-US" altLang="zh-TW" dirty="0"/>
          </a:p>
          <a:p>
            <a:r>
              <a:rPr kumimoji="1" lang="zh-CN" altLang="en-US" dirty="0"/>
              <a:t>實際使用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 container</a:t>
            </a:r>
            <a:endParaRPr kumimoji="1" lang="en-US" altLang="zh-CN" dirty="0"/>
          </a:p>
          <a:p>
            <a:r>
              <a:rPr kumimoji="1" lang="zh-CN" altLang="en-US" dirty="0"/>
              <a:t>一個窗口支援多個服務</a:t>
            </a:r>
            <a:endParaRPr kumimoji="1" lang="en-US" altLang="zh-CN" dirty="0"/>
          </a:p>
          <a:p>
            <a:r>
              <a:rPr kumimoji="1" lang="zh-CN" altLang="en-US" dirty="0"/>
              <a:t>支援多</a:t>
            </a:r>
            <a:r>
              <a:rPr kumimoji="1" lang="en-US" altLang="zh-CN" dirty="0"/>
              <a:t>ingress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5AB7D0-38E6-2C4D-AB7B-F0B5E8B7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B61F31-6F36-624F-9057-43A7E32E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420797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9737D7-F2EF-0742-8560-1ABF8685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ingress </a:t>
            </a:r>
            <a:r>
              <a:rPr kumimoji="1" lang="en-US" altLang="zh-TW" dirty="0" err="1"/>
              <a:t>yaml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BD25F8-4DB9-6945-9935-507BF10DE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k8s/ingress/</a:t>
            </a:r>
            <a:r>
              <a:rPr kumimoji="1" lang="en-US" altLang="zh-TW" dirty="0" err="1"/>
              <a:t>ingress.yaml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5688D9-0CDD-C14A-BFA5-B0FFE7157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3B0C89-66C2-4B46-BA22-8A72F15E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128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2B82995-8DEF-9A56-E4C1-B9990D0B2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772" y="365124"/>
            <a:ext cx="706689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4956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50F988-E501-A940-89B8-C73F0245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emptyDir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5BFAF7D-F329-EC47-994D-F993B4C2B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Pod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內</a:t>
            </a:r>
            <a:r>
              <a:rPr kumimoji="1" lang="zh-Hant" altLang="en-US" dirty="0"/>
              <a:t>共用儲存</a:t>
            </a:r>
            <a:endParaRPr kumimoji="1" lang="en-US" altLang="zh-Hant" dirty="0"/>
          </a:p>
          <a:p>
            <a:r>
              <a:rPr kumimoji="1" lang="zh-Hant" altLang="en-US" dirty="0"/>
              <a:t>當</a:t>
            </a:r>
            <a:r>
              <a:rPr kumimoji="1" lang="en-US" altLang="zh-Hant" dirty="0"/>
              <a:t>Pod</a:t>
            </a:r>
            <a:r>
              <a:rPr kumimoji="1" lang="zh-CN" altLang="en-US" dirty="0"/>
              <a:t>消失時，資料也消失。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E52EB91-4681-224A-853A-59EBC7AC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F606F2CA-D4FD-0340-BE3E-4A2A2A88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129</a:t>
            </a:fld>
            <a:endParaRPr kumimoji="1"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B3FD27F-EE09-A54F-8AA5-8ECF7EDDB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615" y="25400"/>
            <a:ext cx="5275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066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45E9-F69D-274C-A04A-CFCF101B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D712A-4975-C144-80C6-144FA70F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Pod </a:t>
            </a:r>
            <a:r>
              <a:rPr kumimoji="1" lang="zh-CN" altLang="en-US" dirty="0"/>
              <a:t>掛載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上的資料夾</a:t>
            </a:r>
            <a:endParaRPr kumimoji="1" lang="en-US" altLang="zh-CN" dirty="0"/>
          </a:p>
          <a:p>
            <a:r>
              <a:rPr kumimoji="1" lang="zh-TW" altLang="en-US" dirty="0"/>
              <a:t>當</a:t>
            </a:r>
            <a:r>
              <a:rPr kumimoji="1" lang="en-US" altLang="zh-TW" dirty="0"/>
              <a:t>node</a:t>
            </a:r>
            <a:r>
              <a:rPr kumimoji="1" lang="zh-CN" altLang="en-US" dirty="0"/>
              <a:t>消失資料遺失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C7D08E5-E875-0D43-A58E-C6AE9709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D0BBB03A-7E51-9649-8F98-754AF3DD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130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41E89F-D6FA-AF4C-9DC7-F192908C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729" y="0"/>
            <a:ext cx="4116567" cy="49121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622E59-D665-FA4A-9D37-A70829D6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9" y="5163990"/>
            <a:ext cx="106680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2078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7D86D-3346-E245-A452-32802DA4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0BC302F-5770-9646-A6BB-37DAA0B4E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80" y="2048512"/>
            <a:ext cx="10817817" cy="1261841"/>
          </a:xfrm>
          <a:prstGeom prst="rect">
            <a:avLst/>
          </a:prstGeo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6A8F4B35-FA9D-8048-BAC9-C7EA5E6B2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98F16EB0-AE5C-F04C-8A01-A0BCE19E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131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519FE2-6DF0-AF45-93CA-13F70FC0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0" y="4048563"/>
            <a:ext cx="10817817" cy="93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21190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4CAD7-C840-E342-B1DA-D6BE3097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server on rancher server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A7ADEC-60AA-4845-BAE6-49AB7393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Install on VM1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lang="en-US" altLang="zh-TW" dirty="0" err="1"/>
              <a:t>nfs</a:t>
            </a:r>
            <a:r>
              <a:rPr lang="en-US" altLang="zh-TW" dirty="0"/>
              <a:t>-kernel-server -y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vim /</a:t>
            </a:r>
            <a:r>
              <a:rPr lang="en-US" altLang="zh-TW" dirty="0" err="1"/>
              <a:t>etc</a:t>
            </a:r>
            <a:r>
              <a:rPr lang="en-US" altLang="zh-TW" dirty="0"/>
              <a:t>/exports</a:t>
            </a:r>
          </a:p>
          <a:p>
            <a:pPr lvl="2"/>
            <a:r>
              <a:rPr lang="en-US" altLang="zh-TW" dirty="0"/>
              <a:t>/k8sNFS *(</a:t>
            </a:r>
            <a:r>
              <a:rPr lang="en-US" altLang="zh-TW" dirty="0" err="1"/>
              <a:t>no_root_squash,rw,sync,no_subtree_check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mkdir</a:t>
            </a:r>
            <a:r>
              <a:rPr lang="en-US" altLang="zh-TW" dirty="0"/>
              <a:t>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chmod</a:t>
            </a:r>
            <a:r>
              <a:rPr lang="en-US" altLang="zh-TW" dirty="0"/>
              <a:t> 777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systemctl</a:t>
            </a:r>
            <a:r>
              <a:rPr lang="en-US" altLang="zh-TW" dirty="0"/>
              <a:t> restart </a:t>
            </a:r>
            <a:r>
              <a:rPr lang="en-US" altLang="zh-TW" dirty="0" err="1"/>
              <a:t>nfs</a:t>
            </a:r>
            <a:r>
              <a:rPr lang="en-US" altLang="zh-TW" dirty="0"/>
              <a:t>-kernel-server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showmount</a:t>
            </a:r>
            <a:r>
              <a:rPr lang="en-US" altLang="zh-TW" dirty="0"/>
              <a:t> -e localhost</a:t>
            </a:r>
            <a:br>
              <a:rPr lang="en-US" altLang="zh-TW" dirty="0"/>
            </a:b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8AD71FBC-C1C3-1745-AA90-F9BF2011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7E065469-DE68-0C44-A796-D7DCBDEE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2811858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07BAA-D4B8-5C47-8A77-66571AF3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server install mount package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810C4-6F1F-054A-86CC-7FE392DEB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Install on VM2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-common -y</a:t>
            </a:r>
          </a:p>
          <a:p>
            <a:r>
              <a:rPr kumimoji="1" lang="en-US" altLang="zh-TW" dirty="0"/>
              <a:t>Check</a:t>
            </a:r>
          </a:p>
          <a:p>
            <a:pPr lvl="1"/>
            <a:r>
              <a:rPr kumimoji="1" lang="en-US" altLang="zh-TW" dirty="0" err="1"/>
              <a:t>showmount</a:t>
            </a:r>
            <a:r>
              <a:rPr kumimoji="1" lang="en-US" altLang="zh-TW" dirty="0"/>
              <a:t> -e {VM1 </a:t>
            </a:r>
            <a:r>
              <a:rPr kumimoji="1" lang="zh-CN" altLang="en-US" dirty="0"/>
              <a:t>內網</a:t>
            </a:r>
            <a:r>
              <a:rPr kumimoji="1" lang="en-US" altLang="zh-TW" dirty="0"/>
              <a:t> IP}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3EB144-C62C-8848-8033-4EFC11F5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69F1A6-6C50-4C43-9296-B57B0443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017202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4B4251-20FB-1C45-8F5E-6BABB181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9C6641F-7419-0746-BF3A-FDFC2FA74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286" y="1212353"/>
            <a:ext cx="4165600" cy="5467351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8263FBA3-9B57-564D-B2AA-29FA2894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3782C308-6645-5445-B099-CAF80FA9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134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3265FE2-35D0-885B-A186-F70725ABF67A}"/>
              </a:ext>
            </a:extLst>
          </p:cNvPr>
          <p:cNvSpPr txBox="1"/>
          <p:nvPr/>
        </p:nvSpPr>
        <p:spPr>
          <a:xfrm>
            <a:off x="7818634" y="235278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k8s/pods/ nginx-</a:t>
            </a:r>
            <a:r>
              <a:rPr kumimoji="1" lang="en-US" altLang="zh-TW" dirty="0" err="1"/>
              <a:t>nfs.yaml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750663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C02AB-F830-3D45-8E73-6C33DDE3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-2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E9743A-2BEE-9440-94E4-AD8E63CAD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969" y="1825625"/>
            <a:ext cx="9172062" cy="4351338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2C5C8CE5-CF81-4649-829E-6F6D6572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FE01C6B7-CBE7-A04D-86E9-943E0537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913948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3FEF4E-C298-6D44-A74B-21471D00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</a:t>
            </a:r>
            <a:r>
              <a:rPr kumimoji="1" lang="zh-CN" altLang="en-US" dirty="0"/>
              <a:t>資源使用率</a:t>
            </a:r>
            <a:r>
              <a:rPr kumimoji="1" lang="en-US" altLang="zh-CN" dirty="0"/>
              <a:t>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6C420E-DEC5-1140-BF28-1ACE063A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top nodes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pods</a:t>
            </a:r>
          </a:p>
          <a:p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A67E2FF-6E5D-4C46-A361-F8394DA9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4CF8EC4C-DA09-EE46-AFCE-B42E5B71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136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3A186B-BF25-ED4A-BECD-CB7047E0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24" y="2260405"/>
            <a:ext cx="9420514" cy="11390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33FF1D-0104-2443-8EC9-58886840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24" y="3962784"/>
            <a:ext cx="9171132" cy="165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2986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506A2BF-AEEA-9748-BE55-EF26D31F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cronjob -1</a:t>
            </a:r>
            <a:endParaRPr kumimoji="1" lang="zh-TW" altLang="en-US" dirty="0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A7782F73-F189-9A4B-9A04-E5134E95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C57A260E-106D-5140-8C02-C5B766E0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137</a:t>
            </a:fld>
            <a:endParaRPr kumimoji="1"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0914F88-9CF1-F042-9480-A58A23D55376}"/>
              </a:ext>
            </a:extLst>
          </p:cNvPr>
          <p:cNvSpPr txBox="1"/>
          <p:nvPr/>
        </p:nvSpPr>
        <p:spPr>
          <a:xfrm>
            <a:off x="2745034" y="1155413"/>
            <a:ext cx="4413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u="sng" dirty="0">
                <a:latin typeface="Times New Roman" panose="02020603050405020304" pitchFamily="18" charset="0"/>
                <a:hlinkClick r:id="rId2"/>
              </a:rPr>
              <a:t>k8s</a:t>
            </a:r>
            <a:r>
              <a:rPr lang="en-US" altLang="zh-TW" sz="3200" dirty="0">
                <a:latin typeface="Times New Roman" panose="02020603050405020304" pitchFamily="18" charset="0"/>
              </a:rPr>
              <a:t>/</a:t>
            </a:r>
            <a:r>
              <a:rPr lang="en-US" altLang="zh-TW" sz="3200" dirty="0">
                <a:latin typeface="Times New Roman" panose="02020603050405020304" pitchFamily="18" charset="0"/>
                <a:hlinkClick r:id="rId3"/>
              </a:rPr>
              <a:t>cronjob</a:t>
            </a:r>
            <a:r>
              <a:rPr lang="en-US" altLang="zh-TW" sz="3200" dirty="0">
                <a:latin typeface="Times New Roman" panose="02020603050405020304" pitchFamily="18" charset="0"/>
              </a:rPr>
              <a:t>/</a:t>
            </a:r>
            <a:r>
              <a:rPr lang="en-US" altLang="zh-TW" sz="3200" dirty="0" err="1">
                <a:latin typeface="Times New Roman" panose="02020603050405020304" pitchFamily="18" charset="0"/>
              </a:rPr>
              <a:t>cronjob.yaml</a:t>
            </a:r>
            <a:endParaRPr kumimoji="1" lang="zh-TW" altLang="en-US" sz="3200" dirty="0">
              <a:latin typeface="Times New Roman" panose="02020603050405020304" pitchFamily="18" charset="0"/>
            </a:endParaRP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7F66ABBB-3E16-1C41-1CBC-2155DAA24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942234" y="1825625"/>
            <a:ext cx="63075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7256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2BD00-7A8F-9041-99C2-12FB9219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cronjob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BE4F49-B48C-BD43-B6CF-C9C88A9D9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cronjob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job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lvl="1"/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	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71000BF-F044-A14F-8443-2C5AFF53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3DBFE779-F58C-B949-9385-3C5D16D2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138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AA5C71-91CF-2B4B-9158-C639140E0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04" y="2438399"/>
            <a:ext cx="7677493" cy="87823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3D1BFD8-FD39-514D-8126-824ED0F63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417" y="4330071"/>
            <a:ext cx="7797389" cy="152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7464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71C68E-A9ED-A94D-8561-2DA6AB33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cronjob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592A10-22B8-D34E-8D29-3923AE2CB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定時建立</a:t>
            </a:r>
            <a:r>
              <a:rPr lang="en-US" altLang="zh-CN" dirty="0"/>
              <a:t>job</a:t>
            </a:r>
            <a:r>
              <a:rPr lang="zh-CN" altLang="en-US" dirty="0"/>
              <a:t>與</a:t>
            </a:r>
            <a:r>
              <a:rPr lang="en-US" altLang="zh-CN" dirty="0"/>
              <a:t>pod</a:t>
            </a:r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delete cronjob hello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15835CFB-564B-D94A-82A8-2545CA20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E6BCD0E3-5884-AF4E-B42E-ED4558D4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139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CCE7E4B-9E7B-D242-9891-BC3C0BF2E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66" y="4830541"/>
            <a:ext cx="10768467" cy="75128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4D54945-AF63-1E4D-8597-DCFE5A8BA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132" y="662848"/>
            <a:ext cx="6891867" cy="315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1757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2CCE67-4DE4-014C-9074-3A2A6B85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</a:t>
            </a:r>
            <a:r>
              <a:rPr kumimoji="1" lang="zh-Hant" altLang="en-US" dirty="0"/>
              <a:t> </a:t>
            </a:r>
            <a:r>
              <a:rPr kumimoji="1" lang="zh-TW" altLang="en-US" dirty="0"/>
              <a:t>編碼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E12C4E-F8FE-7F43-8C58-834B828D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$ echo -n "root" | base64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$ echo -n "</a:t>
            </a:r>
            <a:r>
              <a:rPr lang="en-US" altLang="zh-TW" dirty="0" err="1"/>
              <a:t>rootpass</a:t>
            </a:r>
            <a:r>
              <a:rPr lang="en-US" altLang="zh-TW" dirty="0"/>
              <a:t>" | base64</a:t>
            </a:r>
            <a:endParaRPr kumimoji="1" lang="en-US" altLang="zh-TW" dirty="0"/>
          </a:p>
          <a:p>
            <a:endParaRPr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4BD000AF-A198-EA41-B795-C663BC10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F5621AC5-8D2C-F847-9FC9-E9E60278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140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48290C9-696F-C748-9E1F-6FECBF363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738" y="2431188"/>
            <a:ext cx="9177569" cy="76791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FECC9E7-DFFE-DE45-8F6A-43E995F4E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96" y="4384618"/>
            <a:ext cx="11265987" cy="60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942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B39C4-5EF0-AE45-B66B-AF250B92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B6EDD1-8A0B-6645-97CB-8970AA9A3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secrets</a:t>
            </a:r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D8E4D69D-D4B0-4F40-9B12-A1ACB6F9D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16FFE14B-8DE4-C24A-A3EC-73386495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141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FECE5E4-A625-3E45-BCF5-0AAFB1CEF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2941320"/>
            <a:ext cx="86360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8048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920023-C093-FB44-8634-721EF899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Build Secrets Volume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251771-5DD9-0646-9CF2-5F7F181A3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K8s/secret/demo-</a:t>
            </a:r>
            <a:r>
              <a:rPr kumimoji="1" lang="en-US" altLang="zh-TW" dirty="0" err="1"/>
              <a:t>secret.yaml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8C0700B8-B527-EE47-9113-32684847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A617099B-74E7-1A49-BD8B-CFAE6FC4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142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403F094-6649-BD42-BBCD-A5902E039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090" y="3330909"/>
            <a:ext cx="67691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0930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CFF813-01FC-A94E-970A-E1611891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</a:t>
            </a:r>
            <a:r>
              <a:rPr kumimoji="1" lang="zh-CN" altLang="en-US" dirty="0"/>
              <a:t>當</a:t>
            </a:r>
            <a:r>
              <a:rPr kumimoji="1" lang="en-US" altLang="zh-CN" dirty="0"/>
              <a:t>Pod </a:t>
            </a:r>
            <a:r>
              <a:rPr kumimoji="1" lang="zh-CN" altLang="en-US" dirty="0"/>
              <a:t>環境變數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4ACBAE-CE02-FE4C-92F5-8CC00218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K8s/pods/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-secret-</a:t>
            </a:r>
            <a:r>
              <a:rPr kumimoji="1" lang="en-US" altLang="zh-TW" dirty="0" err="1"/>
              <a:t>env.yaml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7ED18BF7-17F1-B040-BF67-6ABDF6556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A261710-6C04-AA4C-BF6B-46943721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143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5407DBA-B632-9042-B8E7-1543D2E85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362" y="1411814"/>
            <a:ext cx="3407357" cy="544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7656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BF1820-2337-124E-8DDD-C898A125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Pods </a:t>
            </a:r>
            <a:r>
              <a:rPr kumimoji="1" lang="en-US" altLang="zh-TW" dirty="0" err="1"/>
              <a:t>env</a:t>
            </a:r>
            <a:r>
              <a:rPr kumimoji="1" lang="zh-Hant" altLang="en-US" dirty="0"/>
              <a:t> 描述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B6E80EF-6A41-4A4E-A630-16271150A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8149" y="1825625"/>
            <a:ext cx="6315701" cy="4351338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1957D3B-BE84-954F-86AF-C6566E35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E1FECC7-DB16-554E-97AC-1B682611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637878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1E34C5-F5FF-E347-908B-DCBB2D85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Pods show </a:t>
            </a:r>
            <a:r>
              <a:rPr kumimoji="1" lang="en-US" altLang="zh-TW" dirty="0" err="1"/>
              <a:t>env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57981D4-A227-8A48-AA88-769E84F04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3290094"/>
            <a:ext cx="9753600" cy="1422400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97A1DD2-B05B-684B-8D2C-2B5692E4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AEB738CC-819F-8943-8168-A17C9DAC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5505219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BBE138-5E96-1042-8237-1B82DB98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mount secret volume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94D9539A-4305-7848-BDFA-78CFAB061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0492" y="1825625"/>
            <a:ext cx="3651015" cy="4351338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692262C-1701-F14B-B6A1-70EC63E9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98633712-886A-EF42-AC98-F1D76B23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601393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F42771-84DB-364D-A832-676B4304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check pod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3F0AA1BF-787B-8943-B154-A62553E16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650" y="2299494"/>
            <a:ext cx="10426700" cy="3403600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C55EA266-8F69-CF4B-88CA-A1E5EB26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2EA4F36-56CF-C34A-B10D-58912D70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147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7F9A358-8563-FF4D-ACA4-B1428AD41525}"/>
              </a:ext>
            </a:extLst>
          </p:cNvPr>
          <p:cNvSpPr txBox="1"/>
          <p:nvPr/>
        </p:nvSpPr>
        <p:spPr>
          <a:xfrm>
            <a:off x="1642392" y="1686951"/>
            <a:ext cx="789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 err="1">
                <a:latin typeface="Times New Roman" panose="02020603050405020304" pitchFamily="18" charset="0"/>
              </a:rPr>
              <a:t>kubectl</a:t>
            </a:r>
            <a:r>
              <a:rPr kumimoji="1" lang="en-US" altLang="zh-TW" sz="3200" dirty="0">
                <a:latin typeface="Times New Roman" panose="02020603050405020304" pitchFamily="18" charset="0"/>
              </a:rPr>
              <a:t> describe pods </a:t>
            </a:r>
            <a:r>
              <a:rPr kumimoji="1" lang="en-US" altLang="zh-TW" sz="3200" dirty="0" err="1">
                <a:latin typeface="Times New Roman" panose="02020603050405020304" pitchFamily="18" charset="0"/>
              </a:rPr>
              <a:t>nginx</a:t>
            </a:r>
            <a:r>
              <a:rPr kumimoji="1" lang="en-US" altLang="zh-TW" sz="3200" dirty="0">
                <a:latin typeface="Times New Roman" panose="02020603050405020304" pitchFamily="18" charset="0"/>
              </a:rPr>
              <a:t>-pod-</a:t>
            </a:r>
            <a:r>
              <a:rPr kumimoji="1" lang="en-US" altLang="zh-TW" sz="3200" dirty="0" err="1">
                <a:latin typeface="Times New Roman" panose="02020603050405020304" pitchFamily="18" charset="0"/>
              </a:rPr>
              <a:t>gcp</a:t>
            </a:r>
            <a:r>
              <a:rPr kumimoji="1" lang="en-US" altLang="zh-TW" sz="3200" dirty="0">
                <a:latin typeface="Times New Roman" panose="02020603050405020304" pitchFamily="18" charset="0"/>
              </a:rPr>
              <a:t>-volume</a:t>
            </a:r>
            <a:endParaRPr kumimoji="1" lang="zh-TW" altLang="en-US" sz="3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94985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F302BA-F40D-A246-8144-D882DDCD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check pod 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AE3A54C-713E-0348-876F-F65DFA7E06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2850" y="2413794"/>
            <a:ext cx="9766300" cy="3175000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CFC0B85-9579-E747-972E-8203392A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7E118C47-AB8A-4C4A-8AA3-1DF75D5F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8579006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CB34042-F80B-B24F-97B8-3C3C0969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/>
              <a:t>Google Cloud Platform Kubernetes Engine</a:t>
            </a:r>
            <a:endParaRPr kumimoji="1" lang="zh-TW" altLang="en-US" dirty="0"/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644376BF-D528-4140-B06F-877FCB0F1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F698A0D1-A00D-A149-803E-5D5A639F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5EAFEF47-6AD1-3B45-B6FD-385B816D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791060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A60488-E26A-E440-8890-26B7AE45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選擇</a:t>
            </a:r>
            <a:r>
              <a:rPr kumimoji="1" lang="en-US" altLang="zh-TW" dirty="0"/>
              <a:t>Kubernetes engine on GCP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20323A25-6AD4-FC44-BA66-B365009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E88FB601-F97F-3B45-9910-65CE2B43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150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68B89B4-61BA-BCC8-14D2-A47BD4C0A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161" y="1825625"/>
            <a:ext cx="88696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4509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5BD5883-7959-5444-BE55-98DDF7782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GKE</a:t>
            </a:r>
            <a:endParaRPr kumimoji="1" lang="zh-TW" altLang="en-US" dirty="0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841814B4-D516-C743-A1ED-521349C91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53E93A1C-FB75-514E-AEE3-269C8487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151</a:t>
            </a:fld>
            <a:endParaRPr kumimoji="1" lang="zh-TW" altLang="en-US"/>
          </a:p>
        </p:txBody>
      </p:sp>
      <p:pic>
        <p:nvPicPr>
          <p:cNvPr id="23" name="內容版面配置區 22">
            <a:extLst>
              <a:ext uri="{FF2B5EF4-FFF2-40B4-BE49-F238E27FC236}">
                <a16:creationId xmlns:a16="http://schemas.microsoft.com/office/drawing/2014/main" id="{7C745B80-8B26-6094-EE72-1463CBD0D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473" y="1825625"/>
            <a:ext cx="6677053" cy="4351338"/>
          </a:xfrm>
        </p:spPr>
      </p:pic>
    </p:spTree>
    <p:extLst>
      <p:ext uri="{BB962C8B-B14F-4D97-AF65-F5344CB8AC3E}">
        <p14:creationId xmlns:p14="http://schemas.microsoft.com/office/powerpoint/2010/main" val="257663183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DFDB51-BC4E-ECD5-31E8-A9C96653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選擇</a:t>
            </a:r>
            <a:r>
              <a:rPr kumimoji="1" lang="en-US" altLang="zh-TW" dirty="0"/>
              <a:t>Standard cluster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01F687-E9BB-7CFA-C356-4992D590B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510" y="1825625"/>
            <a:ext cx="8152979" cy="4351338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85EF75-E9D2-B49E-D9B4-588A804E1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9BF328-6C37-FF13-4FAC-D51BB714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7721548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82009B-2313-FD1B-A2FD-8C0BF9C44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等待 </a:t>
            </a:r>
            <a:r>
              <a:rPr kumimoji="1" lang="en-US" altLang="zh-TW" dirty="0"/>
              <a:t>GKE</a:t>
            </a:r>
            <a:r>
              <a:rPr kumimoji="1" lang="zh-TW" altLang="en-US" dirty="0"/>
              <a:t> 建立中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CF30E4-8548-637E-E110-6B443A55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B13CAD8-4E80-A5DC-2B23-3B2FF86D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153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CD15C558-F0E4-EDD7-3C0D-0BC5E5D7F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9219" y="1825625"/>
            <a:ext cx="78735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0567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39EF07-6FB9-BE48-BDFB-341777C1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lang="en-US" altLang="zh-TW" dirty="0"/>
              <a:t>Google Cloud CLI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F827C9-15B7-DA43-842D-493E5AF10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For mac</a:t>
            </a:r>
          </a:p>
          <a:p>
            <a:pPr lvl="1"/>
            <a:r>
              <a:rPr kumimoji="1" lang="en-US" altLang="zh-TW" dirty="0"/>
              <a:t>https://</a:t>
            </a:r>
            <a:r>
              <a:rPr kumimoji="1" lang="en-US" altLang="zh-TW" dirty="0" err="1"/>
              <a:t>cloud.google.com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sdk</a:t>
            </a:r>
            <a:r>
              <a:rPr kumimoji="1" lang="en-US" altLang="zh-TW" dirty="0"/>
              <a:t>/docs/</a:t>
            </a:r>
            <a:r>
              <a:rPr kumimoji="1" lang="en-US" altLang="zh-TW" dirty="0" err="1"/>
              <a:t>quickstart-macos</a:t>
            </a:r>
            <a:endParaRPr kumimoji="1" lang="en-US" altLang="zh-TW" dirty="0"/>
          </a:p>
          <a:p>
            <a:r>
              <a:rPr kumimoji="1" lang="en-US" altLang="zh-TW" dirty="0"/>
              <a:t>For windows </a:t>
            </a:r>
          </a:p>
          <a:p>
            <a:pPr lvl="1"/>
            <a:r>
              <a:rPr kumimoji="1" lang="en-US" altLang="zh-TW" dirty="0"/>
              <a:t>https://</a:t>
            </a:r>
            <a:r>
              <a:rPr kumimoji="1" lang="en-US" altLang="zh-TW" dirty="0" err="1"/>
              <a:t>cloud.google.com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sdk</a:t>
            </a:r>
            <a:r>
              <a:rPr kumimoji="1" lang="en-US" altLang="zh-TW" dirty="0"/>
              <a:t>/docs/</a:t>
            </a:r>
            <a:r>
              <a:rPr kumimoji="1" lang="en-US" altLang="zh-TW" dirty="0" err="1"/>
              <a:t>quickstart</a:t>
            </a:r>
            <a:r>
              <a:rPr kumimoji="1" lang="en-US" altLang="zh-TW" dirty="0"/>
              <a:t>-windows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2B0ACAF4-DF87-6D48-9423-7C9947A0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8B204012-04C4-2244-911C-D6446F1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9631837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145F66-975F-3747-A360-F1E523D7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lang="en-US" altLang="zh-TW" dirty="0"/>
              <a:t>Google Cloud CLI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6FF480-043B-8745-AA76-734C69227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安裝</a:t>
            </a:r>
            <a:endParaRPr kumimoji="1" lang="en-US" altLang="zh-TW" dirty="0"/>
          </a:p>
          <a:p>
            <a:pPr lvl="1"/>
            <a:r>
              <a:rPr lang="en" altLang="zh-TW" dirty="0">
                <a:effectLst/>
              </a:rPr>
              <a:t>./google-cloud-</a:t>
            </a:r>
            <a:r>
              <a:rPr lang="en" altLang="zh-TW" dirty="0" err="1">
                <a:effectLst/>
              </a:rPr>
              <a:t>sdk</a:t>
            </a:r>
            <a:r>
              <a:rPr lang="en" altLang="zh-TW" dirty="0">
                <a:effectLst/>
              </a:rPr>
              <a:t>/</a:t>
            </a:r>
            <a:r>
              <a:rPr lang="en" altLang="zh-TW" dirty="0" err="1">
                <a:effectLst/>
              </a:rPr>
              <a:t>install.sh</a:t>
            </a:r>
            <a:endParaRPr kumimoji="1" lang="en-US" altLang="zh-TW" dirty="0"/>
          </a:p>
          <a:p>
            <a:r>
              <a:rPr kumimoji="1" lang="zh-TW" altLang="en-US" dirty="0"/>
              <a:t>初始化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cd </a:t>
            </a:r>
            <a:r>
              <a:rPr lang="en" altLang="zh-TW" dirty="0">
                <a:effectLst/>
              </a:rPr>
              <a:t>google-cloud-</a:t>
            </a:r>
            <a:r>
              <a:rPr lang="en" altLang="zh-TW" dirty="0" err="1">
                <a:effectLst/>
              </a:rPr>
              <a:t>sdk</a:t>
            </a:r>
            <a:r>
              <a:rPr lang="en" altLang="zh-TW" dirty="0">
                <a:effectLst/>
              </a:rPr>
              <a:t>/bin/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gcloud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init</a:t>
            </a:r>
            <a:endParaRPr kumimoji="1" lang="en-US" altLang="zh-TW" dirty="0"/>
          </a:p>
          <a:p>
            <a:pPr lvl="1"/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6299A59-C95C-FC49-8C88-A1EC5C35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53B46617-18E0-C84F-8E8E-3BBC0E8A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155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9B4686B-513C-9152-95B0-7D2BB70EF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191" y="3366500"/>
            <a:ext cx="6304908" cy="335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1801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F7A6AC-E508-3E47-AAEB-8FBBBE5E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GCP </a:t>
            </a:r>
            <a:r>
              <a:rPr kumimoji="1" lang="en-US" altLang="zh-TW" dirty="0" err="1"/>
              <a:t>Cotainer</a:t>
            </a:r>
            <a:r>
              <a:rPr kumimoji="1" lang="en-US" altLang="zh-TW" dirty="0"/>
              <a:t> cluster </a:t>
            </a:r>
            <a:r>
              <a:rPr kumimoji="1" lang="zh-TW" altLang="en-US" dirty="0"/>
              <a:t>操作</a:t>
            </a:r>
            <a:r>
              <a:rPr kumimoji="1" lang="zh-CN" altLang="en-US" dirty="0"/>
              <a:t>權限</a:t>
            </a:r>
            <a:r>
              <a:rPr kumimoji="1" lang="en-US" altLang="zh-CN" dirty="0"/>
              <a:t>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FBCE95-F5A1-E049-A7D8-95459489D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gcloud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auth</a:t>
            </a:r>
            <a:r>
              <a:rPr kumimoji="1" lang="en-US" altLang="zh-TW" dirty="0"/>
              <a:t> login</a:t>
            </a:r>
          </a:p>
          <a:p>
            <a:pPr lvl="1"/>
            <a:r>
              <a:rPr kumimoji="1" lang="zh-CN" altLang="en-US" dirty="0"/>
              <a:t>登入</a:t>
            </a:r>
            <a:r>
              <a:rPr kumimoji="1" lang="en-US" altLang="zh-CN" dirty="0"/>
              <a:t>google </a:t>
            </a:r>
            <a:r>
              <a:rPr kumimoji="1" lang="zh-CN" altLang="en-US" dirty="0"/>
              <a:t>帳號</a:t>
            </a:r>
            <a:endParaRPr kumimoji="1" lang="en-US" altLang="zh-CN" dirty="0"/>
          </a:p>
          <a:p>
            <a:pPr lvl="1"/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42E101BD-E00C-DE4A-9DC6-99CA8A29D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9CDFDF2A-BA0B-134C-9644-7BE12114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156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4BA94B2-6922-0F80-DF81-7E2755DDE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732" y="2821456"/>
            <a:ext cx="5687602" cy="335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0179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C51147-AFBA-EFE0-AB77-E800EE70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GKE project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F20D94-E128-C7B7-1BEB-BAE8F0AFC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gcloud</a:t>
            </a:r>
            <a:r>
              <a:rPr kumimoji="1" lang="en-US" altLang="zh-CN" dirty="0"/>
              <a:t> projects list</a:t>
            </a:r>
          </a:p>
          <a:p>
            <a:pPr lvl="1"/>
            <a:r>
              <a:rPr kumimoji="1" lang="en-US" altLang="zh-CN" dirty="0"/>
              <a:t>List all projects</a:t>
            </a: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UI</a:t>
            </a:r>
            <a:r>
              <a:rPr kumimoji="1" lang="zh-CN" altLang="en-US" dirty="0"/>
              <a:t>上找到剛建立</a:t>
            </a:r>
            <a:r>
              <a:rPr kumimoji="1" lang="en-US" altLang="zh-CN" dirty="0"/>
              <a:t>GKE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project</a:t>
            </a:r>
          </a:p>
          <a:p>
            <a:pPr lvl="1"/>
            <a:endParaRPr kumimoji="1" lang="en-US" altLang="zh-CN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pPr marL="457200" lvl="1" indent="0">
              <a:buNone/>
            </a:pP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55F3EC-A858-7DFF-FB6A-F81444DFE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DA7EBFF-1E37-B2DC-3AB7-D7886645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157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76F5F23-CDA5-61CA-1F1B-7225B7E32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00876"/>
            <a:ext cx="7772400" cy="145624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CA5E4A7-B340-3FE7-1697-E1BE46B34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552" y="4714857"/>
            <a:ext cx="4547171" cy="200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3992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63435D-E314-E338-505A-6909B048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指定</a:t>
            </a:r>
            <a:r>
              <a:rPr kumimoji="1" lang="en-US" altLang="zh-TW" dirty="0"/>
              <a:t>project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66B50C-9201-061F-8DED-91D970651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gcloud</a:t>
            </a:r>
            <a:r>
              <a:rPr kumimoji="1" lang="en-US" altLang="zh-TW" dirty="0"/>
              <a:t> config set project {project name}</a:t>
            </a:r>
          </a:p>
          <a:p>
            <a:pPr lvl="1"/>
            <a:r>
              <a:rPr kumimoji="1" lang="zh-CN" altLang="en-US" dirty="0"/>
              <a:t>選擇所使用的</a:t>
            </a:r>
            <a:r>
              <a:rPr kumimoji="1" lang="en-US" altLang="zh-CN" dirty="0"/>
              <a:t>project </a:t>
            </a:r>
          </a:p>
          <a:p>
            <a:pPr lvl="1"/>
            <a:r>
              <a:rPr kumimoji="1" lang="en-US" altLang="zh-CN" dirty="0"/>
              <a:t>e.g. </a:t>
            </a:r>
            <a:r>
              <a:rPr kumimoji="1" lang="en-US" altLang="zh-CN" dirty="0" err="1"/>
              <a:t>gcloud</a:t>
            </a:r>
            <a:r>
              <a:rPr kumimoji="1" lang="en-US" altLang="zh-CN" dirty="0"/>
              <a:t> config set project nifty-altar-355608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270569-7C65-FA5F-2378-2B0A46D7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7E4AF2C-1887-0102-0C38-9AC2EC18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158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71D4771-CD43-FF6E-D7D2-92B03BBAF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787" y="3212370"/>
            <a:ext cx="7772400" cy="43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4169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FB4715-63ED-D74D-9A6A-CA2478DB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GCP </a:t>
            </a:r>
            <a:r>
              <a:rPr kumimoji="1" lang="en-US" altLang="zh-TW" dirty="0" err="1"/>
              <a:t>Cotainer</a:t>
            </a:r>
            <a:r>
              <a:rPr kumimoji="1" lang="en-US" altLang="zh-TW" dirty="0"/>
              <a:t> cluster </a:t>
            </a:r>
            <a:r>
              <a:rPr kumimoji="1" lang="zh-TW" altLang="en-US" dirty="0"/>
              <a:t>操作</a:t>
            </a:r>
            <a:r>
              <a:rPr kumimoji="1" lang="zh-CN" altLang="en-US" dirty="0"/>
              <a:t>權限</a:t>
            </a:r>
            <a:r>
              <a:rPr kumimoji="1" lang="en-US" altLang="zh-CN" dirty="0"/>
              <a:t>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6C05F3-2E49-1B43-B096-CC2E4DD2F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gcloud</a:t>
            </a:r>
            <a:r>
              <a:rPr kumimoji="1" lang="en-US" altLang="zh-TW" dirty="0"/>
              <a:t> container clusters list</a:t>
            </a:r>
          </a:p>
          <a:p>
            <a:pPr lvl="1"/>
            <a:r>
              <a:rPr kumimoji="1" lang="zh-CN" altLang="en-US" dirty="0"/>
              <a:t>取得</a:t>
            </a:r>
            <a:r>
              <a:rPr kumimoji="1" lang="en-US" altLang="zh-CN" dirty="0"/>
              <a:t>k8s 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BE1E43-5FCD-A843-A624-C911017F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177A00A-3381-4D47-BFCE-74FA9B17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159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376ECC0-F7E1-F993-5CF7-2B2B4EE7C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55" y="2982366"/>
            <a:ext cx="11096914" cy="95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3516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945750-4487-8853-528D-DCAC77E4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取得指定</a:t>
            </a:r>
            <a:r>
              <a:rPr kumimoji="1" lang="en-US" altLang="zh-TW" dirty="0"/>
              <a:t>k8s</a:t>
            </a:r>
            <a:r>
              <a:rPr kumimoji="1" lang="zh-TW" altLang="en-US" dirty="0"/>
              <a:t>的授權</a:t>
            </a:r>
            <a:br>
              <a:rPr kumimoji="1" lang="en-US" altLang="zh-TW" dirty="0"/>
            </a:b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7D4DCF-4307-FF06-FEAD-2E5C22B34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gcloud</a:t>
            </a:r>
            <a:r>
              <a:rPr kumimoji="1" lang="en-US" altLang="zh-TW" dirty="0"/>
              <a:t> container clusters get-credentials {container-cluster-name} --zone={Location}</a:t>
            </a:r>
          </a:p>
          <a:p>
            <a:pPr lvl="1"/>
            <a:r>
              <a:rPr kumimoji="1" lang="en-US" altLang="zh-TW" dirty="0" err="1"/>
              <a:t>gcloud</a:t>
            </a:r>
            <a:r>
              <a:rPr kumimoji="1" lang="en-US" altLang="zh-TW" dirty="0"/>
              <a:t> container clusters get-credentials yuwei-k8s-cluster --zone=us-central1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382D0B-45C7-F0BA-62B0-655F6A1D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807060E-F753-449E-078E-0E0FC28A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160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ED32C0F-82B8-755B-6D56-5062669CD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2" y="3666520"/>
            <a:ext cx="11949169" cy="62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32421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65A31A-58D4-2DC7-0F13-14E847F8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瀏覽 </a:t>
            </a:r>
            <a:r>
              <a:rPr kumimoji="1" lang="en-US" altLang="zh-TW" dirty="0"/>
              <a:t>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/config, </a:t>
            </a:r>
            <a:r>
              <a:rPr kumimoji="1" lang="zh-TW" altLang="en-US" dirty="0"/>
              <a:t>會發現</a:t>
            </a:r>
            <a:r>
              <a:rPr kumimoji="1" lang="en-US" altLang="zh-TW" dirty="0"/>
              <a:t>GKE</a:t>
            </a:r>
            <a:r>
              <a:rPr kumimoji="1" lang="zh-TW" altLang="en-US" dirty="0"/>
              <a:t>授權檔已匯入其中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E229DC-EFAB-5798-E501-82B3C3B17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cat ~/.</a:t>
            </a:r>
            <a:r>
              <a:rPr kumimoji="1" lang="en" altLang="zh-TW" dirty="0" err="1"/>
              <a:t>kube</a:t>
            </a:r>
            <a:r>
              <a:rPr kumimoji="1" lang="en" altLang="zh-TW" dirty="0"/>
              <a:t>/config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129065-0938-F2B8-3D53-21E9C26D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2E24A6-556E-242A-4380-4BA49284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161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33841C-E5FB-024D-0B5C-25C94B8B8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371" y="1191121"/>
            <a:ext cx="6828034" cy="566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7845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427210-FC7B-CB23-B984-4F4746FD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GCP </a:t>
            </a:r>
            <a:r>
              <a:rPr kumimoji="1" lang="en-US" altLang="zh-TW" dirty="0" err="1"/>
              <a:t>Cotainer</a:t>
            </a:r>
            <a:r>
              <a:rPr kumimoji="1" lang="en-US" altLang="zh-TW" dirty="0"/>
              <a:t> cluster </a:t>
            </a:r>
            <a:r>
              <a:rPr kumimoji="1" lang="zh-TW" altLang="en-US" dirty="0"/>
              <a:t>操作</a:t>
            </a:r>
            <a:r>
              <a:rPr kumimoji="1" lang="zh-CN" altLang="en-US" dirty="0"/>
              <a:t>權限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6E73B0-F4B4-CF8E-04FE-8AB1BD6F3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10B1DB-70D6-86B3-7C93-9342A074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E2308C-3625-9C13-BC3E-2CCB1ABF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162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4571904-3D62-D993-01B7-7C5B396EC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86" y="2981008"/>
            <a:ext cx="7772400" cy="77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8173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F5A9DE-3A67-6F4F-B00A-23F370C1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 </a:t>
            </a:r>
            <a:r>
              <a:rPr kumimoji="1" lang="en-US" altLang="zh-TW" dirty="0" err="1"/>
              <a:t>LoadBalaner</a:t>
            </a:r>
            <a:r>
              <a:rPr kumimoji="1" lang="en-US" altLang="zh-TW" dirty="0"/>
              <a:t> 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D379DA-4E57-AC49-8643-0728D3B15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kubectl</a:t>
            </a:r>
            <a:r>
              <a:rPr lang="en-US" altLang="zh-TW" dirty="0"/>
              <a:t> create deployment hello-server --image </a:t>
            </a:r>
            <a:r>
              <a:rPr lang="en-US" altLang="zh-TW" dirty="0" err="1"/>
              <a:t>gcr.io</a:t>
            </a:r>
            <a:r>
              <a:rPr lang="en-US" altLang="zh-TW" dirty="0"/>
              <a:t>/google-samples/hello-app:1.0 --port 8080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expose deployment hello-server --type </a:t>
            </a:r>
            <a:r>
              <a:rPr lang="en-US" altLang="zh-TW" dirty="0" err="1"/>
              <a:t>LoadBalancer</a:t>
            </a:r>
            <a:r>
              <a:rPr lang="en-US" altLang="zh-TW" dirty="0"/>
              <a:t> --port 80 --target-port 8080</a:t>
            </a:r>
          </a:p>
          <a:p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CF58B95A-93BC-4D44-8DF3-78474CCA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AFEFDC8C-00AC-294D-AA2D-91CB2B0E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163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BE63B5-6C9D-22D4-C054-3E3565F2B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3" y="2800373"/>
            <a:ext cx="10349125" cy="79435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B484408-D28F-AF77-C473-4D8D44EEB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23" y="4925493"/>
            <a:ext cx="9992324" cy="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6030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4911E4-271E-5147-B0B9-C093CC77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Deployment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Service</a:t>
            </a:r>
            <a:r>
              <a:rPr kumimoji="1" lang="zh-TW" altLang="en-US" dirty="0"/>
              <a:t>部署狀態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F58F8B2-C2F7-DB49-B586-3C0C68A6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8617489-0F73-E942-B410-D57FD8A8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164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733CDD7-90A8-CFD0-D5CA-C47CEB22D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3589"/>
            <a:ext cx="10515600" cy="3955409"/>
          </a:xfrm>
        </p:spPr>
      </p:pic>
    </p:spTree>
    <p:extLst>
      <p:ext uri="{BB962C8B-B14F-4D97-AF65-F5344CB8AC3E}">
        <p14:creationId xmlns:p14="http://schemas.microsoft.com/office/powerpoint/2010/main" val="184736847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629D8B-3F1D-FD41-B1B6-6B1C1CB2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測試</a:t>
            </a:r>
            <a:r>
              <a:rPr kumimoji="1" lang="en-US" altLang="zh-TW" dirty="0"/>
              <a:t>Load balance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ED623CD5-9006-F94A-89C3-A3D750FB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D9213943-F4FD-124C-B590-DB9983E3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165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D11B05-15E0-671E-EB21-7FC24CA2B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2047911"/>
            <a:ext cx="70358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8378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A6F77C-85A2-2622-5F1E-700BE024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GKE</a:t>
            </a:r>
            <a:r>
              <a:rPr kumimoji="1" lang="zh-TW" altLang="en-US" dirty="0"/>
              <a:t>工作負載</a:t>
            </a:r>
            <a:r>
              <a:rPr kumimoji="1" lang="en-US" altLang="zh-TW" dirty="0"/>
              <a:t>-1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91829D-B53B-FB34-BE03-694B3615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CB6EACE-7952-354B-4C6C-21DCF061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166</a:t>
            </a:fld>
            <a:endParaRPr kumimoji="1" lang="zh-TW" altLang="en-US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6C46BDF0-11B3-2D5C-1380-75E0FED94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271" y="1825625"/>
            <a:ext cx="10319457" cy="4351338"/>
          </a:xfrm>
        </p:spPr>
      </p:pic>
    </p:spTree>
    <p:extLst>
      <p:ext uri="{BB962C8B-B14F-4D97-AF65-F5344CB8AC3E}">
        <p14:creationId xmlns:p14="http://schemas.microsoft.com/office/powerpoint/2010/main" val="341655968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29465-78C6-BD29-F116-74AB3E7A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GKE</a:t>
            </a:r>
            <a:r>
              <a:rPr kumimoji="1" lang="zh-TW" altLang="en-US" dirty="0"/>
              <a:t>工作負載</a:t>
            </a:r>
            <a:r>
              <a:rPr kumimoji="1" lang="en-US" altLang="zh-TW" dirty="0"/>
              <a:t>-2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84AE067-522A-C40F-C68C-E00015FF5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0732" y="1825625"/>
            <a:ext cx="8290535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421818-52D3-6000-68C5-03B702A68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4A83E94-DBBD-6A4E-4624-E91F2C8A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29029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EF0B9-5ED4-8047-8ED1-B5D6CE1B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Kubernetes </a:t>
            </a:r>
            <a:r>
              <a:rPr kumimoji="1" lang="zh-CN" altLang="en-US" dirty="0"/>
              <a:t>使用</a:t>
            </a:r>
            <a:r>
              <a:rPr kumimoji="1" lang="en-US" altLang="zh-CN" dirty="0"/>
              <a:t>load balance -4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D2CA6A5-ED0D-B34C-BC4A-AEDAFFE25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339101" y="1299533"/>
            <a:ext cx="5299329" cy="5193342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A0420686-2A24-644E-B5C9-A995F1EC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F7071BA6-7A02-9B4E-9D14-09D39259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353065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5BE6F1-97A6-496C-4717-EE05BAAF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建立硬碟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271250-F87A-33E8-9263-C4051457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3781C4F-BE4D-576A-8BC0-D905672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169</a:t>
            </a:fld>
            <a:endParaRPr kumimoji="1" lang="zh-TW" altLang="en-US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C6C68CD9-19CA-61E8-802C-E9AF9BB911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7507"/>
            <a:ext cx="10515600" cy="4227574"/>
          </a:xfrm>
        </p:spPr>
      </p:pic>
    </p:spTree>
    <p:extLst>
      <p:ext uri="{BB962C8B-B14F-4D97-AF65-F5344CB8AC3E}">
        <p14:creationId xmlns:p14="http://schemas.microsoft.com/office/powerpoint/2010/main" val="203767912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828448-C3B5-B44C-A09E-6D8B00B1C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GCP volume - </a:t>
            </a:r>
            <a:r>
              <a:rPr kumimoji="1" lang="zh-CN" altLang="en-US" dirty="0"/>
              <a:t>建</a:t>
            </a:r>
            <a:r>
              <a:rPr kumimoji="1" lang="en-US" altLang="zh-CN" dirty="0"/>
              <a:t>Volume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7D56EC50-BA33-6B47-9FBE-41653174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8CFC6B9-9EE4-714F-BF7C-B04B93A70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170</a:t>
            </a:fld>
            <a:endParaRPr kumimoji="1" lang="zh-TW" altLang="en-US"/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67286ADA-9A02-2C86-0A59-6913FB883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689" y="1496852"/>
            <a:ext cx="5828281" cy="4964438"/>
          </a:xfrm>
        </p:spPr>
      </p:pic>
    </p:spTree>
    <p:extLst>
      <p:ext uri="{BB962C8B-B14F-4D97-AF65-F5344CB8AC3E}">
        <p14:creationId xmlns:p14="http://schemas.microsoft.com/office/powerpoint/2010/main" val="141447125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72E5D-0BCD-5B4A-8C1B-31DD731D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PVC, PV, Storage class</a:t>
            </a:r>
            <a:r>
              <a:rPr kumimoji="1" lang="zh-CN" altLang="en-US" dirty="0"/>
              <a:t>關係圖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B04F1A7-14E5-EC42-9DF3-2AEF961C0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0717"/>
            <a:ext cx="10515600" cy="4181153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2CE9AD-2D82-FF4B-85EC-2B8D32E8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2F3D2A-03FD-6D43-96AF-C400AB85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84010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3CE529-EABD-9D48-9C5E-8B0231308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GCP volume -</a:t>
            </a:r>
            <a:r>
              <a:rPr kumimoji="1" lang="zh-Hant" altLang="en-US" dirty="0"/>
              <a:t> 建</a:t>
            </a:r>
            <a:r>
              <a:rPr kumimoji="1" lang="en-US" altLang="zh-Hant" dirty="0" err="1"/>
              <a:t>PersistemtVolume</a:t>
            </a:r>
            <a:r>
              <a:rPr kumimoji="1" lang="en-US" altLang="zh-Hant" dirty="0"/>
              <a:t> -1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C91129F-EA3A-E74E-997A-0D52C7C57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K8s/volumes/</a:t>
            </a:r>
            <a:r>
              <a:rPr lang="en-US" altLang="zh-TW" dirty="0" err="1"/>
              <a:t>pv.yaml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393B42E9-4039-574B-BBE4-B394598C7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B84AE98-B392-3C4D-B3B7-B445AFDE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172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83BDDC1-3FDF-EC52-A173-8573C296B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092" y="2403963"/>
            <a:ext cx="7772400" cy="413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2371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1F86F-5D01-1839-5AA9-86CA9AE1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PV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30EB10-CB1E-D8E5-40CD-08CE502D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D770709-A484-3358-3E2F-D1A264EC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173</a:t>
            </a:fld>
            <a:endParaRPr kumimoji="1" lang="zh-TW" altLang="en-US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EC8A961C-3E90-68C6-FA4C-688E071D2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kubectl</a:t>
            </a:r>
            <a:r>
              <a:rPr lang="en-US" altLang="zh-TW" dirty="0"/>
              <a:t> apply -f volumes/</a:t>
            </a:r>
            <a:r>
              <a:rPr lang="en-US" altLang="zh-TW" dirty="0" err="1"/>
              <a:t>pv.yaml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574A65A3-79D6-7AD7-8F02-BE59BB701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19" y="2844497"/>
            <a:ext cx="10043910" cy="58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265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9D7FC102-60D4-2347-B5EF-A8001236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GCP volume -</a:t>
            </a:r>
            <a:r>
              <a:rPr kumimoji="1" lang="zh-Hant" altLang="en-US" dirty="0"/>
              <a:t> 建</a:t>
            </a:r>
            <a:r>
              <a:rPr kumimoji="1" lang="en-US" altLang="zh-Hant" dirty="0" err="1"/>
              <a:t>PersistemtVolume</a:t>
            </a:r>
            <a:r>
              <a:rPr kumimoji="1" lang="en-US" altLang="zh-Hant" dirty="0"/>
              <a:t> 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189D84F8-B959-D54B-AF8F-12792928E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spec.capacity.accessModes</a:t>
            </a:r>
            <a:r>
              <a:rPr kumimoji="1" lang="en-US" altLang="zh-TW" dirty="0"/>
              <a:t>:</a:t>
            </a:r>
          </a:p>
          <a:p>
            <a:pPr lvl="1"/>
            <a:r>
              <a:rPr kumimoji="1" lang="en-US" altLang="zh-TW" dirty="0" err="1"/>
              <a:t>ReadWriteOnce</a:t>
            </a:r>
            <a:r>
              <a:rPr kumimoji="1" lang="en-US" altLang="zh-TW" dirty="0"/>
              <a:t>: </a:t>
            </a:r>
          </a:p>
          <a:p>
            <a:pPr lvl="2"/>
            <a:r>
              <a:rPr kumimoji="1" lang="en-US" altLang="zh-CN" dirty="0"/>
              <a:t>1</a:t>
            </a:r>
            <a:r>
              <a:rPr kumimoji="1" lang="zh-CN" altLang="en-US" dirty="0"/>
              <a:t>個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寫入與讀取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ReadOnlyMany</a:t>
            </a:r>
            <a:r>
              <a:rPr kumimoji="1" lang="en-US" altLang="zh-CN" dirty="0"/>
              <a:t>:</a:t>
            </a:r>
          </a:p>
          <a:p>
            <a:pPr lvl="2"/>
            <a:r>
              <a:rPr kumimoji="1" lang="en-US" altLang="zh-CN" dirty="0"/>
              <a:t>1</a:t>
            </a:r>
            <a:r>
              <a:rPr kumimoji="1" lang="zh-CN" altLang="en-US" dirty="0"/>
              <a:t>個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寫入與多個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讀取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ReadWriteMany</a:t>
            </a:r>
            <a:r>
              <a:rPr kumimoji="1" lang="en-US" altLang="zh-CN" dirty="0"/>
              <a:t>:</a:t>
            </a:r>
          </a:p>
          <a:p>
            <a:pPr lvl="2"/>
            <a:r>
              <a:rPr kumimoji="1" lang="zh-CN" altLang="en-US" dirty="0"/>
              <a:t>多個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寫入與多個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讀取</a:t>
            </a:r>
            <a:endParaRPr kumimoji="1" lang="en-US" altLang="zh-CN" dirty="0"/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696901A0-B107-8446-99BF-786C11F3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C4ACCC0E-425F-2A47-9CEC-1E35A70A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7326974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628189-C639-0645-B276-B094E82D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GCP volume -</a:t>
            </a:r>
            <a:r>
              <a:rPr kumimoji="1" lang="zh-Hant" altLang="en-US" dirty="0"/>
              <a:t> 建</a:t>
            </a:r>
            <a:r>
              <a:rPr kumimoji="1" lang="en-US" altLang="zh-Hant" dirty="0" err="1"/>
              <a:t>PersistemtVolume</a:t>
            </a:r>
            <a:r>
              <a:rPr kumimoji="1" lang="en-US" altLang="zh-Hant" dirty="0"/>
              <a:t>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96EFEC-FBBE-604D-A979-442644BBB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Spec.gcePersistentDisk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除了</a:t>
            </a:r>
            <a:r>
              <a:rPr kumimoji="1" lang="en-US" altLang="zh-CN" dirty="0" err="1"/>
              <a:t>gce</a:t>
            </a:r>
            <a:r>
              <a:rPr kumimoji="1" lang="zh-CN" altLang="en-US" dirty="0"/>
              <a:t>，還有多種</a:t>
            </a:r>
            <a:endParaRPr kumimoji="1" lang="en-US" altLang="zh-CN" dirty="0"/>
          </a:p>
          <a:p>
            <a:pPr lvl="2"/>
            <a:r>
              <a:rPr kumimoji="1" lang="en-US" altLang="zh-TW" dirty="0" err="1"/>
              <a:t>nfs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rbd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awsElasticBlcokStorage</a:t>
            </a:r>
            <a:endParaRPr kumimoji="1" lang="en-US" altLang="zh-TW" dirty="0"/>
          </a:p>
          <a:p>
            <a:r>
              <a:rPr kumimoji="1" lang="en-US" altLang="zh-CN" dirty="0"/>
              <a:t>List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get </a:t>
            </a:r>
            <a:r>
              <a:rPr kumimoji="1" lang="en-US" altLang="zh-CN" dirty="0" err="1"/>
              <a:t>pv</a:t>
            </a:r>
            <a:endParaRPr kumimoji="1" lang="en-US" altLang="zh-CN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76234E88-A35A-0644-897F-78AC722E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5A5B4DD-9D0C-5E41-97FC-E6F7B88E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175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B4682D0-7FA9-85EC-3412-9E529A2AA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44" y="5056698"/>
            <a:ext cx="11966127" cy="84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5070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EA6CA-82FD-BB41-9A47-F6DEF6E4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Volume:</a:t>
            </a:r>
            <a:r>
              <a:rPr kumimoji="1" lang="zh-Hant" altLang="en-US" dirty="0"/>
              <a:t> 建</a:t>
            </a:r>
            <a:r>
              <a:rPr kumimoji="1" lang="en-US" altLang="zh-Hant" dirty="0" err="1"/>
              <a:t>PersistemtVolumeC</a:t>
            </a:r>
            <a:r>
              <a:rPr kumimoji="1" lang="en-US" altLang="zh-TW" dirty="0" err="1"/>
              <a:t>laim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1B0442-FA3A-BB44-B5AF-85E121D91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4493" y="2056092"/>
            <a:ext cx="4396341" cy="3244359"/>
          </a:xfrm>
        </p:spPr>
        <p:txBody>
          <a:bodyPr/>
          <a:lstStyle/>
          <a:p>
            <a:r>
              <a:rPr lang="en-US" altLang="zh-TW" sz="3200" dirty="0"/>
              <a:t>K8s/volumes/</a:t>
            </a:r>
            <a:r>
              <a:rPr lang="en-US" altLang="zh-TW" sz="3200" dirty="0" err="1"/>
              <a:t>pvc.yaml</a:t>
            </a:r>
            <a:r>
              <a:rPr kumimoji="1" lang="en-US" altLang="zh-TW" sz="3200" dirty="0" err="1"/>
              <a:t>Pods</a:t>
            </a:r>
            <a:r>
              <a:rPr kumimoji="1" lang="zh-Hant" altLang="en-US" sz="3200" dirty="0"/>
              <a:t> </a:t>
            </a:r>
            <a:r>
              <a:rPr kumimoji="1" lang="zh-CN" altLang="en-US" sz="3200" dirty="0"/>
              <a:t>界接</a:t>
            </a:r>
            <a:r>
              <a:rPr kumimoji="1" lang="en-US" altLang="zh-CN" sz="3200" dirty="0"/>
              <a:t>storage</a:t>
            </a:r>
            <a:r>
              <a:rPr kumimoji="1" lang="zh-CN" altLang="en-US" sz="3200" dirty="0"/>
              <a:t>層</a:t>
            </a:r>
            <a:endParaRPr kumimoji="1" lang="en-US" altLang="zh-TW" sz="3200" dirty="0"/>
          </a:p>
          <a:p>
            <a:r>
              <a:rPr kumimoji="1" lang="en-US" altLang="zh-TW" sz="3200" dirty="0"/>
              <a:t>List</a:t>
            </a:r>
          </a:p>
          <a:p>
            <a:pPr lvl="1"/>
            <a:r>
              <a:rPr kumimoji="1" lang="en-US" altLang="zh-TW" sz="2800" dirty="0" err="1"/>
              <a:t>kubectl</a:t>
            </a:r>
            <a:r>
              <a:rPr kumimoji="1" lang="en-US" altLang="zh-TW" sz="2800" dirty="0"/>
              <a:t> get </a:t>
            </a:r>
            <a:r>
              <a:rPr kumimoji="1" lang="en-US" altLang="zh-TW" sz="2800" dirty="0" err="1"/>
              <a:t>pvc</a:t>
            </a:r>
            <a:endParaRPr kumimoji="1" lang="zh-TW" altLang="en-US" sz="2800" dirty="0"/>
          </a:p>
        </p:txBody>
      </p:sp>
      <p:sp>
        <p:nvSpPr>
          <p:cNvPr id="7" name="日期預留位置 6">
            <a:extLst>
              <a:ext uri="{FF2B5EF4-FFF2-40B4-BE49-F238E27FC236}">
                <a16:creationId xmlns:a16="http://schemas.microsoft.com/office/drawing/2014/main" id="{1A37E903-B393-6E41-B552-D58F72CB9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483E3C7C-1787-5A45-84B8-4C83C2AA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176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995DDBC-756E-B200-147E-7DBD03853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18" y="1690688"/>
            <a:ext cx="5063304" cy="411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1673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448172F-7676-2BA4-D37A-EC0F7A0F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r>
              <a:rPr lang="en-US" altLang="zh-TW" dirty="0" err="1"/>
              <a:t>pvc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6B856E2A-8AD2-8A4E-97B7-B69CCD446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Apply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Get status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F9B67B-20EC-F250-B27C-F1BBEF3A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548CF5-DBA4-AB6C-D4A7-24ABA7C6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177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8CF0783-4663-ECE6-6EC5-8D8ED713D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41778"/>
            <a:ext cx="7772400" cy="57444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1818BD8-B5A3-7659-8A3C-C0D16D5F3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422" y="5138406"/>
            <a:ext cx="7772400" cy="75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0512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24F129D-87A5-224E-BDEE-75057368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 plugin </a:t>
            </a:r>
            <a:r>
              <a:rPr kumimoji="1" lang="zh-CN" altLang="en-US" dirty="0"/>
              <a:t>支援程度</a:t>
            </a:r>
            <a:r>
              <a:rPr kumimoji="1" lang="en-US" altLang="zh-TW" dirty="0"/>
              <a:t> 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DA216ED-B408-084D-9ED6-A1FA5D894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571" y="1825625"/>
            <a:ext cx="8624857" cy="4351338"/>
          </a:xfrm>
        </p:spPr>
      </p:pic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7C7B0B0E-872A-8A4A-8B3F-7BE4247B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C63D40CC-CE62-6E4C-9A1E-92DA8422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813626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C32B27-89A6-A94B-9664-C5F962EC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 :</a:t>
            </a:r>
            <a:r>
              <a:rPr kumimoji="1" lang="zh-TW" altLang="en-US" dirty="0"/>
              <a:t>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界接</a:t>
            </a:r>
            <a:r>
              <a:rPr kumimoji="1" lang="en-US" altLang="zh-CN" dirty="0"/>
              <a:t>volume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A4BB83-1234-6C45-82EA-FB0310ED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k8s/pods/</a:t>
            </a:r>
            <a:r>
              <a:rPr kumimoji="1" lang="en-US" altLang="zh-TW" dirty="0" err="1"/>
              <a:t>nginx-gcpvolume.yaml</a:t>
            </a:r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8" name="日期預留位置 7">
            <a:extLst>
              <a:ext uri="{FF2B5EF4-FFF2-40B4-BE49-F238E27FC236}">
                <a16:creationId xmlns:a16="http://schemas.microsoft.com/office/drawing/2014/main" id="{2E2042AB-475D-F24F-8BE4-472523296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D999625C-48AF-3441-B318-1DE38D6C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2C70CAE-3764-964F-9A5D-A61124E3D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228" y="1447801"/>
            <a:ext cx="4588771" cy="543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2392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6CC6DD-7F04-499C-1F06-4576047F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 :</a:t>
            </a:r>
            <a:r>
              <a:rPr kumimoji="1" lang="zh-TW" altLang="en-US" dirty="0"/>
              <a:t>部署</a:t>
            </a:r>
            <a:r>
              <a:rPr kumimoji="1" lang="en-US" altLang="zh-TW" dirty="0"/>
              <a:t>pod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08CFEA-3C0C-7F65-E56B-98213864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kubectl</a:t>
            </a:r>
            <a:r>
              <a:rPr kumimoji="1" lang="en" altLang="zh-TW" dirty="0"/>
              <a:t> apply -f pods/nginx-</a:t>
            </a:r>
            <a:r>
              <a:rPr kumimoji="1" lang="en" altLang="zh-TW" dirty="0" err="1"/>
              <a:t>gcpvolume.yaml</a:t>
            </a:r>
            <a:endParaRPr kumimoji="1" lang="en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CD7482-3E16-EB35-C3AB-842B17CA2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AA3ED0-0A79-DB40-6725-118135816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180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D144AE7-38FA-41CD-4EA0-CD73E30C0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09" y="2961772"/>
            <a:ext cx="11090282" cy="5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858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7958D0-1839-594E-91B6-8D96AA57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Volume: </a:t>
            </a:r>
            <a:r>
              <a:rPr kumimoji="1" lang="zh-CN" altLang="en-US" dirty="0"/>
              <a:t>檢查</a:t>
            </a:r>
            <a:r>
              <a:rPr kumimoji="1" lang="en-US" altLang="zh-CN" dirty="0"/>
              <a:t>pod</a:t>
            </a:r>
            <a:r>
              <a:rPr kumimoji="1" lang="zh-CN" altLang="en-US" dirty="0"/>
              <a:t>內掛載狀態。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B809E7-BD5A-D44D-BE19-78832993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exec -it 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-pod-</a:t>
            </a:r>
            <a:r>
              <a:rPr kumimoji="1" lang="en-US" altLang="zh-TW" dirty="0" err="1"/>
              <a:t>gcp</a:t>
            </a:r>
            <a:r>
              <a:rPr kumimoji="1" lang="en-US" altLang="zh-TW" dirty="0"/>
              <a:t>-volume -- /bin/bash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0AFDA4A-C2EB-2845-A09B-C813358B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35355445-CA42-F240-854C-D3831556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181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D0A13EC-E40E-5B58-7EBC-303F13EC8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285" y="3048846"/>
            <a:ext cx="7772400" cy="250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4501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5A33D-47FB-5547-9322-03A6EBF9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Volume: </a:t>
            </a:r>
            <a:r>
              <a:rPr kumimoji="1" lang="zh-CN" altLang="en-US" dirty="0"/>
              <a:t>寫入檔案，刪除再重建</a:t>
            </a:r>
            <a:r>
              <a:rPr kumimoji="1" lang="en-US" altLang="zh-CN" dirty="0"/>
              <a:t>pod</a:t>
            </a:r>
            <a:r>
              <a:rPr kumimoji="1" lang="zh-CN" altLang="en-US" dirty="0"/>
              <a:t>，寫入檔案還是存在</a:t>
            </a:r>
            <a:r>
              <a:rPr kumimoji="1" lang="en-US" altLang="zh-CN" dirty="0"/>
              <a:t>-1</a:t>
            </a:r>
            <a:endParaRPr kumimoji="1" lang="zh-TW" altLang="en-US" dirty="0"/>
          </a:p>
        </p:txBody>
      </p:sp>
      <p:pic>
        <p:nvPicPr>
          <p:cNvPr id="8" name="內容版面配置區 9">
            <a:extLst>
              <a:ext uri="{FF2B5EF4-FFF2-40B4-BE49-F238E27FC236}">
                <a16:creationId xmlns:a16="http://schemas.microsoft.com/office/drawing/2014/main" id="{BDE770C0-DDDC-EA44-8CD6-900ADBE12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4846" y="3655126"/>
            <a:ext cx="6487091" cy="768443"/>
          </a:xfrm>
        </p:spPr>
      </p:pic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5741DEDD-2543-A745-994C-0EDD848D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ED534C6-FE5F-F646-A1FD-CEA22935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377697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FB81EF1-6584-AC45-A6E6-EC0E84D56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Volume: </a:t>
            </a:r>
            <a:r>
              <a:rPr kumimoji="1" lang="zh-CN" altLang="en-US" dirty="0"/>
              <a:t>寫入檔案，刪除再重建</a:t>
            </a:r>
            <a:r>
              <a:rPr kumimoji="1" lang="en-US" altLang="zh-CN" dirty="0"/>
              <a:t>pod</a:t>
            </a:r>
            <a:r>
              <a:rPr kumimoji="1" lang="zh-CN" altLang="en-US" dirty="0"/>
              <a:t>，寫入檔案還是存在</a:t>
            </a:r>
            <a:r>
              <a:rPr kumimoji="1" lang="en-US" altLang="zh-CN" dirty="0"/>
              <a:t>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408BF20D-954C-1B45-893D-3F1BDBF90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delete pods </a:t>
            </a:r>
            <a:r>
              <a:rPr lang="en-US" altLang="zh-TW" dirty="0"/>
              <a:t>nginx-pod-</a:t>
            </a:r>
            <a:r>
              <a:rPr lang="en-US" altLang="zh-TW" dirty="0" err="1"/>
              <a:t>gcp</a:t>
            </a:r>
            <a:r>
              <a:rPr lang="en-US" altLang="zh-TW" dirty="0"/>
              <a:t>-volume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165CC813-A183-1240-871E-F0A1BEAC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DA844EBB-F30B-3048-9B52-4404CC4E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183</a:t>
            </a:fld>
            <a:endParaRPr kumimoji="1"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BFCCB43-54B9-D14C-83E0-91A6DCD9E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64" y="3245679"/>
            <a:ext cx="6790646" cy="230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4732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1CC2513-98B4-C646-911E-6E7E71CC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Volume: </a:t>
            </a:r>
            <a:r>
              <a:rPr kumimoji="1" lang="zh-CN" altLang="en-US" dirty="0"/>
              <a:t>寫入檔案，刪除再重建</a:t>
            </a:r>
            <a:r>
              <a:rPr kumimoji="1" lang="en-US" altLang="zh-CN" dirty="0"/>
              <a:t>pod</a:t>
            </a:r>
            <a:r>
              <a:rPr kumimoji="1" lang="zh-CN" altLang="en-US" dirty="0"/>
              <a:t>，寫入檔案還是存在</a:t>
            </a:r>
            <a:r>
              <a:rPr kumimoji="1" lang="en-US" altLang="zh-CN" dirty="0"/>
              <a:t>-3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714A350-3D14-D642-A4D7-C2691CB55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Kubetctl</a:t>
            </a:r>
            <a:r>
              <a:rPr lang="en-US" altLang="zh-TW" dirty="0"/>
              <a:t> apply -f </a:t>
            </a:r>
            <a:r>
              <a:rPr lang="en-US" altLang="zh-TW" dirty="0" err="1"/>
              <a:t>nginx-gcpvolume.yaml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918CFF26-8002-C148-866B-68F438F6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EA87D7AB-BFBB-934A-825C-E6A4B469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184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F068596-65E3-D947-9F30-73AD397BD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15" y="3041694"/>
            <a:ext cx="9389333" cy="280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0194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100A3D-C150-544D-9F0F-32208BE5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auto scaling - </a:t>
            </a:r>
            <a:r>
              <a:rPr kumimoji="1" lang="zh-CN" altLang="en-US" dirty="0"/>
              <a:t>部署受壓測端</a:t>
            </a:r>
            <a:r>
              <a:rPr kumimoji="1" lang="en-US" altLang="zh-CN" dirty="0"/>
              <a:t>deploy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6106EA-19A1-1C4F-AAC1-450EF098B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部署受壓測</a:t>
            </a:r>
            <a:r>
              <a:rPr kumimoji="1" lang="en-US" altLang="zh-TW" dirty="0"/>
              <a:t>deployment php-</a:t>
            </a:r>
            <a:r>
              <a:rPr kumimoji="1" lang="en-US" altLang="zh-TW" dirty="0" err="1"/>
              <a:t>apahce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k8s/deployment/autoscaling/</a:t>
            </a:r>
            <a:r>
              <a:rPr kumimoji="1" lang="en-US" altLang="zh-TW" dirty="0" err="1"/>
              <a:t>php-apache-deploy.yaml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5397CF-052A-5C44-94AF-131AAB125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7264ED-36DD-7F43-8504-F8A3E4E09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185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9DD5246-2DD5-F4C0-8C13-565184751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9" y="3087151"/>
            <a:ext cx="10836187" cy="5601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8818B4A-8849-255D-5DA9-CBAAE867F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69005"/>
            <a:ext cx="9375375" cy="103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5075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317A9-AB98-A042-BEF7-F16652A2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auto scaling -</a:t>
            </a:r>
            <a:r>
              <a:rPr kumimoji="1" lang="zh-CN" altLang="en-US" dirty="0"/>
              <a:t>部署受壓測端</a:t>
            </a:r>
            <a:r>
              <a:rPr kumimoji="1" lang="en-US" altLang="zh-CN" dirty="0"/>
              <a:t>service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6FF9E6-A049-1241-9EC2-56900FCD3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部署受壓測</a:t>
            </a:r>
            <a:r>
              <a:rPr lang="en-US" altLang="zh-TW" dirty="0"/>
              <a:t>service php-apache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k8s/deployment/autoscaling/</a:t>
            </a:r>
            <a:r>
              <a:rPr kumimoji="1" lang="en-US" altLang="zh-TW" dirty="0" err="1"/>
              <a:t>php-apache-service.yaml</a:t>
            </a:r>
            <a:endParaRPr kumimoji="1" lang="en-US" altLang="zh-TW" dirty="0"/>
          </a:p>
          <a:p>
            <a:pPr marL="457200" lvl="1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86991C1-F487-A54A-BAF6-46CA52A4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E53659-1942-B941-9D54-E026C97E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186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E54C828-9BC8-C8BA-E7A7-B05365A3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8" y="2847503"/>
            <a:ext cx="12045689" cy="86537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8A2B834-B0B4-511D-D361-912D0B4D3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236" y="4543280"/>
            <a:ext cx="7772400" cy="118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3535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41A808-1E7A-FA40-805B-E87BD085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auto scaling -</a:t>
            </a:r>
            <a:r>
              <a:rPr kumimoji="1" lang="zh-CN" altLang="en-US" dirty="0"/>
              <a:t>部署壓測別人</a:t>
            </a:r>
            <a:r>
              <a:rPr kumimoji="1" lang="en-US" altLang="zh-CN" dirty="0"/>
              <a:t>pod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410DE-6C82-7847-A9F7-FA8C8F721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部署一個壓測別人的</a:t>
            </a:r>
            <a:r>
              <a:rPr lang="en-US" altLang="zh-TW" dirty="0"/>
              <a:t>pod </a:t>
            </a:r>
            <a:r>
              <a:rPr lang="en-US" altLang="zh-TW" dirty="0" err="1"/>
              <a:t>busybox</a:t>
            </a:r>
            <a:endParaRPr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k8s/deployment/autoscaling/</a:t>
            </a:r>
            <a:r>
              <a:rPr kumimoji="1" lang="en-US" altLang="zh-TW" dirty="0" err="1"/>
              <a:t>busybox.yaml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570FEC-6191-E241-8F4F-6C679563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79640D2-FDC6-284B-97E0-7A64D619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187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B604769-F416-8E33-E575-BFF16B106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688" y="3429000"/>
            <a:ext cx="7772400" cy="150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23111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2D8B0A-A699-D646-B3C5-ACBABD97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autoscaling - </a:t>
            </a:r>
            <a:r>
              <a:rPr kumimoji="1" lang="zh-CN" altLang="en-US" dirty="0"/>
              <a:t>設定</a:t>
            </a:r>
            <a:r>
              <a:rPr kumimoji="1" lang="en-US" altLang="zh-CN" dirty="0" err="1"/>
              <a:t>AutoScale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90A014-230F-8E42-A8A3-4A62612BA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kubectl</a:t>
            </a:r>
            <a:r>
              <a:rPr lang="en-US" altLang="zh-TW" dirty="0"/>
              <a:t> </a:t>
            </a:r>
            <a:r>
              <a:rPr lang="en-US" altLang="zh-TW" dirty="0" err="1"/>
              <a:t>autoscale</a:t>
            </a:r>
            <a:r>
              <a:rPr lang="en-US" altLang="zh-TW" dirty="0"/>
              <a:t> deployment </a:t>
            </a:r>
            <a:r>
              <a:rPr lang="en-US" altLang="zh-TW" dirty="0" err="1"/>
              <a:t>php-apache</a:t>
            </a:r>
            <a:r>
              <a:rPr lang="en-US" altLang="zh-TW" dirty="0"/>
              <a:t> --</a:t>
            </a:r>
            <a:r>
              <a:rPr lang="en-US" altLang="zh-TW" dirty="0" err="1"/>
              <a:t>cpu</a:t>
            </a:r>
            <a:r>
              <a:rPr lang="en-US" altLang="zh-TW" dirty="0"/>
              <a:t>-percent=50 --min=1 --max=10</a:t>
            </a:r>
          </a:p>
          <a:p>
            <a:pPr lvl="1"/>
            <a:endParaRPr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hpa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A63BBE19-88B2-C14D-A463-A7EA0889C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E7AF94D0-5CFA-7648-A0BF-1A4B0638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FD205EC-0FBD-9C92-002D-3A18756C2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73" y="2862884"/>
            <a:ext cx="10306053" cy="46594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178AFA5-CEAE-2607-6B3B-B633A408B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287" y="4587091"/>
            <a:ext cx="10338254" cy="88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5670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B50C75-B48C-4640-BBB9-ADC3EEA5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autoscaling -</a:t>
            </a:r>
            <a:r>
              <a:rPr kumimoji="1" lang="zh-TW" altLang="en-US" dirty="0"/>
              <a:t> 進行壓測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2641FC-CB62-2A4E-8885-1AF57C926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進入</a:t>
            </a:r>
            <a:r>
              <a:rPr lang="en-US" altLang="zh-TW" dirty="0" err="1"/>
              <a:t>busybox</a:t>
            </a:r>
            <a:r>
              <a:rPr lang="en-US" altLang="zh-TW" dirty="0"/>
              <a:t> pod </a:t>
            </a:r>
            <a:r>
              <a:rPr lang="zh-TW" altLang="en-US" dirty="0"/>
              <a:t>中，對</a:t>
            </a:r>
            <a:r>
              <a:rPr lang="en-US" altLang="zh-TW" dirty="0"/>
              <a:t>php-</a:t>
            </a:r>
            <a:r>
              <a:rPr lang="en-US" altLang="zh-TW" dirty="0" err="1"/>
              <a:t>apahce</a:t>
            </a:r>
            <a:r>
              <a:rPr lang="zh-TW" altLang="en-US" dirty="0"/>
              <a:t>進行壓測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exec -it </a:t>
            </a:r>
            <a:r>
              <a:rPr lang="en-US" altLang="zh-TW" dirty="0" err="1"/>
              <a:t>busybox</a:t>
            </a:r>
            <a:r>
              <a:rPr lang="en-US" altLang="zh-TW" dirty="0"/>
              <a:t> -- /bin/</a:t>
            </a:r>
            <a:r>
              <a:rPr lang="en-US" altLang="zh-TW" dirty="0" err="1"/>
              <a:t>sh</a:t>
            </a:r>
            <a:endParaRPr lang="en-US" altLang="zh-TW" dirty="0"/>
          </a:p>
          <a:p>
            <a:pPr marL="457200" lvl="1" indent="0">
              <a:buNone/>
            </a:pPr>
            <a:endParaRPr kumimoji="1" lang="en-US" altLang="zh-TW" dirty="0"/>
          </a:p>
          <a:p>
            <a:endParaRPr lang="en-US" altLang="zh-TW" dirty="0"/>
          </a:p>
          <a:p>
            <a:r>
              <a:rPr lang="zh-TW" altLang="en-US" dirty="0"/>
              <a:t>對</a:t>
            </a:r>
            <a:r>
              <a:rPr lang="en-US" altLang="zh-TW" dirty="0"/>
              <a:t>php-apache Service</a:t>
            </a:r>
            <a:r>
              <a:rPr lang="zh-TW" altLang="en-US" dirty="0"/>
              <a:t>的 </a:t>
            </a:r>
            <a:r>
              <a:rPr lang="en-US" altLang="zh-TW" dirty="0"/>
              <a:t>web</a:t>
            </a:r>
            <a:r>
              <a:rPr lang="zh-TW" altLang="en-US" dirty="0"/>
              <a:t>進行壓測</a:t>
            </a:r>
            <a:endParaRPr lang="en-US" altLang="zh-TW" dirty="0"/>
          </a:p>
          <a:p>
            <a:pPr lvl="1"/>
            <a:r>
              <a:rPr lang="en-US" altLang="zh-TW" dirty="0"/>
              <a:t>while true; do </a:t>
            </a:r>
            <a:r>
              <a:rPr lang="en-US" altLang="zh-TW" dirty="0" err="1"/>
              <a:t>wget</a:t>
            </a:r>
            <a:r>
              <a:rPr lang="en-US" altLang="zh-TW" dirty="0"/>
              <a:t> -q -O- http://php-apache; done</a:t>
            </a:r>
          </a:p>
          <a:p>
            <a:pPr lvl="1"/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6FA5FD2-2338-144F-AA6E-1176C914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6A7BA72A-5780-9F48-B07E-8F805D9C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189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7AE69C3-0F11-EC45-24EA-E02928BC8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559" y="2760933"/>
            <a:ext cx="7772400" cy="66806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862DF79-0550-118F-C228-50F5B1336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20" y="4945959"/>
            <a:ext cx="10911068" cy="81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1337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32E826-8AA2-A74C-8D29-B0177784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autoscaling -</a:t>
            </a:r>
            <a:r>
              <a:rPr kumimoji="1" lang="zh-TW" altLang="en-US" dirty="0"/>
              <a:t> 監控</a:t>
            </a:r>
            <a:r>
              <a:rPr kumimoji="1" lang="en-US" altLang="zh-TW" dirty="0" err="1"/>
              <a:t>hpa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9B133F-8DE4-174D-A29D-80B54BAFF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開另一個</a:t>
            </a:r>
            <a:r>
              <a:rPr lang="en-US" altLang="zh-TW" dirty="0"/>
              <a:t>terminal</a:t>
            </a:r>
            <a:r>
              <a:rPr lang="zh-TW" altLang="en-US" dirty="0"/>
              <a:t>，監控</a:t>
            </a:r>
            <a:r>
              <a:rPr lang="en-US" altLang="zh-TW" dirty="0" err="1"/>
              <a:t>hpa</a:t>
            </a:r>
            <a:endParaRPr lang="en-US" altLang="zh-TW" dirty="0"/>
          </a:p>
          <a:p>
            <a:pPr lvl="1"/>
            <a:r>
              <a:rPr lang="en-US" altLang="zh-TW" dirty="0"/>
              <a:t>watch </a:t>
            </a:r>
            <a:r>
              <a:rPr lang="en-US" altLang="zh-TW" dirty="0" err="1"/>
              <a:t>kubectl</a:t>
            </a:r>
            <a:r>
              <a:rPr lang="en-US" altLang="zh-TW" dirty="0"/>
              <a:t> get </a:t>
            </a:r>
            <a:r>
              <a:rPr lang="en-US" altLang="zh-TW" dirty="0" err="1"/>
              <a:t>hpa</a:t>
            </a:r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25FD23-D09A-CC4B-A48F-49E3DD23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5655DCD-C81F-3B4E-A31F-F603D3F4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190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B36C045-F184-1A1F-7419-01F2B82B8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63144"/>
            <a:ext cx="11007229" cy="103624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17FF1DB-F88F-45A8-DAC1-AF5EBCAF8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846707"/>
            <a:ext cx="10565197" cy="103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5419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40D63F-D481-794A-8B97-7937950A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autoscaling -</a:t>
            </a:r>
            <a:r>
              <a:rPr kumimoji="1" lang="zh-TW" altLang="en-US" dirty="0"/>
              <a:t> 監控</a:t>
            </a:r>
            <a:r>
              <a:rPr kumimoji="1" lang="en-US" altLang="zh-TW" dirty="0"/>
              <a:t>pod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38A869-BB36-4842-AB0A-97A3464C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2431CE-89D1-4242-B5A7-52679A26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191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0388E605-79B1-7E47-0B7F-5CE942EF3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6117" y="1825625"/>
            <a:ext cx="87797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775046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7F2BFF-45F7-AC4B-AA10-2F3120B9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autoscaling - </a:t>
            </a:r>
            <a:r>
              <a:rPr kumimoji="1" lang="zh-CN" altLang="en-US" dirty="0"/>
              <a:t>停止壓測後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82249E-DC63-9744-9997-8C11535DE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30AB6D-7B5A-C748-BD26-80956704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192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81B733A5-E579-0440-ABD4-8D9873B8C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0260" y="1825625"/>
            <a:ext cx="73314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6380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604B9D75-A40A-D7D7-2A66-0D9F221C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</a:t>
            </a:r>
            <a:r>
              <a:rPr kumimoji="1" lang="zh-TW" altLang="en-US" dirty="0"/>
              <a:t> 使用</a:t>
            </a:r>
            <a:r>
              <a:rPr kumimoji="1" lang="en-US" altLang="zh-TW" dirty="0"/>
              <a:t>Putty</a:t>
            </a:r>
            <a:r>
              <a:rPr kumimoji="1" lang="zh-TW" altLang="en-US" dirty="0"/>
              <a:t>與</a:t>
            </a:r>
            <a:r>
              <a:rPr kumimoji="1" lang="en-US" altLang="zh-TW" dirty="0" err="1"/>
              <a:t>ssh</a:t>
            </a:r>
            <a:r>
              <a:rPr kumimoji="1" lang="en-US" altLang="zh-TW" dirty="0"/>
              <a:t> key </a:t>
            </a:r>
            <a:r>
              <a:rPr kumimoji="1" lang="zh-TW" altLang="en-US" dirty="0"/>
              <a:t>連線至</a:t>
            </a:r>
            <a:r>
              <a:rPr kumimoji="1" lang="en-US" altLang="zh-TW" dirty="0" err="1"/>
              <a:t>linux</a:t>
            </a:r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D5B6FC87-9F3C-E8ED-5800-570C3351E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9D913D-7814-79A5-1058-77369F2D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CA87B6D-1FFC-4E41-E7BC-94E420B3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8159694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672457E4-8DDC-EF42-87B6-74003E332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3103" y="1747684"/>
            <a:ext cx="4365794" cy="435133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3F25F83-0F9E-A24D-ADED-DD851AE1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A: window login to cloud VM by putty - </a:t>
            </a:r>
            <a:r>
              <a:rPr kumimoji="1" lang="zh-CN" altLang="en-US" dirty="0"/>
              <a:t>下載</a:t>
            </a:r>
            <a:r>
              <a:rPr kumimoji="1" lang="en-US" altLang="zh-CN" dirty="0"/>
              <a:t>Putty</a:t>
            </a:r>
            <a:r>
              <a:rPr kumimoji="1" lang="zh-Hant" altLang="en-US" dirty="0"/>
              <a:t> ，填入</a:t>
            </a:r>
            <a:r>
              <a:rPr kumimoji="1" lang="en-US" altLang="zh-Hant" dirty="0" err="1"/>
              <a:t>id@ip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38C6DEA-19A6-9344-8A08-281FD4E6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6E1B9F03-5220-EE42-905B-1F8CE0D0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194</a:t>
            </a:fld>
            <a:endParaRPr kumimoji="1" lang="zh-TW" altLang="en-US"/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FF2A8754-BBE0-A446-82D0-BC9B16A8B542}"/>
              </a:ext>
            </a:extLst>
          </p:cNvPr>
          <p:cNvSpPr/>
          <p:nvPr/>
        </p:nvSpPr>
        <p:spPr>
          <a:xfrm>
            <a:off x="3368130" y="2298251"/>
            <a:ext cx="631179" cy="1132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61AAD8-0B71-7F49-8B8C-5D2C4D0E191E}"/>
              </a:ext>
            </a:extLst>
          </p:cNvPr>
          <p:cNvSpPr/>
          <p:nvPr/>
        </p:nvSpPr>
        <p:spPr>
          <a:xfrm>
            <a:off x="4871883" y="2867525"/>
            <a:ext cx="631179" cy="1132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6556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29F1D-323B-8A4B-A5CB-30DF7601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A: window login to cloud VM by putty - </a:t>
            </a:r>
            <a:r>
              <a:rPr kumimoji="1" lang="zh-CN" altLang="en-US" dirty="0"/>
              <a:t>左邊</a:t>
            </a:r>
            <a:r>
              <a:rPr kumimoji="1" lang="en-US" altLang="zh-CN" dirty="0" err="1"/>
              <a:t>Connectopn</a:t>
            </a:r>
            <a:r>
              <a:rPr kumimoji="1" lang="en-US" altLang="zh-CN" dirty="0"/>
              <a:t>/SSH/</a:t>
            </a:r>
            <a:r>
              <a:rPr kumimoji="1" lang="en-US" altLang="zh-CN" dirty="0" err="1"/>
              <a:t>Auth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2ECFF6A8-7CF9-1E4F-8841-063947EB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718BB21-09C5-E54B-942F-535063E9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195</a:t>
            </a:fld>
            <a:endParaRPr kumimoji="1" lang="zh-TW" altLang="en-US"/>
          </a:p>
        </p:txBody>
      </p:sp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D8C874B1-5CBC-7E60-3B03-5313646F7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3008" y="1690688"/>
            <a:ext cx="5145983" cy="5032133"/>
          </a:xfrm>
        </p:spPr>
      </p:pic>
    </p:spTree>
    <p:extLst>
      <p:ext uri="{BB962C8B-B14F-4D97-AF65-F5344CB8AC3E}">
        <p14:creationId xmlns:p14="http://schemas.microsoft.com/office/powerpoint/2010/main" val="238735702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AEAEF0-80D9-3B43-9B97-A389961C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A: window login to cloud VM by putty - </a:t>
            </a:r>
            <a:r>
              <a:rPr kumimoji="1" lang="zh-CN" altLang="en-US" dirty="0"/>
              <a:t>選擇</a:t>
            </a:r>
            <a:r>
              <a:rPr kumimoji="1" lang="en-US" altLang="zh-CN" dirty="0"/>
              <a:t>k8s.ppk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806627E-8695-134F-A496-6CC9A7ABC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537" y="1825625"/>
            <a:ext cx="5760926" cy="4351338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56C960B-EA13-DB4E-86E0-27C10647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44EB874-52F8-B742-AB9B-0B156478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103995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924A-EF90-7D42-9DF2-1FBD496FF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A: window login to cloud VM by putty - </a:t>
            </a:r>
            <a:r>
              <a:rPr kumimoji="1" lang="zh-CN" altLang="en-US" dirty="0"/>
              <a:t>選擇</a:t>
            </a:r>
            <a:r>
              <a:rPr kumimoji="1" lang="en-US" altLang="zh-CN" dirty="0"/>
              <a:t>Private key file </a:t>
            </a:r>
            <a:r>
              <a:rPr kumimoji="1" lang="en-US" altLang="zh-CN" dirty="0" err="1"/>
              <a:t>auth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2392EE3D-60AB-6B42-A331-F933A755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FE5FB83-F40D-3542-B108-B9B252E7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197</a:t>
            </a:fld>
            <a:endParaRPr kumimoji="1" lang="zh-TW" altLang="en-US"/>
          </a:p>
        </p:txBody>
      </p:sp>
      <p:pic>
        <p:nvPicPr>
          <p:cNvPr id="19" name="內容版面配置區 18">
            <a:extLst>
              <a:ext uri="{FF2B5EF4-FFF2-40B4-BE49-F238E27FC236}">
                <a16:creationId xmlns:a16="http://schemas.microsoft.com/office/drawing/2014/main" id="{E9A4FF1A-8D09-806F-087B-44B02C7F0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0508" y="1743124"/>
            <a:ext cx="5090984" cy="4978351"/>
          </a:xfrm>
        </p:spPr>
      </p:pic>
    </p:spTree>
    <p:extLst>
      <p:ext uri="{BB962C8B-B14F-4D97-AF65-F5344CB8AC3E}">
        <p14:creationId xmlns:p14="http://schemas.microsoft.com/office/powerpoint/2010/main" val="2202922430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6A7E24-594C-C441-8D2B-E4393B51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A: window login to cloud VM by putty - </a:t>
            </a:r>
            <a:r>
              <a:rPr kumimoji="1" lang="zh-CN" altLang="en-US" dirty="0"/>
              <a:t>即可登入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43DD53B-C99A-9544-9FB8-A93ACB2DF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2750" y="2172494"/>
            <a:ext cx="6286500" cy="3657600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7126EAB2-981B-BA4E-9969-13A34D1B7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5379B44-2BED-F446-9EED-90BC3A49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222630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9B0BEC22-EE98-4773-13C2-D597B1CB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</a:t>
            </a:r>
            <a:r>
              <a:rPr lang="en-US" altLang="zh-TW" dirty="0"/>
              <a:t>B: </a:t>
            </a:r>
            <a:r>
              <a:rPr kumimoji="1" lang="en-US" altLang="zh-TW" dirty="0" err="1"/>
              <a:t>DaemonSet</a:t>
            </a:r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5F67D3A4-4823-E6CE-22E4-EBF784237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461525-9ACE-9700-01CB-09DEA74D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969AD2-3528-D7BF-7C76-2B45371F7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3606229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48E9C4-E253-6943-B62D-847C7254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DaemonSet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9E1799-95AB-054A-A6C3-D01A3193F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預設部署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到</a:t>
            </a:r>
            <a:r>
              <a:rPr kumimoji="1" lang="zh-TW" altLang="en-US" dirty="0"/>
              <a:t>每個</a:t>
            </a:r>
            <a:r>
              <a:rPr kumimoji="1" lang="zh-CN" altLang="en-US" dirty="0"/>
              <a:t>節點上</a:t>
            </a:r>
            <a:endParaRPr kumimoji="1" lang="en-US" altLang="zh-TW" dirty="0"/>
          </a:p>
          <a:p>
            <a:r>
              <a:rPr kumimoji="1" lang="zh-CN" altLang="en-US" dirty="0"/>
              <a:t>節點新增、刪除，</a:t>
            </a:r>
            <a:r>
              <a:rPr kumimoji="1" lang="en-US" altLang="zh-CN" dirty="0" err="1"/>
              <a:t>DeamonSet</a:t>
            </a:r>
            <a:r>
              <a:rPr kumimoji="1" lang="en-US" altLang="zh-CN" dirty="0"/>
              <a:t> </a:t>
            </a:r>
            <a:r>
              <a:rPr kumimoji="1" lang="zh-CN" altLang="en-US" dirty="0"/>
              <a:t>也會自動新增及移除</a:t>
            </a:r>
            <a:endParaRPr kumimoji="1" lang="en-US" altLang="zh-CN" dirty="0"/>
          </a:p>
          <a:p>
            <a:r>
              <a:rPr kumimoji="1" lang="zh-CN" altLang="en-US" dirty="0"/>
              <a:t>主要用於</a:t>
            </a:r>
            <a:r>
              <a:rPr kumimoji="1" lang="en-US" altLang="zh-CN" dirty="0"/>
              <a:t>log</a:t>
            </a:r>
            <a:r>
              <a:rPr kumimoji="1" lang="zh-CN" altLang="en-US" dirty="0"/>
              <a:t>收集、監控。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0F7EEE-A957-FC40-9FD9-7026C8A3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F9582E9-D4F5-C14C-A360-582A31BA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838466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D3447D-D362-5D48-9C0C-09C3F046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DaemonSet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0C5028-ED85-EC44-8309-A69A73AD1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部署</a:t>
            </a:r>
            <a:r>
              <a:rPr kumimoji="1" lang="en-US" altLang="zh-CN" dirty="0" err="1"/>
              <a:t>DaemonSet</a:t>
            </a:r>
            <a:endParaRPr kumimoji="1" lang="en-US" altLang="zh-CN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CN" altLang="en-US" dirty="0"/>
              <a:t>部署確認</a:t>
            </a:r>
            <a:endParaRPr kumimoji="1" lang="en-US" altLang="zh-CN" dirty="0"/>
          </a:p>
          <a:p>
            <a:pPr lvl="1"/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CF03A-DC5D-2648-917C-D31CA9AB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0544E8-068F-BD4B-8F31-A490E1E3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201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13805D-E214-FE45-B855-F4BB1F992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35300"/>
            <a:ext cx="10515600" cy="7874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7758A73-4E2C-1B42-AF03-6839276F4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29430"/>
            <a:ext cx="12192000" cy="156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3039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BF60E-D9D7-7A4C-94BF-5D31B344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利用</a:t>
            </a:r>
            <a:r>
              <a:rPr kumimoji="1" lang="en-US" altLang="zh-CN" dirty="0" err="1"/>
              <a:t>DaemonSet</a:t>
            </a:r>
            <a:r>
              <a:rPr kumimoji="1" lang="en-US" altLang="zh-CN" dirty="0"/>
              <a:t> pod </a:t>
            </a:r>
            <a:r>
              <a:rPr kumimoji="1" lang="zh-CN" altLang="en-US" dirty="0"/>
              <a:t>取得節點上</a:t>
            </a:r>
            <a:r>
              <a:rPr kumimoji="1" lang="en-US" altLang="zh-CN" dirty="0"/>
              <a:t>docker log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585873-350B-0E4B-ACD0-098D61AD2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D90B5B-175A-584E-87DE-5E24ECCCE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A32E44A-0888-1941-9C6C-8CDED7CE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202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E8191C3-B66E-FA4C-8748-083F3BB02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2091969"/>
            <a:ext cx="65532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1567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1EED90-C256-B845-BB57-B1EB2E29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 </a:t>
            </a:r>
            <a:r>
              <a:rPr kumimoji="1" lang="en-US" altLang="zh-TW" dirty="0"/>
              <a:t>docker</a:t>
            </a:r>
            <a:r>
              <a:rPr kumimoji="1" lang="zh-TW" altLang="en-US" dirty="0"/>
              <a:t> 資訊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32AE24-504A-0946-A08B-27D1E553D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 -o wide --all-namespaces | grep </a:t>
            </a:r>
            <a:r>
              <a:rPr kumimoji="1" lang="en-US" altLang="zh-TW" dirty="0" err="1"/>
              <a:t>fluentd-elasticsearc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sz="2800" dirty="0" err="1"/>
              <a:t>kubectl</a:t>
            </a:r>
            <a:r>
              <a:rPr kumimoji="1" lang="en-US" altLang="zh-TW" sz="2800" dirty="0"/>
              <a:t> exec -it fluentd-elasticsearch-97fdd -n </a:t>
            </a:r>
            <a:r>
              <a:rPr kumimoji="1" lang="en-US" altLang="zh-TW" sz="2800" dirty="0" err="1"/>
              <a:t>kube</a:t>
            </a:r>
            <a:r>
              <a:rPr kumimoji="1" lang="en-US" altLang="zh-TW" sz="2800" dirty="0"/>
              <a:t>-system -- ls /var/lib/docker/containers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5B8C0C-5D8A-1D41-90C5-013B2136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7B2A8B-A772-3547-970B-3BEB05AAC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203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3E1A8FD-65BA-5E43-9697-114750869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0428"/>
            <a:ext cx="12192000" cy="3560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565F606-6EFB-4342-A1B0-3FDE75573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4548"/>
            <a:ext cx="12192000" cy="18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48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9201</TotalTime>
  <Words>5345</Words>
  <Application>Microsoft Macintosh PowerPoint</Application>
  <PresentationFormat>寬螢幕</PresentationFormat>
  <Paragraphs>1271</Paragraphs>
  <Slides>203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203</vt:i4>
      </vt:variant>
    </vt:vector>
  </HeadingPairs>
  <TitlesOfParts>
    <vt:vector size="207" baseType="lpstr">
      <vt:lpstr>Noto Sans JP</vt:lpstr>
      <vt:lpstr>Arial</vt:lpstr>
      <vt:lpstr>Times New Roman</vt:lpstr>
      <vt:lpstr>Office 佈景主題</vt:lpstr>
      <vt:lpstr>Kubernetes (K8s) 容器化平台建置與運作管理實務班</vt:lpstr>
      <vt:lpstr>Outlook</vt:lpstr>
      <vt:lpstr>課程資源</vt:lpstr>
      <vt:lpstr>ssh 登入</vt:lpstr>
      <vt:lpstr>Container 與Docker</vt:lpstr>
      <vt:lpstr>Container </vt:lpstr>
      <vt:lpstr>Container vs. Virtual Machine -1</vt:lpstr>
      <vt:lpstr>Docker </vt:lpstr>
      <vt:lpstr>Container vs. Virtual Machine -2</vt:lpstr>
      <vt:lpstr>Docker 與Kubernetes</vt:lpstr>
      <vt:lpstr>Container 製作流程</vt:lpstr>
      <vt:lpstr>Docker 元件 -1</vt:lpstr>
      <vt:lpstr>Docker image堆疊</vt:lpstr>
      <vt:lpstr>Docker 元件 -2</vt:lpstr>
      <vt:lpstr>Install docker in the VM1 - graph</vt:lpstr>
      <vt:lpstr>Install docker in the VM1 - command</vt:lpstr>
      <vt:lpstr>Dockerfile Keyword -1</vt:lpstr>
      <vt:lpstr>Dockerfile Keyword -2</vt:lpstr>
      <vt:lpstr>Dockerfile Keyword -3</vt:lpstr>
      <vt:lpstr>Dockerfile Keyword -4</vt:lpstr>
      <vt:lpstr>Dockerfile Keyword -5</vt:lpstr>
      <vt:lpstr>Dockerfile Keyword -6</vt:lpstr>
      <vt:lpstr>Dockerfile Keyword -7</vt:lpstr>
      <vt:lpstr>Dockerfile Keyword -8</vt:lpstr>
      <vt:lpstr>Python Flask API Dockerfile 比較</vt:lpstr>
      <vt:lpstr>自己build: 產生image</vt:lpstr>
      <vt:lpstr>Docker image -1</vt:lpstr>
      <vt:lpstr>Docker image -2</vt:lpstr>
      <vt:lpstr>Docker image -3</vt:lpstr>
      <vt:lpstr>Docker process -1</vt:lpstr>
      <vt:lpstr>Docker run 參數介紹</vt:lpstr>
      <vt:lpstr>Docker process -2</vt:lpstr>
      <vt:lpstr>Docker image -2</vt:lpstr>
      <vt:lpstr>Docker process - 除錯</vt:lpstr>
      <vt:lpstr>Dockerfile Multi-stage</vt:lpstr>
      <vt:lpstr>自己build Dockerfile: Java Spring with gradle</vt:lpstr>
      <vt:lpstr>Build and Run Java Spring </vt:lpstr>
      <vt:lpstr>驗證 Java Spring</vt:lpstr>
      <vt:lpstr>自己build Dockerfile: VueJS</vt:lpstr>
      <vt:lpstr>Docker network - None</vt:lpstr>
      <vt:lpstr>Docker network - Container 1</vt:lpstr>
      <vt:lpstr>Docker network - Container 2</vt:lpstr>
      <vt:lpstr>Docker network - Host -1</vt:lpstr>
      <vt:lpstr>Docker network - Host -2</vt:lpstr>
      <vt:lpstr>Docker network - Bridge(default)</vt:lpstr>
      <vt:lpstr>Kubernetes</vt:lpstr>
      <vt:lpstr>Kubernetes</vt:lpstr>
      <vt:lpstr>K8s 架構圖</vt:lpstr>
      <vt:lpstr>Kubernetes 元件 -1</vt:lpstr>
      <vt:lpstr>Deployment 資源從屬關係</vt:lpstr>
      <vt:lpstr>K8s - pods</vt:lpstr>
      <vt:lpstr>Kubernetes 元件 -2</vt:lpstr>
      <vt:lpstr>K8s -Service</vt:lpstr>
      <vt:lpstr>K8s Label and Label Selector</vt:lpstr>
      <vt:lpstr>Selector</vt:lpstr>
      <vt:lpstr>藍綠部署 -1 </vt:lpstr>
      <vt:lpstr>藍綠部署 - 2</vt:lpstr>
      <vt:lpstr>藍綠部署 - 3</vt:lpstr>
      <vt:lpstr>A/B測試</vt:lpstr>
      <vt:lpstr>A/B測試- 2</vt:lpstr>
      <vt:lpstr>A/B測試- 3</vt:lpstr>
      <vt:lpstr>A/B測試- 4</vt:lpstr>
      <vt:lpstr>Two Service to one deployment</vt:lpstr>
      <vt:lpstr>K8s - Scaling</vt:lpstr>
      <vt:lpstr>K8s - Rolling update -1</vt:lpstr>
      <vt:lpstr>K8s - Rolling update -2</vt:lpstr>
      <vt:lpstr>K8s network module - Flannel (Overlay network)</vt:lpstr>
      <vt:lpstr>K8s network module - Calico</vt:lpstr>
      <vt:lpstr>Install kubectl command on VM1</vt:lpstr>
      <vt:lpstr>驗證kubectl 指令</vt:lpstr>
      <vt:lpstr>用rancher 安裝Kubernetes</vt:lpstr>
      <vt:lpstr>Deploy Kubernetes: Rancher</vt:lpstr>
      <vt:lpstr>Deploy Rancher Container</vt:lpstr>
      <vt:lpstr>Deploy Rancher</vt:lpstr>
      <vt:lpstr>Rancher 網頁</vt:lpstr>
      <vt:lpstr>Rancher UI</vt:lpstr>
      <vt:lpstr>至rancher container 取得admin預設密碼</vt:lpstr>
      <vt:lpstr>設定 admin password, Server URL </vt:lpstr>
      <vt:lpstr>Create Cluster(k8s) on Rancher UI</vt:lpstr>
      <vt:lpstr>預計裝在裸機，點選Custom</vt:lpstr>
      <vt:lpstr>Cluster命名、選擇k8s版本，選擇網路模組Calico</vt:lpstr>
      <vt:lpstr>勾選etcd, control plane, worker三項，複製下面docker command</vt:lpstr>
      <vt:lpstr>VM2上執行</vt:lpstr>
      <vt:lpstr>檢查deploy進度</vt:lpstr>
      <vt:lpstr>安裝kubernetes</vt:lpstr>
      <vt:lpstr>Kubernetes 部署中</vt:lpstr>
      <vt:lpstr>部署完成，點選Download KubeConfig </vt:lpstr>
      <vt:lpstr>另存Kubeconfig file.</vt:lpstr>
      <vt:lpstr>Kubernetes 操作</vt:lpstr>
      <vt:lpstr>放置kube conf</vt:lpstr>
      <vt:lpstr>切換k8s 環境 (讀取~/.kube/config)</vt:lpstr>
      <vt:lpstr>Kubernets 最小單位: pod</vt:lpstr>
      <vt:lpstr>部署Kubernetes yaml 檔，apply</vt:lpstr>
      <vt:lpstr>kubectl get pods -1</vt:lpstr>
      <vt:lpstr>kubectl get pods -2</vt:lpstr>
      <vt:lpstr>K8s deployment YAML -1</vt:lpstr>
      <vt:lpstr>Apply deployment yaml</vt:lpstr>
      <vt:lpstr>K8S 顯示資訊</vt:lpstr>
      <vt:lpstr>K8s deployment YAML -2</vt:lpstr>
      <vt:lpstr>K8s deployment YAML -3</vt:lpstr>
      <vt:lpstr>kubectl get deployment -1</vt:lpstr>
      <vt:lpstr>kubectl get deployment -2</vt:lpstr>
      <vt:lpstr>K8s container request and limit -1</vt:lpstr>
      <vt:lpstr>K8s container request and limit -2</vt:lpstr>
      <vt:lpstr>K8s container request and limit -3</vt:lpstr>
      <vt:lpstr>在pod執行操作 -1</vt:lpstr>
      <vt:lpstr>在pod執行操作 -2</vt:lpstr>
      <vt:lpstr>Pod訊息</vt:lpstr>
      <vt:lpstr>kubectl 指令</vt:lpstr>
      <vt:lpstr>實作: run nginx deployment upgrade and rollout -3</vt:lpstr>
      <vt:lpstr>實作: run nginx deployment upgrade and rollout -4 </vt:lpstr>
      <vt:lpstr>實作: run nginx deployment upgrade and rollout -5</vt:lpstr>
      <vt:lpstr>K8s node -1</vt:lpstr>
      <vt:lpstr>K8s node -2</vt:lpstr>
      <vt:lpstr>K8s node-3 </vt:lpstr>
      <vt:lpstr>K8s service yaml -1</vt:lpstr>
      <vt:lpstr>K8s service yaml -2</vt:lpstr>
      <vt:lpstr>實作2 K8s Service Expose -4</vt:lpstr>
      <vt:lpstr>Service ports 介紹</vt:lpstr>
      <vt:lpstr>App間互相呼叫，已Web 呼叫API為例</vt:lpstr>
      <vt:lpstr>查看 k8s Service 詳細資訊 </vt:lpstr>
      <vt:lpstr>K8s DNS</vt:lpstr>
      <vt:lpstr>K8s 系統資訊 (kube-system namespace)</vt:lpstr>
      <vt:lpstr>Kubernetes Namespace (縮寫：ns)</vt:lpstr>
      <vt:lpstr>Kubernetes Namespace</vt:lpstr>
      <vt:lpstr>K8s Ingress-1</vt:lpstr>
      <vt:lpstr>K8s Ingress -2</vt:lpstr>
      <vt:lpstr>K8s ingress yaml</vt:lpstr>
      <vt:lpstr>Volume: emptyDir</vt:lpstr>
      <vt:lpstr>Volume: hostpath -1</vt:lpstr>
      <vt:lpstr>Volume: hostpath -2</vt:lpstr>
      <vt:lpstr>Install nfs server on rancher server</vt:lpstr>
      <vt:lpstr>K8s server install mount package</vt:lpstr>
      <vt:lpstr>Volume: NFS -1</vt:lpstr>
      <vt:lpstr>Volume: NFS -2</vt:lpstr>
      <vt:lpstr>K8s 資源使用率 </vt:lpstr>
      <vt:lpstr>K8s - cronjob -1</vt:lpstr>
      <vt:lpstr>K8s - cronjob -2</vt:lpstr>
      <vt:lpstr>K8s - cronjob -3</vt:lpstr>
      <vt:lpstr>Secrets 編碼</vt:lpstr>
      <vt:lpstr>Secrets Volume </vt:lpstr>
      <vt:lpstr>Build Secrets Volume </vt:lpstr>
      <vt:lpstr>Secrets Volume : 當Pod 環境變數</vt:lpstr>
      <vt:lpstr>Secrets Volume : Pods env 描述</vt:lpstr>
      <vt:lpstr>Secrets Volume : Pods show env</vt:lpstr>
      <vt:lpstr>Secrets Volume : mount secret volume</vt:lpstr>
      <vt:lpstr>Secrets Volume : check pod</vt:lpstr>
      <vt:lpstr>Secrets Volume : check pod </vt:lpstr>
      <vt:lpstr>使用Google Cloud Platform Kubernetes Engine</vt:lpstr>
      <vt:lpstr>選擇Kubernetes engine on GCP</vt:lpstr>
      <vt:lpstr>建立GKE</vt:lpstr>
      <vt:lpstr>選擇Standard cluster</vt:lpstr>
      <vt:lpstr>等待 GKE 建立中</vt:lpstr>
      <vt:lpstr>Install Google Cloud CLI </vt:lpstr>
      <vt:lpstr>Install Google Cloud CLI</vt:lpstr>
      <vt:lpstr>取得GCP Cotainer cluster 操作權限-1</vt:lpstr>
      <vt:lpstr>GKE project</vt:lpstr>
      <vt:lpstr>指定project</vt:lpstr>
      <vt:lpstr>取得GCP Cotainer cluster 操作權限-2</vt:lpstr>
      <vt:lpstr>取得指定k8s的授權 </vt:lpstr>
      <vt:lpstr>瀏覽 ~/.kube/config, 會發現GKE授權檔已匯入其中</vt:lpstr>
      <vt:lpstr>取得GCP Cotainer cluster 操作權限 -2</vt:lpstr>
      <vt:lpstr>建立Deployment 與 LoadBalaner Service</vt:lpstr>
      <vt:lpstr>檢查Deployment與Service部署狀態</vt:lpstr>
      <vt:lpstr>測試Load balance</vt:lpstr>
      <vt:lpstr>檢查GKE工作負載-1</vt:lpstr>
      <vt:lpstr>檢查GKE工作負載-2</vt:lpstr>
      <vt:lpstr>GCP Kubernetes 使用load balance -4</vt:lpstr>
      <vt:lpstr>建立硬碟</vt:lpstr>
      <vt:lpstr>Volume: GCP volume - 建Volume</vt:lpstr>
      <vt:lpstr>PVC, PV, Storage class關係圖</vt:lpstr>
      <vt:lpstr>Volume: GCP volume - 建PersistemtVolume -1</vt:lpstr>
      <vt:lpstr>建立PV</vt:lpstr>
      <vt:lpstr>Volume: GCP volume - 建PersistemtVolume -2</vt:lpstr>
      <vt:lpstr>Volume: GCP volume - 建PersistemtVolume -3</vt:lpstr>
      <vt:lpstr>GCP Volume: 建PersistemtVolumeClaim</vt:lpstr>
      <vt:lpstr>部署pvc</vt:lpstr>
      <vt:lpstr>Volume plugin 支援程度  </vt:lpstr>
      <vt:lpstr>GCP Volume :用pod界接volume</vt:lpstr>
      <vt:lpstr>GCP Volume :部署pod</vt:lpstr>
      <vt:lpstr>GCP Volume: 檢查pod內掛載狀態。</vt:lpstr>
      <vt:lpstr>GCP Volume: 寫入檔案，刪除再重建pod，寫入檔案還是存在-1</vt:lpstr>
      <vt:lpstr>GCP Volume: 寫入檔案，刪除再重建pod，寫入檔案還是存在-2</vt:lpstr>
      <vt:lpstr>GCP Volume: 寫入檔案，刪除再重建pod，寫入檔案還是存在-3</vt:lpstr>
      <vt:lpstr>K8s auto scaling - 部署受壓測端deploy</vt:lpstr>
      <vt:lpstr>K8s auto scaling -部署受壓測端service </vt:lpstr>
      <vt:lpstr>K8s auto scaling -部署壓測別人pod </vt:lpstr>
      <vt:lpstr>K8s - autoscaling - 設定AutoScale</vt:lpstr>
      <vt:lpstr>K8s - autoscaling - 進行壓測 </vt:lpstr>
      <vt:lpstr>K8s - autoscaling - 監控hpa</vt:lpstr>
      <vt:lpstr>K8s - autoscaling - 監控pod</vt:lpstr>
      <vt:lpstr>K8s - autoscaling - 停止壓測後</vt:lpstr>
      <vt:lpstr>附錄A 使用Putty與ssh key 連線至linux</vt:lpstr>
      <vt:lpstr>附錄A: window login to cloud VM by putty - 下載Putty ，填入id@ip</vt:lpstr>
      <vt:lpstr>附錄A: window login to cloud VM by putty - 左邊Connectopn/SSH/Auth</vt:lpstr>
      <vt:lpstr>附錄A: window login to cloud VM by putty - 選擇k8s.ppk</vt:lpstr>
      <vt:lpstr>附錄A: window login to cloud VM by putty - 選擇Private key file auth</vt:lpstr>
      <vt:lpstr>附錄A: window login to cloud VM by putty - 即可登入</vt:lpstr>
      <vt:lpstr>附錄B: DaemonSet</vt:lpstr>
      <vt:lpstr>DaemonSet</vt:lpstr>
      <vt:lpstr>DaemonSet</vt:lpstr>
      <vt:lpstr>利用DaemonSet pod 取得節點上docker log</vt:lpstr>
      <vt:lpstr>取得 docker 資訊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devops：jenkins 搭配 docker 持續整合實務班</dc:title>
  <dc:creator>育緯 周</dc:creator>
  <cp:lastModifiedBy>育緯 周</cp:lastModifiedBy>
  <cp:revision>406</cp:revision>
  <dcterms:created xsi:type="dcterms:W3CDTF">2020-05-19T05:29:00Z</dcterms:created>
  <dcterms:modified xsi:type="dcterms:W3CDTF">2026-05-28T00:20:44Z</dcterms:modified>
</cp:coreProperties>
</file>