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notesMasterIdLst>
    <p:notesMasterId r:id="rId205"/>
  </p:notesMasterIdLst>
  <p:sldIdLst>
    <p:sldId id="256" r:id="rId2"/>
    <p:sldId id="258" r:id="rId3"/>
    <p:sldId id="358" r:id="rId4"/>
    <p:sldId id="360" r:id="rId5"/>
    <p:sldId id="312" r:id="rId6"/>
    <p:sldId id="278" r:id="rId7"/>
    <p:sldId id="277" r:id="rId8"/>
    <p:sldId id="275" r:id="rId9"/>
    <p:sldId id="331" r:id="rId10"/>
    <p:sldId id="297" r:id="rId11"/>
    <p:sldId id="571" r:id="rId12"/>
    <p:sldId id="330" r:id="rId13"/>
    <p:sldId id="632" r:id="rId14"/>
    <p:sldId id="399" r:id="rId15"/>
    <p:sldId id="687" r:id="rId16"/>
    <p:sldId id="825" r:id="rId17"/>
    <p:sldId id="361" r:id="rId18"/>
    <p:sldId id="293" r:id="rId19"/>
    <p:sldId id="386" r:id="rId20"/>
    <p:sldId id="292" r:id="rId21"/>
    <p:sldId id="257" r:id="rId22"/>
    <p:sldId id="362" r:id="rId23"/>
    <p:sldId id="387" r:id="rId24"/>
    <p:sldId id="446" r:id="rId25"/>
    <p:sldId id="385" r:id="rId26"/>
    <p:sldId id="826" r:id="rId27"/>
    <p:sldId id="827" r:id="rId28"/>
    <p:sldId id="260" r:id="rId29"/>
    <p:sldId id="294" r:id="rId30"/>
    <p:sldId id="290" r:id="rId31"/>
    <p:sldId id="573" r:id="rId32"/>
    <p:sldId id="400" r:id="rId33"/>
    <p:sldId id="383" r:id="rId34"/>
    <p:sldId id="291" r:id="rId35"/>
    <p:sldId id="636" r:id="rId36"/>
    <p:sldId id="635" r:id="rId37"/>
    <p:sldId id="818" r:id="rId38"/>
    <p:sldId id="820" r:id="rId39"/>
    <p:sldId id="743" r:id="rId40"/>
    <p:sldId id="413" r:id="rId41"/>
    <p:sldId id="414" r:id="rId42"/>
    <p:sldId id="415" r:id="rId43"/>
    <p:sldId id="416" r:id="rId44"/>
    <p:sldId id="441" r:id="rId45"/>
    <p:sldId id="417" r:id="rId46"/>
    <p:sldId id="316" r:id="rId47"/>
    <p:sldId id="317" r:id="rId48"/>
    <p:sldId id="329" r:id="rId49"/>
    <p:sldId id="828" r:id="rId50"/>
    <p:sldId id="633" r:id="rId51"/>
    <p:sldId id="323" r:id="rId52"/>
    <p:sldId id="363" r:id="rId53"/>
    <p:sldId id="324" r:id="rId54"/>
    <p:sldId id="325" r:id="rId55"/>
    <p:sldId id="575" r:id="rId56"/>
    <p:sldId id="576" r:id="rId57"/>
    <p:sldId id="577" r:id="rId58"/>
    <p:sldId id="578" r:id="rId59"/>
    <p:sldId id="579" r:id="rId60"/>
    <p:sldId id="580" r:id="rId61"/>
    <p:sldId id="581" r:id="rId62"/>
    <p:sldId id="582" r:id="rId63"/>
    <p:sldId id="583" r:id="rId64"/>
    <p:sldId id="326" r:id="rId65"/>
    <p:sldId id="328" r:id="rId66"/>
    <p:sldId id="327" r:id="rId67"/>
    <p:sldId id="395" r:id="rId68"/>
    <p:sldId id="396" r:id="rId69"/>
    <p:sldId id="359" r:id="rId70"/>
    <p:sldId id="821" r:id="rId71"/>
    <p:sldId id="313" r:id="rId72"/>
    <p:sldId id="279" r:id="rId73"/>
    <p:sldId id="280" r:id="rId74"/>
    <p:sldId id="310" r:id="rId75"/>
    <p:sldId id="675" r:id="rId76"/>
    <p:sldId id="676" r:id="rId77"/>
    <p:sldId id="504" r:id="rId78"/>
    <p:sldId id="637" r:id="rId79"/>
    <p:sldId id="281" r:id="rId80"/>
    <p:sldId id="282" r:id="rId81"/>
    <p:sldId id="283" r:id="rId82"/>
    <p:sldId id="284" r:id="rId83"/>
    <p:sldId id="833" r:id="rId84"/>
    <p:sldId id="850" r:id="rId85"/>
    <p:sldId id="834" r:id="rId86"/>
    <p:sldId id="611" r:id="rId87"/>
    <p:sldId id="286" r:id="rId88"/>
    <p:sldId id="507" r:id="rId89"/>
    <p:sldId id="314" r:id="rId90"/>
    <p:sldId id="829" r:id="rId91"/>
    <p:sldId id="409" r:id="rId92"/>
    <p:sldId id="822" r:id="rId93"/>
    <p:sldId id="830" r:id="rId94"/>
    <p:sldId id="266" r:id="rId95"/>
    <p:sldId id="364" r:id="rId96"/>
    <p:sldId id="831" r:id="rId97"/>
    <p:sldId id="674" r:id="rId98"/>
    <p:sldId id="262" r:id="rId99"/>
    <p:sldId id="366" r:id="rId100"/>
    <p:sldId id="404" r:id="rId101"/>
    <p:sldId id="265" r:id="rId102"/>
    <p:sldId id="365" r:id="rId103"/>
    <p:sldId id="381" r:id="rId104"/>
    <p:sldId id="382" r:id="rId105"/>
    <p:sldId id="398" r:id="rId106"/>
    <p:sldId id="272" r:id="rId107"/>
    <p:sldId id="401" r:id="rId108"/>
    <p:sldId id="832" r:id="rId109"/>
    <p:sldId id="634" r:id="rId110"/>
    <p:sldId id="402" r:id="rId111"/>
    <p:sldId id="261" r:id="rId112"/>
    <p:sldId id="370" r:id="rId113"/>
    <p:sldId id="274" r:id="rId114"/>
    <p:sldId id="405" r:id="rId115"/>
    <p:sldId id="406" r:id="rId116"/>
    <p:sldId id="269" r:id="rId117"/>
    <p:sldId id="371" r:id="rId118"/>
    <p:sldId id="273" r:id="rId119"/>
    <p:sldId id="403" r:id="rId120"/>
    <p:sldId id="584" r:id="rId121"/>
    <p:sldId id="268" r:id="rId122"/>
    <p:sldId id="271" r:id="rId123"/>
    <p:sldId id="295" r:id="rId124"/>
    <p:sldId id="816" r:id="rId125"/>
    <p:sldId id="817" r:id="rId126"/>
    <p:sldId id="442" r:id="rId127"/>
    <p:sldId id="443" r:id="rId128"/>
    <p:sldId id="444" r:id="rId129"/>
    <p:sldId id="301" r:id="rId130"/>
    <p:sldId id="302" r:id="rId131"/>
    <p:sldId id="304" r:id="rId132"/>
    <p:sldId id="299" r:id="rId133"/>
    <p:sldId id="380" r:id="rId134"/>
    <p:sldId id="305" r:id="rId135"/>
    <p:sldId id="303" r:id="rId136"/>
    <p:sldId id="335" r:id="rId137"/>
    <p:sldId id="336" r:id="rId138"/>
    <p:sldId id="337" r:id="rId139"/>
    <p:sldId id="338" r:id="rId140"/>
    <p:sldId id="349" r:id="rId141"/>
    <p:sldId id="345" r:id="rId142"/>
    <p:sldId id="346" r:id="rId143"/>
    <p:sldId id="347" r:id="rId144"/>
    <p:sldId id="341" r:id="rId145"/>
    <p:sldId id="348" r:id="rId146"/>
    <p:sldId id="350" r:id="rId147"/>
    <p:sldId id="356" r:id="rId148"/>
    <p:sldId id="357" r:id="rId149"/>
    <p:sldId id="315" r:id="rId150"/>
    <p:sldId id="306" r:id="rId151"/>
    <p:sldId id="300" r:id="rId152"/>
    <p:sldId id="604" r:id="rId153"/>
    <p:sldId id="586" r:id="rId154"/>
    <p:sldId id="308" r:id="rId155"/>
    <p:sldId id="309" r:id="rId156"/>
    <p:sldId id="311" r:id="rId157"/>
    <p:sldId id="587" r:id="rId158"/>
    <p:sldId id="588" r:id="rId159"/>
    <p:sldId id="412" r:id="rId160"/>
    <p:sldId id="590" r:id="rId161"/>
    <p:sldId id="591" r:id="rId162"/>
    <p:sldId id="589" r:id="rId163"/>
    <p:sldId id="319" r:id="rId164"/>
    <p:sldId id="374" r:id="rId165"/>
    <p:sldId id="320" r:id="rId166"/>
    <p:sldId id="593" r:id="rId167"/>
    <p:sldId id="592" r:id="rId168"/>
    <p:sldId id="321" r:id="rId169"/>
    <p:sldId id="594" r:id="rId170"/>
    <p:sldId id="322" r:id="rId171"/>
    <p:sldId id="585" r:id="rId172"/>
    <p:sldId id="296" r:id="rId173"/>
    <p:sldId id="595" r:id="rId174"/>
    <p:sldId id="377" r:id="rId175"/>
    <p:sldId id="378" r:id="rId176"/>
    <p:sldId id="298" r:id="rId177"/>
    <p:sldId id="603" r:id="rId178"/>
    <p:sldId id="339" r:id="rId179"/>
    <p:sldId id="340" r:id="rId180"/>
    <p:sldId id="596" r:id="rId181"/>
    <p:sldId id="343" r:id="rId182"/>
    <p:sldId id="376" r:id="rId183"/>
    <p:sldId id="344" r:id="rId184"/>
    <p:sldId id="375" r:id="rId185"/>
    <p:sldId id="597" r:id="rId186"/>
    <p:sldId id="598" r:id="rId187"/>
    <p:sldId id="599" r:id="rId188"/>
    <p:sldId id="379" r:id="rId189"/>
    <p:sldId id="333" r:id="rId190"/>
    <p:sldId id="600" r:id="rId191"/>
    <p:sldId id="601" r:id="rId192"/>
    <p:sldId id="602" r:id="rId193"/>
    <p:sldId id="824" r:id="rId194"/>
    <p:sldId id="351" r:id="rId195"/>
    <p:sldId id="352" r:id="rId196"/>
    <p:sldId id="354" r:id="rId197"/>
    <p:sldId id="353" r:id="rId198"/>
    <p:sldId id="355" r:id="rId199"/>
    <p:sldId id="823" r:id="rId200"/>
    <p:sldId id="612" r:id="rId201"/>
    <p:sldId id="613" r:id="rId202"/>
    <p:sldId id="614" r:id="rId203"/>
    <p:sldId id="616" r:id="rId20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4"/>
    <p:restoredTop sz="97332"/>
  </p:normalViewPr>
  <p:slideViewPr>
    <p:cSldViewPr snapToGrid="0" snapToObjects="1">
      <p:cViewPr varScale="1">
        <p:scale>
          <a:sx n="126" d="100"/>
          <a:sy n="126" d="100"/>
        </p:scale>
        <p:origin x="888" y="200"/>
      </p:cViewPr>
      <p:guideLst/>
    </p:cSldViewPr>
  </p:slideViewPr>
  <p:outlineViewPr>
    <p:cViewPr>
      <p:scale>
        <a:sx n="33" d="100"/>
        <a:sy n="33" d="100"/>
      </p:scale>
      <p:origin x="0" y="-13608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300" d="100"/>
          <a:sy n="300" d="100"/>
        </p:scale>
        <p:origin x="-1360" y="-63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imes New Roman" panose="02020603050405020304" pitchFamily="18" charset="0"/>
              </a:defRPr>
            </a:lvl1pPr>
          </a:lstStyle>
          <a:p>
            <a:fld id="{A6B375A1-B903-4A47-A5B1-D73976F0AC51}" type="datetimeFigureOut">
              <a:rPr kumimoji="1" lang="zh-TW" altLang="en-US" smtClean="0"/>
              <a:pPr/>
              <a:t>2026/5/31</a:t>
            </a:fld>
            <a:endParaRPr kumimoji="1" lang="zh-TW" altLang="en-US" dirty="0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 dirty="0"/>
              <a:t>編輯母片文字樣式</a:t>
            </a:r>
          </a:p>
          <a:p>
            <a:pPr lvl="1"/>
            <a:r>
              <a:rPr kumimoji="1" lang="zh-TW" altLang="en-US" dirty="0"/>
              <a:t>第二層</a:t>
            </a:r>
          </a:p>
          <a:p>
            <a:pPr lvl="2"/>
            <a:r>
              <a:rPr kumimoji="1" lang="zh-TW" altLang="en-US" dirty="0"/>
              <a:t>第三層</a:t>
            </a:r>
          </a:p>
          <a:p>
            <a:pPr lvl="3"/>
            <a:r>
              <a:rPr kumimoji="1" lang="zh-TW" altLang="en-US" dirty="0"/>
              <a:t>第四層</a:t>
            </a:r>
          </a:p>
          <a:p>
            <a:pPr lvl="4"/>
            <a:r>
              <a:rPr kumimoji="1"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imes New Roman" panose="02020603050405020304" pitchFamily="18" charset="0"/>
              </a:defRPr>
            </a:lvl1pPr>
          </a:lstStyle>
          <a:p>
            <a:fld id="{FB35EE9C-0DAB-064B-89F7-363221F9758D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3498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sz="7200" dirty="0">
              <a:solidFill>
                <a:schemeClr val="tx2"/>
              </a:solidFill>
              <a:latin typeface="Times New Roman" panose="02020603050405020304" pitchFamily="18" charset="0"/>
              <a:ea typeface="+mj-ea"/>
              <a:cs typeface="+mj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5737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6571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87517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644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436391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69664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26425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86002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1402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443956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94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892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101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685117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D7729A-F5E3-8547-AB54-CF5AFB308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80360-BA5D-F140-AABC-1B1E19FC7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E67ACAC-539D-E847-9944-4AD04803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DED4EC-F65A-4144-9FAC-5E79C71EF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CA0BB7A-D573-5540-A396-E0364CFA4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8717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BB8FDF-7B5A-AF4A-A2A9-7D0EB6C2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1B2780-569F-D247-B554-2B02D2B66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2F7274-F1C0-3F4F-A729-D3EF8E4CD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A006E97-2F45-264A-AD09-103DBF6A3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36C45A4-1A14-5040-9F1F-2647202D2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17937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66AB48-B63C-8E49-A6C1-897DA3269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847A98-EE9D-1142-8AAE-98683F753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5BC2BB-AF51-734A-AE94-4070FC8F8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D92476A-FC91-2E45-985D-B9E31170A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C2A1D3-B79C-1B49-935A-CE1250F7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77055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ED2BDD-8DB8-9840-99F2-328730924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D8EE3B-29D1-554D-BC96-33263B951A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BDF30D-3DA4-0043-92BE-92D9616D7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5D9C31-068E-5749-8432-BB30A0132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44D68FC-F1E6-0449-A8A4-947648E59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C38B6CC-DE25-8742-BAB5-5CB57E72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44788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D68AE6-41CC-1D4C-A99D-1A23C2E1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3C161E7-E597-4F40-8E8C-671DC872D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C34537B-1E20-F849-9A8D-566D0A843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DDC840E-C06B-0C4E-8249-F1AE7C923A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5D9F53B-3BAC-9A4E-8E07-F13BCC46D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9529428-64EC-6D42-B876-BFF1F6BE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F74908C-EA13-B14C-AAB0-39E2535A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37CC0C1-D785-3F40-AB72-92B067E4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01308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01113-FAAC-D641-8C02-351D98ABE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479C56E-2710-BA42-AFCB-0653AF820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BC7C7AD-2732-F74D-B9FF-CDF07248B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6102E-9691-BC4B-A8D7-A0E7E4A6B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8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59D9617-44C6-0B43-9408-564DF369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AE60247-20F3-D44B-8C35-603CC5AF2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53FF2A-F772-BB42-A4C5-F489A277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790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6D29D5-971B-9A40-AA97-773E495C2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54C8C9-2B77-5D45-B576-FE4C587C3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DE46CE7-D639-7147-ACB7-60A58FE2D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49B796A-D7BB-E642-A47D-373C62486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D4BCFF-CA7B-C542-9207-4C2B4371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571A06B-89EE-1946-A610-37603D056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61709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737420-A07B-A94B-A140-88B04284D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050FF31-3A57-CB47-88BC-3F46556093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9CBF76-0B54-B644-B63C-F55D96AD8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CBC7828-0FBF-954E-A6F5-F1556F323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48CA85C-A018-F042-8D36-D72F5094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B047EF-B268-D647-ADF8-D75AD7654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5897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A1529A-C44F-1C44-BFB7-A79AA094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59276E9-3002-2A40-9038-E9FEA6E47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22309E-19ED-C64B-A0F8-E31C2558C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24467-4A5E-7940-9FE8-845E1986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555697-177B-984D-B9E2-BC28899FC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12736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252B5B2-3D20-B244-888D-75949BD00A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F75DBE9-0090-3F49-A752-A4CB8EE6F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84E7F5-8171-684A-AF93-BB8EF8A1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8FEB66-E3D6-9D48-B1C1-1094EEAC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81032F-2986-3843-93A8-491795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3568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AFFD95-8F3E-C343-AC72-4FBEECC5A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B479B3-B9DC-CE49-AD07-004C42BD1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zh-TW" altLang="en-US" dirty="0"/>
              <a:t>第二層</a:t>
            </a:r>
          </a:p>
          <a:p>
            <a:pPr lvl="2"/>
            <a:r>
              <a:rPr kumimoji="1" lang="zh-TW" altLang="en-US" dirty="0"/>
              <a:t>第三層</a:t>
            </a:r>
          </a:p>
          <a:p>
            <a:pPr lvl="3"/>
            <a:r>
              <a:rPr kumimoji="1" lang="zh-TW" altLang="en-US" dirty="0"/>
              <a:t>第四層</a:t>
            </a:r>
          </a:p>
          <a:p>
            <a:pPr lvl="4"/>
            <a:r>
              <a:rPr kumimoji="1" lang="zh-TW" altLang="en-US" dirty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765F65-BD45-5C4B-B0F6-BDB5E3739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r>
              <a:rPr kumimoji="1" lang="en-US" altLang="zh-TW"/>
              <a:t>2026/5/30</a:t>
            </a:r>
            <a:endParaRPr kumimoji="1"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19506D8-0752-C445-BFE7-024890EDB0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endParaRPr kumimoji="1"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3C3261-B3AD-4D4E-8B54-9ED910A53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</a:defRPr>
            </a:lvl1pPr>
          </a:lstStyle>
          <a:p>
            <a:fld id="{0D48C1CA-DC90-284F-98A1-4BA8430588C0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47457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imes New Roman" panose="0202060305040502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moyuw/k8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o.gl/Rqck1q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_/python" TargetMode="External"/><Relationship Id="rId2" Type="http://schemas.openxmlformats.org/officeDocument/2006/relationships/hyperlink" Target="https://hub.docker.com/_/ubuntu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35.188.47.40/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moyuw/k8s/tree/master/cronjob" TargetMode="External"/><Relationship Id="rId2" Type="http://schemas.openxmlformats.org/officeDocument/2006/relationships/hyperlink" Target="https://github.com/demoyuw/k8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3B022B-EC5F-8B41-AA44-8AED6AF328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en" altLang="zh-TW" sz="5400" b="1" i="0" dirty="0">
                <a:solidFill>
                  <a:srgbClr val="222222"/>
                </a:solidFill>
                <a:effectLst/>
                <a:latin typeface="Noto Sans JP"/>
              </a:rPr>
              <a:t>Kubernetes (K8s) </a:t>
            </a:r>
            <a:r>
              <a:rPr lang="zh-TW" altLang="en-US" sz="5400" b="1" i="0" dirty="0">
                <a:solidFill>
                  <a:srgbClr val="222222"/>
                </a:solidFill>
                <a:effectLst/>
                <a:latin typeface="Noto Sans JP"/>
              </a:rPr>
              <a:t>容器化平台建置與運作管理實務班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71A4415-A65F-4D43-9B59-728851026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zh-Hant" altLang="en-US" dirty="0"/>
              <a:t>講師：周育緯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8FE9955-0A56-F441-9700-C4DB81C3E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44C3E6DD-9581-B043-B40D-6BEAB24CE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8361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C73D5-433E-BD4C-9230-A4D7E153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Outlook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9055A5-2113-8241-99C3-8C60853BB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63676"/>
            <a:ext cx="8946541" cy="4195481"/>
          </a:xfrm>
        </p:spPr>
        <p:txBody>
          <a:bodyPr>
            <a:normAutofit/>
          </a:bodyPr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en-US" altLang="zh-Hant" dirty="0"/>
          </a:p>
          <a:p>
            <a:r>
              <a:rPr kumimoji="1" lang="en-US" altLang="zh-TW" dirty="0"/>
              <a:t>Kubernetes</a:t>
            </a:r>
            <a:endParaRPr kumimoji="1" lang="en-US" altLang="zh-Hant" dirty="0"/>
          </a:p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en-US" altLang="zh-Hant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Google Cloud Platform Kubernetes Engine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56F6D0E-E097-5148-B683-92FD3DC0F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EE75E64-E656-F54C-B677-53774FC36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4014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2A867A82-335A-5341-8CC5-9E86F7FB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課程資源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FD5BD154-F862-B342-A4C5-9C25598A2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en-US" altLang="zh-TW" dirty="0"/>
              <a:t>Source code</a:t>
            </a:r>
          </a:p>
          <a:p>
            <a:pPr lvl="1"/>
            <a:r>
              <a:rPr kumimoji="1" lang="en-US" altLang="zh-TW" sz="3200" dirty="0">
                <a:hlinkClick r:id="rId3"/>
              </a:rPr>
              <a:t>https://github.com/demoyuw/k8s</a:t>
            </a:r>
            <a:endParaRPr kumimoji="1" lang="en-US" altLang="zh-TW" sz="3200" dirty="0"/>
          </a:p>
          <a:p>
            <a:r>
              <a:rPr lang="zh-CN" altLang="en-US" sz="3600" dirty="0">
                <a:hlinkClick r:id="rId4"/>
              </a:rPr>
              <a:t>虛擬機資源</a:t>
            </a:r>
            <a:endParaRPr lang="en-US" altLang="zh-TW" sz="3600" dirty="0">
              <a:hlinkClick r:id="rId4"/>
            </a:endParaRPr>
          </a:p>
          <a:p>
            <a:pPr lvl="1"/>
            <a:r>
              <a:rPr lang="en-US" altLang="zh-TW" sz="3200" dirty="0">
                <a:hlinkClick r:id="rId4"/>
              </a:rPr>
              <a:t>https://goo.gl/Rqck1q</a:t>
            </a:r>
            <a:endParaRPr lang="en-US" altLang="zh-TW" sz="3200" dirty="0"/>
          </a:p>
          <a:p>
            <a:pPr lvl="1"/>
            <a:r>
              <a:rPr kumimoji="1" lang="zh-TW" altLang="en-US" sz="3200" dirty="0"/>
              <a:t>選擇編號，後面註記使用人</a:t>
            </a:r>
            <a:endParaRPr kumimoji="1" lang="en-US" altLang="zh-TW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DD71427C-43DB-F141-9D1F-AF245FC1D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0E29742-2DAD-AF47-94CB-D15748AE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25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2E91A2-C970-9E43-8525-654866386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ssh</a:t>
            </a:r>
            <a:r>
              <a:rPr kumimoji="1" lang="en-US" altLang="zh-TW" dirty="0"/>
              <a:t> </a:t>
            </a:r>
            <a:r>
              <a:rPr kumimoji="1" lang="zh-CN" altLang="en-US" dirty="0"/>
              <a:t>登入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B8D10E-A769-0A4D-B5E1-B05F321A5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3200" dirty="0"/>
              <a:t>Linux </a:t>
            </a:r>
          </a:p>
          <a:p>
            <a:pPr lvl="1"/>
            <a:r>
              <a:rPr kumimoji="1" lang="en-US" altLang="zh-TW" sz="3000" dirty="0"/>
              <a:t>mv k8s.key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</a:t>
            </a:r>
          </a:p>
          <a:p>
            <a:pPr lvl="1"/>
            <a:r>
              <a:rPr kumimoji="1" lang="en-US" altLang="zh-TW" sz="3000" dirty="0" err="1"/>
              <a:t>chmod</a:t>
            </a:r>
            <a:r>
              <a:rPr kumimoji="1" lang="en-US" altLang="zh-TW" sz="3000" dirty="0"/>
              <a:t> 600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/k8s.key</a:t>
            </a:r>
          </a:p>
          <a:p>
            <a:pPr lvl="1"/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 -</a:t>
            </a:r>
            <a:r>
              <a:rPr kumimoji="1" lang="en-US" altLang="zh-TW" sz="3000" dirty="0" err="1"/>
              <a:t>i</a:t>
            </a:r>
            <a:r>
              <a:rPr kumimoji="1" lang="en-US" altLang="zh-TW" sz="3000" dirty="0"/>
              <a:t> ~/.</a:t>
            </a:r>
            <a:r>
              <a:rPr kumimoji="1" lang="en-US" altLang="zh-TW" sz="3000" dirty="0" err="1"/>
              <a:t>ssh</a:t>
            </a:r>
            <a:r>
              <a:rPr kumimoji="1" lang="en-US" altLang="zh-TW" sz="3000" dirty="0"/>
              <a:t>/k8s.key </a:t>
            </a:r>
            <a:r>
              <a:rPr kumimoji="1" lang="en-US" altLang="zh-TW" sz="3000" dirty="0">
                <a:hlinkClick r:id="rId2"/>
              </a:rPr>
              <a:t>demoyuw@</a:t>
            </a:r>
            <a:r>
              <a:rPr kumimoji="1" lang="en-US" altLang="zh-TW" sz="3000" dirty="0"/>
              <a:t>{VM</a:t>
            </a:r>
            <a:r>
              <a:rPr kumimoji="1" lang="zh-CN" altLang="en-US" sz="3000" dirty="0"/>
              <a:t>的外部</a:t>
            </a:r>
            <a:r>
              <a:rPr kumimoji="1" lang="en-US" altLang="zh-CN" sz="3000" dirty="0"/>
              <a:t>IP</a:t>
            </a:r>
            <a:r>
              <a:rPr kumimoji="1" lang="en-US" altLang="zh-TW" sz="3000" dirty="0"/>
              <a:t>}</a:t>
            </a:r>
          </a:p>
          <a:p>
            <a:pPr lvl="2"/>
            <a:r>
              <a:rPr kumimoji="1" lang="en-US" altLang="zh-TW" sz="2600" dirty="0"/>
              <a:t>Ex: </a:t>
            </a:r>
            <a:r>
              <a:rPr kumimoji="1" lang="en-US" altLang="zh-TW" sz="2600" dirty="0" err="1"/>
              <a:t>ssh</a:t>
            </a:r>
            <a:r>
              <a:rPr kumimoji="1" lang="en-US" altLang="zh-TW" sz="2600" dirty="0"/>
              <a:t> -</a:t>
            </a:r>
            <a:r>
              <a:rPr kumimoji="1" lang="en-US" altLang="zh-TW" sz="2600" dirty="0" err="1"/>
              <a:t>i</a:t>
            </a:r>
            <a:r>
              <a:rPr kumimoji="1" lang="en-US" altLang="zh-TW" sz="2600" dirty="0"/>
              <a:t> ~/.</a:t>
            </a:r>
            <a:r>
              <a:rPr kumimoji="1" lang="en-US" altLang="zh-TW" sz="2600" dirty="0" err="1"/>
              <a:t>ssh</a:t>
            </a:r>
            <a:r>
              <a:rPr kumimoji="1" lang="en-US" altLang="zh-TW" sz="2600" dirty="0"/>
              <a:t>/k8s.key demoyuw@140.92.174.32</a:t>
            </a:r>
          </a:p>
          <a:p>
            <a:r>
              <a:rPr kumimoji="1" lang="en-US" altLang="zh-TW" sz="3200" dirty="0"/>
              <a:t>Windows</a:t>
            </a:r>
          </a:p>
          <a:p>
            <a:pPr lvl="1"/>
            <a:r>
              <a:rPr kumimoji="1" lang="zh-CN" altLang="en-US" sz="3000" dirty="0"/>
              <a:t>參考附檔</a:t>
            </a:r>
            <a:r>
              <a:rPr kumimoji="1" lang="en-US" altLang="zh-TW" sz="3000" dirty="0"/>
              <a:t> </a:t>
            </a:r>
          </a:p>
          <a:p>
            <a:pPr lvl="1"/>
            <a:r>
              <a:rPr kumimoji="1" lang="en-US" altLang="zh-TW" sz="3000" dirty="0">
                <a:hlinkClick r:id="rId2"/>
              </a:rPr>
              <a:t>demoyuw@</a:t>
            </a:r>
            <a:r>
              <a:rPr kumimoji="1" lang="en-US" altLang="zh-TW" sz="3000" dirty="0"/>
              <a:t>{VM</a:t>
            </a:r>
            <a:r>
              <a:rPr kumimoji="1" lang="zh-CN" altLang="en-US" sz="3000" dirty="0"/>
              <a:t>的外部</a:t>
            </a:r>
            <a:r>
              <a:rPr kumimoji="1" lang="en-US" altLang="zh-CN" sz="3000" dirty="0"/>
              <a:t>IP</a:t>
            </a:r>
            <a:r>
              <a:rPr kumimoji="1" lang="en-US" altLang="zh-TW" sz="3000" dirty="0"/>
              <a:t>}</a:t>
            </a:r>
          </a:p>
          <a:p>
            <a:pPr lvl="2"/>
            <a:r>
              <a:rPr kumimoji="1" lang="en-US" altLang="zh-TW" sz="2600" dirty="0"/>
              <a:t>Ex: demoyuw@140.92.174.32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57F2FC2-6FE6-D94F-B0D1-CB28CADF5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BBE7CDD-AA8A-2048-BBCA-36B7852E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719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63536942-F3DC-6744-B39B-8D9056851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76086202-EBF6-B842-A0D2-3AECED12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90893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每個</a:t>
            </a:r>
            <a:r>
              <a:rPr kumimoji="1" lang="en-US" altLang="zh-CN" sz="3200" dirty="0"/>
              <a:t>Container</a:t>
            </a:r>
            <a:r>
              <a:rPr kumimoji="1" lang="zh-CN" altLang="en-US" dirty="0"/>
              <a:t>可視為獨立執行緒</a:t>
            </a:r>
            <a:r>
              <a:rPr kumimoji="1" lang="en-US" altLang="zh-CN" dirty="0"/>
              <a:t>(process)</a:t>
            </a:r>
          </a:p>
          <a:p>
            <a:r>
              <a:rPr kumimoji="1" lang="zh-CN" altLang="en-US" sz="3200" dirty="0"/>
              <a:t>輕量化</a:t>
            </a:r>
            <a:endParaRPr kumimoji="1" lang="en-US" altLang="zh-CN" sz="3200" dirty="0"/>
          </a:p>
          <a:p>
            <a:r>
              <a:rPr kumimoji="1" lang="zh-CN" altLang="en-US" sz="3200" dirty="0"/>
              <a:t>秒級部署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無法橫跨機器</a:t>
            </a:r>
            <a:endParaRPr kumimoji="1" lang="en-US" altLang="zh-CN" sz="3200" dirty="0"/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F6D8773-2763-C94D-8BC7-37F455A92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A952DBB-C66C-8841-B084-0E5DD76E8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83038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F7B5486-D225-7249-B5E9-776396F2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7C66AD9-1DBA-7243-B8EF-CBAEFAE67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3000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AE6BEE-6E0B-E042-A798-C68D3A6C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3659CD-1D1C-8B4E-A418-00580865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sz="3200" dirty="0"/>
              <a:t>自動化佈署應用容器</a:t>
            </a:r>
            <a:endParaRPr kumimoji="1" lang="en-US" altLang="zh-CN" sz="3200" dirty="0"/>
          </a:p>
          <a:p>
            <a:r>
              <a:rPr kumimoji="1" lang="zh-CN" altLang="en-US" sz="3200" dirty="0"/>
              <a:t>使用</a:t>
            </a:r>
            <a:r>
              <a:rPr kumimoji="1" lang="en-US" altLang="zh-CN" sz="3200" dirty="0"/>
              <a:t>Linux kernel n</a:t>
            </a:r>
            <a:r>
              <a:rPr lang="en-US" altLang="zh-TW" sz="3200" dirty="0"/>
              <a:t>amespace </a:t>
            </a:r>
            <a:r>
              <a:rPr lang="zh-TW" altLang="en-US" sz="3200" dirty="0"/>
              <a:t>及 </a:t>
            </a:r>
            <a:r>
              <a:rPr lang="en-US" altLang="zh-TW" sz="3200" dirty="0"/>
              <a:t>Control Groups (</a:t>
            </a:r>
            <a:r>
              <a:rPr lang="en-US" altLang="zh-TW" sz="3200" dirty="0" err="1"/>
              <a:t>cgroups</a:t>
            </a:r>
            <a:r>
              <a:rPr lang="en-US" altLang="zh-TW" sz="3200" dirty="0"/>
              <a:t>) </a:t>
            </a:r>
            <a:r>
              <a:rPr lang="zh-TW" altLang="en-US" sz="3200" dirty="0"/>
              <a:t>等，來達到建置獨立的環境及控制 </a:t>
            </a:r>
            <a:r>
              <a:rPr lang="en-US" altLang="zh-TW" sz="3200" dirty="0"/>
              <a:t>CPU </a:t>
            </a:r>
            <a:r>
              <a:rPr lang="zh-TW" altLang="en-US" sz="3200" dirty="0"/>
              <a:t>、</a:t>
            </a:r>
            <a:r>
              <a:rPr lang="en-US" altLang="zh-TW" sz="3200" dirty="0"/>
              <a:t>Memory </a:t>
            </a:r>
            <a:r>
              <a:rPr lang="zh-TW" altLang="en-US" sz="3200" dirty="0"/>
              <a:t>、網路等資源。</a:t>
            </a:r>
            <a:endParaRPr lang="en-US" altLang="zh-TW" sz="3200" dirty="0"/>
          </a:p>
          <a:p>
            <a:pPr lvl="1"/>
            <a:r>
              <a:rPr kumimoji="1" lang="zh-CN" altLang="en-US" sz="3200" dirty="0"/>
              <a:t>根本原因，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支援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26EED7A-7EC7-0C47-8665-EB821738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10DAF6CC-8C3A-854E-BDC3-98BF7C22D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C3E2BDB-5D7A-134A-81A7-B20E4D9B4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774" y="5419369"/>
            <a:ext cx="4330700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08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C5C6EA-F3D4-5043-BED8-3F981FA5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DFA9A5-E96C-7941-92C3-5F316C92A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啟動效率</a:t>
            </a:r>
          </a:p>
          <a:p>
            <a:pPr lvl="1"/>
            <a:r>
              <a:rPr lang="en-US" altLang="zh-TW" dirty="0"/>
              <a:t>Container </a:t>
            </a:r>
            <a:r>
              <a:rPr lang="zh-TW" altLang="en-US" dirty="0"/>
              <a:t>少了</a:t>
            </a:r>
            <a:r>
              <a:rPr lang="en-US" altLang="zh-TW" dirty="0" err="1"/>
              <a:t>Hypervisior</a:t>
            </a:r>
            <a:r>
              <a:rPr lang="zh-TW" altLang="en-US" dirty="0"/>
              <a:t>層，啟動時效率較高。</a:t>
            </a:r>
          </a:p>
          <a:p>
            <a:r>
              <a:rPr lang="zh-TW" altLang="en-US" dirty="0"/>
              <a:t>運算效能</a:t>
            </a:r>
          </a:p>
          <a:p>
            <a:pPr lvl="1"/>
            <a:r>
              <a:rPr lang="zh-TW" altLang="en-US" dirty="0"/>
              <a:t>執行緒都在</a:t>
            </a:r>
            <a:r>
              <a:rPr lang="en-US" altLang="zh-TW" dirty="0" err="1"/>
              <a:t>linux</a:t>
            </a:r>
            <a:r>
              <a:rPr lang="en-US" altLang="zh-TW" dirty="0"/>
              <a:t> kernel</a:t>
            </a:r>
            <a:r>
              <a:rPr lang="zh-TW" altLang="en-US" dirty="0"/>
              <a:t>上，效能相差不大。</a:t>
            </a:r>
          </a:p>
          <a:p>
            <a:r>
              <a:rPr lang="zh-TW" altLang="en-US" dirty="0"/>
              <a:t>安全性</a:t>
            </a:r>
          </a:p>
          <a:p>
            <a:pPr lvl="1"/>
            <a:r>
              <a:rPr lang="en-US" altLang="zh-TW" dirty="0"/>
              <a:t>Container </a:t>
            </a:r>
            <a:r>
              <a:rPr lang="zh-TW" altLang="en-US" dirty="0"/>
              <a:t>共用</a:t>
            </a:r>
            <a:r>
              <a:rPr lang="en-US" altLang="zh-TW" dirty="0"/>
              <a:t>Linux kernel</a:t>
            </a:r>
            <a:r>
              <a:rPr lang="zh-TW" altLang="en-US" dirty="0"/>
              <a:t>，安全性不比</a:t>
            </a:r>
            <a:r>
              <a:rPr lang="en-US" altLang="zh-TW" dirty="0"/>
              <a:t>VM</a:t>
            </a:r>
            <a:r>
              <a:rPr lang="zh-TW" altLang="en-US" dirty="0"/>
              <a:t>高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B095C67-62A3-4947-B541-44A5C22EB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EC0E1BC-78E0-144C-A73B-A92A75AA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7600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E0A72-D2B7-BB4F-AED8-AD15D651C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Kubernetes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8E0078-0B25-884F-B628-5DF4A7A62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命名規則：</a:t>
            </a:r>
            <a:endParaRPr kumimoji="1" lang="en-US" altLang="zh-TW" dirty="0"/>
          </a:p>
          <a:p>
            <a:pPr lvl="1"/>
            <a:r>
              <a:rPr kumimoji="1" lang="zh-TW" altLang="en-US" dirty="0"/>
              <a:t>全英文小寫與</a:t>
            </a:r>
            <a:r>
              <a:rPr kumimoji="1" lang="en-US" altLang="zh-TW" dirty="0"/>
              <a:t>”-”</a:t>
            </a:r>
            <a:r>
              <a:rPr kumimoji="1" lang="zh-TW" altLang="en-US" dirty="0"/>
              <a:t>，勿大寫或其他特殊符號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Ex: test-website</a:t>
            </a:r>
          </a:p>
          <a:p>
            <a:r>
              <a:rPr kumimoji="1" lang="zh-CN" altLang="en-US" dirty="0"/>
              <a:t>縮寫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Kubernetes</a:t>
            </a:r>
          </a:p>
          <a:p>
            <a:pPr lvl="2"/>
            <a:r>
              <a:rPr kumimoji="1" lang="en-US" altLang="zh-CN" dirty="0"/>
              <a:t>K8S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354A5F7-BC89-A945-B38D-A978DFB0E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FB2F463-D5CD-0047-A0DA-0D5D3F711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64641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38A48B1-5D67-BE47-9182-F9F072345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C0E7A29-5BF2-FC43-BD58-BE271665C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228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DD1F1E-5C4C-7847-A438-5A0CA0E71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元件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923ADA-3326-FF46-A4B6-F4B763E42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Images</a:t>
            </a:r>
          </a:p>
          <a:p>
            <a:pPr lvl="1"/>
            <a:r>
              <a:rPr lang="en-US" altLang="zh-TW" dirty="0"/>
              <a:t>image </a:t>
            </a:r>
            <a:r>
              <a:rPr lang="zh-TW" altLang="en-US" dirty="0"/>
              <a:t>能建立 </a:t>
            </a:r>
            <a:r>
              <a:rPr lang="en-US" altLang="zh-TW" dirty="0"/>
              <a:t>Docker container</a:t>
            </a:r>
            <a:r>
              <a:rPr lang="zh-TW" altLang="en-US" dirty="0"/>
              <a:t>，但是 </a:t>
            </a:r>
            <a:r>
              <a:rPr lang="en-US" altLang="zh-TW" dirty="0"/>
              <a:t>docker image</a:t>
            </a:r>
            <a:r>
              <a:rPr lang="zh-TW" altLang="en-US" dirty="0"/>
              <a:t> </a:t>
            </a:r>
            <a:r>
              <a:rPr lang="en-US" altLang="zh-TW" dirty="0"/>
              <a:t>file</a:t>
            </a:r>
            <a:r>
              <a:rPr lang="zh-CN" altLang="en-US" dirty="0"/>
              <a:t>檔本身為</a:t>
            </a:r>
            <a:r>
              <a:rPr lang="zh-TW" altLang="en-US" dirty="0"/>
              <a:t>唯讀，</a:t>
            </a:r>
            <a:r>
              <a:rPr lang="en-US" altLang="zh-TW" dirty="0"/>
              <a:t>container</a:t>
            </a:r>
            <a:r>
              <a:rPr lang="zh-CN" altLang="en-US" dirty="0"/>
              <a:t>運行時所產生新的資料，會成為新的</a:t>
            </a:r>
            <a:r>
              <a:rPr lang="en-US" altLang="zh-CN" dirty="0"/>
              <a:t>image</a:t>
            </a:r>
            <a:r>
              <a:rPr lang="zh-CN" altLang="en-US" dirty="0"/>
              <a:t>並與原始</a:t>
            </a:r>
            <a:r>
              <a:rPr lang="en-US" altLang="zh-CN" dirty="0"/>
              <a:t>image</a:t>
            </a:r>
            <a:r>
              <a:rPr lang="zh-CN" altLang="en-US" dirty="0"/>
              <a:t>進行堆疊</a:t>
            </a:r>
            <a:r>
              <a:rPr lang="zh-TW" altLang="en-US" dirty="0"/>
              <a:t>。</a:t>
            </a:r>
            <a:endParaRPr kumimoji="1" lang="en-US" altLang="zh-TW" dirty="0"/>
          </a:p>
          <a:p>
            <a:r>
              <a:rPr kumimoji="1" lang="en-US" altLang="zh-TW" dirty="0"/>
              <a:t>Docker Container</a:t>
            </a:r>
          </a:p>
          <a:p>
            <a:pPr lvl="1"/>
            <a:r>
              <a:rPr lang="zh-TW" altLang="en-US" dirty="0"/>
              <a:t>提供獨立、安全的環境給應用程式執行，</a:t>
            </a:r>
            <a:r>
              <a:rPr lang="en-US" altLang="zh-TW" dirty="0"/>
              <a:t>container </a:t>
            </a:r>
            <a:r>
              <a:rPr lang="zh-TW" altLang="en-US" dirty="0"/>
              <a:t>是由 </a:t>
            </a:r>
            <a:r>
              <a:rPr lang="en-US" altLang="zh-TW" dirty="0"/>
              <a:t>Docker image </a:t>
            </a:r>
            <a:r>
              <a:rPr lang="zh-TW" altLang="en-US" dirty="0"/>
              <a:t>建立，並可讀可寫，運行在主機上。</a:t>
            </a:r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1464CE5-A6BB-2140-823E-E69E77DB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D6EEE86-B7DF-C04E-9C3D-0BBFC67B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3444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BFF933-4B91-6747-884D-97DB1D38D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540776E-6469-4C4C-B478-01D0B8014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764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964677-41FA-B846-AFD8-37D87E4D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</a:t>
            </a:r>
            <a:r>
              <a:rPr kumimoji="1" lang="zh-CN" altLang="en-US" dirty="0"/>
              <a:t>元件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EE1DAE-3A94-4C4B-B84A-0E221EB74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Registers</a:t>
            </a:r>
          </a:p>
          <a:p>
            <a:pPr lvl="1"/>
            <a:r>
              <a:rPr lang="zh-TW" altLang="en-US" dirty="0"/>
              <a:t>將 </a:t>
            </a:r>
            <a:r>
              <a:rPr lang="en-US" altLang="zh-TW" b="1" dirty="0"/>
              <a:t>Docker images</a:t>
            </a:r>
            <a:r>
              <a:rPr lang="en-US" altLang="zh-TW" dirty="0"/>
              <a:t> </a:t>
            </a:r>
            <a:r>
              <a:rPr lang="zh-TW" altLang="en-US" dirty="0"/>
              <a:t>上傳</a:t>
            </a:r>
            <a:r>
              <a:rPr lang="en-US" altLang="zh-TW" dirty="0"/>
              <a:t>(push)</a:t>
            </a:r>
            <a:r>
              <a:rPr lang="zh-TW" altLang="en-US" dirty="0"/>
              <a:t>、下載</a:t>
            </a:r>
            <a:r>
              <a:rPr lang="en-US" altLang="zh-TW" dirty="0"/>
              <a:t>(pull)</a:t>
            </a:r>
            <a:r>
              <a:rPr lang="zh-TW" altLang="en-US" dirty="0"/>
              <a:t>到公開</a:t>
            </a:r>
            <a:r>
              <a:rPr lang="en-US" altLang="zh-TW" dirty="0"/>
              <a:t>(ex: Docker hub)</a:t>
            </a:r>
            <a:r>
              <a:rPr lang="zh-TW" altLang="en-US" dirty="0"/>
              <a:t>或私有的 </a:t>
            </a:r>
            <a:r>
              <a:rPr lang="en-US" altLang="zh-TW" b="1" dirty="0"/>
              <a:t>Docker Registries (ex: Harbor)</a:t>
            </a:r>
            <a:r>
              <a:rPr lang="en-US" altLang="zh-TW" dirty="0"/>
              <a:t> </a:t>
            </a:r>
            <a:r>
              <a:rPr lang="zh-TW" altLang="en-US" dirty="0"/>
              <a:t>上，與同隊成員或所有人分享。</a:t>
            </a:r>
            <a:endParaRPr lang="en-US" altLang="zh-TW" dirty="0"/>
          </a:p>
          <a:p>
            <a:pPr lvl="1"/>
            <a:r>
              <a:rPr lang="zh-TW" altLang="en-US" dirty="0"/>
              <a:t>公開的像 </a:t>
            </a:r>
            <a:r>
              <a:rPr lang="en-US" altLang="zh-TW" b="1" dirty="0"/>
              <a:t>Docker Hub</a:t>
            </a:r>
            <a:r>
              <a:rPr lang="en-US" altLang="zh-TW" dirty="0"/>
              <a:t> </a:t>
            </a:r>
            <a:r>
              <a:rPr lang="zh-TW" altLang="en-US" dirty="0"/>
              <a:t>提供了許多官方</a:t>
            </a:r>
            <a:r>
              <a:rPr lang="en-US" altLang="zh-TW" dirty="0"/>
              <a:t> release</a:t>
            </a:r>
            <a:r>
              <a:rPr lang="zh-TW" altLang="en-US" dirty="0"/>
              <a:t>的 </a:t>
            </a:r>
            <a:r>
              <a:rPr lang="en-US" altLang="zh-TW" dirty="0"/>
              <a:t>images </a:t>
            </a:r>
            <a:r>
              <a:rPr lang="zh-TW" altLang="en-US" dirty="0"/>
              <a:t>。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Ubuntu: </a:t>
            </a:r>
            <a:r>
              <a:rPr kumimoji="1" lang="en-US" altLang="zh-TW" dirty="0">
                <a:hlinkClick r:id="rId2"/>
              </a:rPr>
              <a:t>https://hub.docker.com/_/ubuntu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CentOS: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/_/centos</a:t>
            </a:r>
          </a:p>
          <a:p>
            <a:pPr lvl="2"/>
            <a:r>
              <a:rPr kumimoji="1" lang="en-US" altLang="zh-TW" dirty="0"/>
              <a:t>Java </a:t>
            </a:r>
            <a:r>
              <a:rPr kumimoji="1" lang="en-US" altLang="zh-TW" dirty="0" err="1"/>
              <a:t>openjdk</a:t>
            </a:r>
            <a:r>
              <a:rPr kumimoji="1" lang="en-US" altLang="zh-TW" dirty="0"/>
              <a:t>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</a:t>
            </a:r>
            <a:r>
              <a:rPr kumimoji="1" lang="en-US" altLang="zh-TW" dirty="0" err="1"/>
              <a:t>openjdk</a:t>
            </a:r>
            <a:r>
              <a:rPr kumimoji="1" lang="en-US" altLang="zh-TW" dirty="0"/>
              <a:t> </a:t>
            </a:r>
          </a:p>
          <a:p>
            <a:pPr lvl="2"/>
            <a:r>
              <a:rPr kumimoji="1" lang="en-US" altLang="zh-TW" dirty="0"/>
              <a:t>Python:	</a:t>
            </a:r>
            <a:r>
              <a:rPr kumimoji="1" lang="en-US" altLang="zh-TW" dirty="0">
                <a:hlinkClick r:id="rId3"/>
              </a:rPr>
              <a:t>https://hub.docker.com/_/python</a:t>
            </a:r>
            <a:endParaRPr kumimoji="1" lang="en-US" altLang="zh-TW" dirty="0"/>
          </a:p>
          <a:p>
            <a:pPr lvl="2"/>
            <a:r>
              <a:rPr kumimoji="1" lang="en-US" altLang="zh-TW" dirty="0"/>
              <a:t>Nginx: https://</a:t>
            </a:r>
            <a:r>
              <a:rPr kumimoji="1" lang="en-US" altLang="zh-TW" dirty="0" err="1"/>
              <a:t>hub.docker.com</a:t>
            </a:r>
            <a:r>
              <a:rPr kumimoji="1" lang="en-US" altLang="zh-TW" dirty="0"/>
              <a:t>/_/</a:t>
            </a:r>
            <a:r>
              <a:rPr kumimoji="1" lang="en-US" altLang="zh-TW" dirty="0" err="1"/>
              <a:t>nginx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1EEA32F-760D-3341-BFEF-62526A660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FF0F862-CA92-9C40-AEDF-F35E3F09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63641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AF611B-0AA2-022B-8776-97B9D0325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git clone https://</a:t>
            </a:r>
            <a:r>
              <a:rPr kumimoji="1" lang="en-US" altLang="zh-TW" dirty="0" err="1"/>
              <a:t>github.com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/k8s.git</a:t>
            </a:r>
          </a:p>
          <a:p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k8s</a:t>
            </a:r>
            <a:r>
              <a:rPr kumimoji="1" lang="pt" altLang="zh-TW" dirty="0"/>
              <a:t>/</a:t>
            </a:r>
          </a:p>
          <a:p>
            <a:r>
              <a:rPr kumimoji="1" lang="en-US" altLang="zh-TW" dirty="0" err="1"/>
              <a:t>sudo</a:t>
            </a:r>
            <a:r>
              <a:rPr kumimoji="1" lang="en-US" altLang="zh-TW" dirty="0"/>
              <a:t> ~/k8s/script/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重啟</a:t>
            </a:r>
            <a:r>
              <a:rPr kumimoji="1" lang="en-US" altLang="zh-TW" dirty="0"/>
              <a:t>terminal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C15BCC0-C6F1-2889-8AAD-D67B132FE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657F177-B8BD-3849-B2BC-28567D7FE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67BE0E3-7420-C74B-8C6D-BC51B824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2274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E61033C-2EAD-DF42-896C-CB61B1D49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8F112C4-541A-9B43-9AE5-E53ED8EBB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6599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8DDAD2-5AA1-A64B-BB03-C3E80A0E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2EF282-C0DB-174E-B2FE-4FC2ADEF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526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AD8B338-7C66-FC43-9A72-AD8CFEB5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21FCFD9-710E-2240-B81A-95B6FE9E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276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 A</a:t>
            </a:r>
          </a:p>
          <a:p>
            <a:pPr lvl="2"/>
            <a:r>
              <a:rPr lang="en-US" altLang="zh-TW" dirty="0"/>
              <a:t>docker run -p 80:80 -p 443:443 -p 43321:22 B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4116C43-41A5-5440-9160-6286CD34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FFB4494-B17E-B049-AF67-800720667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3831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DE210D3-E541-3F44-B9BB-4E3F5402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49820BDF-B9AE-1042-A613-9FED71B1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2207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67B7F2-6CB6-0B48-B8CB-9F529F5B4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65B3F4-4430-A840-B25D-85C776F5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5504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1D0D5C-CBFC-564A-8BD1-2CD51A20C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16AD9A9-2361-5F49-822A-5EF0F302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03884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 </a:t>
            </a:r>
            <a:r>
              <a:rPr kumimoji="1" lang="zh-TW" altLang="en-US" dirty="0"/>
              <a:t>比較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44DDB74E-E152-0BCA-84F2-EF0D02DA64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altLang="en-US" dirty="0">
                <a:solidFill>
                  <a:srgbClr val="00B0F0"/>
                </a:solidFill>
              </a:rPr>
              <a:t>優化後寫法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AA7856D-4A8F-DB90-7BBA-1AF8D430C1C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/>
              <a:t>FROM python:3</a:t>
            </a:r>
          </a:p>
          <a:p>
            <a:pPr marL="0" indent="0">
              <a:buNone/>
            </a:pPr>
            <a:r>
              <a:rPr lang="en-US" altLang="zh-TW" dirty="0"/>
              <a:t>WORKDIR /</a:t>
            </a:r>
            <a:r>
              <a:rPr lang="en-US" altLang="zh-TW" dirty="0" err="1"/>
              <a:t>usr</a:t>
            </a:r>
            <a:r>
              <a:rPr lang="en-US" altLang="zh-TW" dirty="0"/>
              <a:t>/</a:t>
            </a:r>
            <a:r>
              <a:rPr lang="en-US" altLang="zh-TW" dirty="0" err="1"/>
              <a:t>src</a:t>
            </a:r>
            <a:r>
              <a:rPr lang="en-US" altLang="zh-TW" dirty="0"/>
              <a:t>/app</a:t>
            </a:r>
          </a:p>
          <a:p>
            <a:pPr marL="0" indent="0">
              <a:buNone/>
            </a:pPr>
            <a:r>
              <a:rPr lang="en-US" altLang="zh-TW" dirty="0"/>
              <a:t>COPY </a:t>
            </a:r>
            <a:r>
              <a:rPr lang="en-US" altLang="zh-TW" dirty="0" err="1"/>
              <a:t>requirments.txt</a:t>
            </a:r>
            <a:r>
              <a:rPr lang="en-US" altLang="zh-TW" dirty="0"/>
              <a:t> .</a:t>
            </a:r>
          </a:p>
          <a:p>
            <a:pPr marL="0" indent="0">
              <a:buNone/>
            </a:pPr>
            <a:r>
              <a:rPr lang="en-US" altLang="zh-TW" dirty="0"/>
              <a:t>RUN pip install --no-cache-</a:t>
            </a:r>
            <a:r>
              <a:rPr lang="en-US" altLang="zh-TW" dirty="0" err="1"/>
              <a:t>dir</a:t>
            </a:r>
            <a:r>
              <a:rPr lang="en-US" altLang="zh-TW" dirty="0"/>
              <a:t> -r ./</a:t>
            </a:r>
            <a:r>
              <a:rPr lang="en-US" altLang="zh-TW" dirty="0" err="1"/>
              <a:t>requirements.txt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COPY . .</a:t>
            </a:r>
          </a:p>
          <a:p>
            <a:pPr marL="0" indent="0">
              <a:buNone/>
            </a:pPr>
            <a:r>
              <a:rPr lang="en-US" altLang="zh-TW" dirty="0"/>
              <a:t>CMD [ "python", "</a:t>
            </a:r>
            <a:r>
              <a:rPr lang="en-US" altLang="zh-TW" dirty="0" err="1"/>
              <a:t>api.py</a:t>
            </a:r>
            <a:r>
              <a:rPr lang="en-US" altLang="zh-TW" dirty="0"/>
              <a:t>"]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4F3231-70E6-B84A-86E1-CE35F70C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AC7AF9-E633-B04D-A44C-5652BFE42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25</a:t>
            </a:fld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檔案路徑：</a:t>
            </a:r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0262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A06021E-1DB1-39CA-28AA-3829501A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</a:t>
            </a:r>
            <a:r>
              <a:rPr lang="en-US" altLang="zh-TW" dirty="0" err="1"/>
              <a:t>nginx</a:t>
            </a:r>
            <a:endParaRPr lang="en-US" altLang="zh-TW" dirty="0"/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ECC0624-5042-2C1E-7A36-8150A2013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78A557-4A1D-164A-B37C-A5A949921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8020F-0A8C-5E48-94B0-60C9FC3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Hub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(Docker </a:t>
            </a:r>
            <a:r>
              <a:rPr lang="en-US" altLang="zh-TW" dirty="0"/>
              <a:t>Registries</a:t>
            </a:r>
            <a:r>
              <a:rPr kumimoji="1" lang="en-US" altLang="zh-Hant" dirty="0"/>
              <a:t>)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Container </a:t>
            </a:r>
            <a:r>
              <a:rPr kumimoji="1" lang="zh-CN" altLang="en-US" dirty="0"/>
              <a:t>的</a:t>
            </a:r>
            <a:r>
              <a:rPr kumimoji="1" lang="en-US" altLang="zh-CN" dirty="0"/>
              <a:t>GitHub</a:t>
            </a:r>
          </a:p>
          <a:p>
            <a:pPr lvl="1"/>
            <a:r>
              <a:rPr kumimoji="1" lang="en-US" altLang="zh-CN" dirty="0">
                <a:hlinkClick r:id="rId2"/>
              </a:rPr>
              <a:t>https://hub.docker.com/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可下載與上傳的</a:t>
            </a:r>
            <a:r>
              <a:rPr kumimoji="1" lang="en-US" altLang="zh-CN" dirty="0"/>
              <a:t>Container image.</a:t>
            </a:r>
          </a:p>
          <a:p>
            <a:pPr lvl="2"/>
            <a:r>
              <a:rPr kumimoji="1" lang="en-US" altLang="zh-CN" dirty="0"/>
              <a:t>Ex: FROM ubuntu:16.04</a:t>
            </a:r>
          </a:p>
          <a:p>
            <a:pPr lvl="3"/>
            <a:r>
              <a:rPr kumimoji="1" lang="zh-CN" altLang="en-US" dirty="0"/>
              <a:t>選用</a:t>
            </a:r>
            <a:r>
              <a:rPr kumimoji="1" lang="en-US" altLang="zh-CN" dirty="0"/>
              <a:t>ubuntu</a:t>
            </a:r>
            <a:r>
              <a:rPr kumimoji="1" lang="zh-CN" altLang="en-US" dirty="0"/>
              <a:t>官方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，並且指定</a:t>
            </a:r>
            <a:r>
              <a:rPr kumimoji="1" lang="en-US" altLang="zh-CN" dirty="0"/>
              <a:t>ubuntu16.04 </a:t>
            </a:r>
          </a:p>
          <a:p>
            <a:pPr lvl="3"/>
            <a:r>
              <a:rPr kumimoji="1" lang="zh-CN" altLang="en-US" dirty="0"/>
              <a:t>不指定系統自動安裝</a:t>
            </a:r>
            <a:r>
              <a:rPr kumimoji="1" lang="en-US" altLang="zh-CN" dirty="0" err="1"/>
              <a:t>Lastest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Ex: FROM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/nginx:v1.0.0</a:t>
            </a:r>
          </a:p>
          <a:p>
            <a:pPr lvl="3"/>
            <a:r>
              <a:rPr kumimoji="1" lang="zh-CN" altLang="en-US" dirty="0"/>
              <a:t>取得特定賬號</a:t>
            </a:r>
            <a:r>
              <a:rPr kumimoji="1" lang="en-US" altLang="zh-CN" dirty="0" err="1"/>
              <a:t>demoyuw</a:t>
            </a:r>
            <a:r>
              <a:rPr kumimoji="1" lang="zh-Hant" altLang="en-US" dirty="0"/>
              <a:t> </a:t>
            </a:r>
            <a:r>
              <a:rPr kumimoji="1" lang="zh-CN" altLang="en-US" dirty="0"/>
              <a:t>上傳</a:t>
            </a:r>
            <a:r>
              <a:rPr kumimoji="1" lang="zh-Hant" altLang="en-US" dirty="0"/>
              <a:t>的</a:t>
            </a:r>
            <a:r>
              <a:rPr kumimoji="1" lang="en-US" altLang="zh-Hant" dirty="0" err="1"/>
              <a:t>nginx</a:t>
            </a:r>
            <a:r>
              <a:rPr kumimoji="1" lang="zh-Hant" altLang="en-US" dirty="0"/>
              <a:t>，並指定使用</a:t>
            </a:r>
            <a:r>
              <a:rPr kumimoji="1" lang="en-US" altLang="zh-Hant" dirty="0"/>
              <a:t>v1.0.0</a:t>
            </a:r>
            <a:r>
              <a:rPr kumimoji="1" lang="zh-CN" altLang="en-US" dirty="0"/>
              <a:t>版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8D9835A-C2E4-9848-8EB5-0917A9A2D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3793981-34A1-7246-B6F8-A39939EF4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9031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032D2B-E1BA-7940-B230-893B5F884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BBEF51-C8B5-1642-A116-D13794C68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docker login</a:t>
            </a:r>
          </a:p>
          <a:p>
            <a:pPr lvl="1"/>
            <a:r>
              <a:rPr kumimoji="1" lang="zh-CN" altLang="en-US" dirty="0"/>
              <a:t>登入</a:t>
            </a:r>
            <a:r>
              <a:rPr kumimoji="1" lang="en-US" altLang="zh-CN" dirty="0"/>
              <a:t>docker hub</a:t>
            </a:r>
          </a:p>
          <a:p>
            <a:pPr lvl="1"/>
            <a:r>
              <a:rPr kumimoji="1" lang="zh-CN" altLang="en-US" dirty="0"/>
              <a:t>登入指定路徑</a:t>
            </a:r>
            <a:r>
              <a:rPr kumimoji="1" lang="en-US" altLang="zh-CN" dirty="0"/>
              <a:t>docker registry</a:t>
            </a:r>
          </a:p>
          <a:p>
            <a:pPr lvl="2"/>
            <a:r>
              <a:rPr kumimoji="1" lang="en-US" altLang="zh-CN" dirty="0"/>
              <a:t>ex: docker login </a:t>
            </a:r>
            <a:r>
              <a:rPr lang="en-US" altLang="zh-TW" b="1" dirty="0"/>
              <a:t>10.30.1.1 </a:t>
            </a:r>
          </a:p>
          <a:p>
            <a:r>
              <a:rPr kumimoji="1" lang="en-US" altLang="zh-CN" dirty="0"/>
              <a:t>docker logout</a:t>
            </a:r>
          </a:p>
          <a:p>
            <a:pPr lvl="1"/>
            <a:r>
              <a:rPr kumimoji="1" lang="zh-CN" altLang="en-US" dirty="0"/>
              <a:t>登出</a:t>
            </a:r>
            <a:endParaRPr kumimoji="1" lang="en-US" altLang="zh-CN" dirty="0"/>
          </a:p>
          <a:p>
            <a:r>
              <a:rPr kumimoji="1" lang="en-US" altLang="zh-CN" dirty="0"/>
              <a:t>docker push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/nginx:v1</a:t>
            </a:r>
          </a:p>
          <a:p>
            <a:pPr lvl="1"/>
            <a:r>
              <a:rPr kumimoji="1" lang="en-US" altLang="zh-CN" dirty="0"/>
              <a:t>Image </a:t>
            </a:r>
            <a:r>
              <a:rPr kumimoji="1" lang="zh-CN" altLang="en-US" dirty="0"/>
              <a:t>上傳</a:t>
            </a:r>
            <a:r>
              <a:rPr kumimoji="1" lang="en-US" altLang="zh-CN" dirty="0"/>
              <a:t> </a:t>
            </a:r>
          </a:p>
          <a:p>
            <a:r>
              <a:rPr kumimoji="1" lang="en-US" altLang="zh-CN" dirty="0"/>
              <a:t>docker pull </a:t>
            </a:r>
            <a:r>
              <a:rPr kumimoji="1" lang="en-US" altLang="zh-CN" dirty="0" err="1"/>
              <a:t>demoyuw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nginx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Image </a:t>
            </a:r>
            <a:r>
              <a:rPr kumimoji="1" lang="zh-CN" altLang="en-US" dirty="0"/>
              <a:t>下載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8883864-B35E-164B-A043-640B2836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05136B5-D89F-5E44-9A86-1348E6EF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8713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執行</a:t>
            </a:r>
            <a:endParaRPr kumimoji="1" lang="en-US" altLang="zh-TW" dirty="0"/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e.g.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</a:t>
            </a:r>
            <a:r>
              <a:rPr kumimoji="1" lang="en-US" altLang="zh-Hant" dirty="0"/>
              <a:t>flask:v0.1</a:t>
            </a:r>
            <a:endParaRPr kumimoji="1" lang="en-US" altLang="zh-TW" dirty="0"/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30C6001-DCD8-B644-9C64-2E81E8F6D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DA33729-D7DA-3F47-993A-74FB2367A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89755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01BC144-4CA1-4646-B232-4059D9A2B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7562E1-2411-824B-A9B3-3BF7C152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7553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TW" altLang="en-US" dirty="0"/>
              <a:t>重啟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restart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3E3DD2-C92D-F649-B17A-4092A92D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474A6B-41AA-2A4B-8011-544C8FDE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8494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E9AEBD-2371-084D-AE43-386CA26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EDA505-9CA6-C14B-87D2-0520CC27B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停止所有正在執行的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stop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</a:t>
            </a:r>
            <a:r>
              <a:rPr lang="en-US" altLang="zh-TW" dirty="0"/>
              <a:t> $(docker </a:t>
            </a:r>
            <a:r>
              <a:rPr lang="en-US" altLang="zh-TW" dirty="0" err="1"/>
              <a:t>ps</a:t>
            </a:r>
            <a:r>
              <a:rPr lang="en-US" altLang="zh-TW" dirty="0"/>
              <a:t> -a -q)</a:t>
            </a:r>
          </a:p>
          <a:p>
            <a:r>
              <a:rPr lang="zh-CN" altLang="en-US" dirty="0"/>
              <a:t>刪除所有</a:t>
            </a:r>
            <a:r>
              <a:rPr lang="en-US" altLang="zh-CN" dirty="0"/>
              <a:t>Container image</a:t>
            </a:r>
            <a:endParaRPr lang="en-US" altLang="zh-TW" dirty="0"/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$(docker images -q)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74D323-FEB8-4D4E-B531-D92C2A862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59A24B-7AD1-4346-8B62-769F17AF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3042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在</a:t>
            </a:r>
            <a:r>
              <a:rPr kumimoji="1" lang="en-US" altLang="zh-CN" dirty="0"/>
              <a:t>Container</a:t>
            </a:r>
            <a:r>
              <a:rPr kumimoji="1" lang="zh-TW" altLang="en-US" dirty="0"/>
              <a:t> 內執行</a:t>
            </a:r>
            <a:r>
              <a:rPr kumimoji="1" lang="en-US" altLang="zh-TW" dirty="0"/>
              <a:t>command</a:t>
            </a:r>
            <a:endParaRPr kumimoji="1" lang="en-US" altLang="zh-CN" dirty="0"/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在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r>
              <a:rPr lang="en-US" altLang="zh-CN" dirty="0"/>
              <a:t>/bin/bash</a:t>
            </a:r>
            <a:r>
              <a:rPr lang="zh-TW" altLang="en-US" dirty="0"/>
              <a:t> 提供互動環境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`ls</a:t>
            </a:r>
            <a:r>
              <a:rPr kumimoji="1" lang="zh-TW" altLang="en-US" dirty="0"/>
              <a:t> </a:t>
            </a:r>
            <a:r>
              <a:rPr kumimoji="1" lang="en-US" altLang="zh-TW" dirty="0"/>
              <a:t>/ ` command</a:t>
            </a:r>
            <a:r>
              <a:rPr kumimoji="1" lang="zh-CN" altLang="en-US" dirty="0"/>
              <a:t>，並</a:t>
            </a:r>
            <a:r>
              <a:rPr kumimoji="1" lang="en-US" altLang="zh-CN" dirty="0"/>
              <a:t>print output</a:t>
            </a:r>
            <a:endParaRPr kumimoji="1" lang="en-US" altLang="zh-TW" dirty="0"/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</a:t>
            </a:r>
            <a:r>
              <a:rPr kumimoji="1" lang="en-US" altLang="zh-TW" dirty="0"/>
              <a:t>and </a:t>
            </a:r>
            <a:r>
              <a:rPr kumimoji="1" lang="en-US" altLang="zh-CN" dirty="0"/>
              <a:t>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docker 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Container detail(</a:t>
            </a:r>
            <a:r>
              <a:rPr kumimoji="1" lang="zh-TW" altLang="en-US" dirty="0"/>
              <a:t>查詢</a:t>
            </a:r>
            <a:r>
              <a:rPr kumimoji="1" lang="en-US" altLang="zh-TW" dirty="0"/>
              <a:t>container</a:t>
            </a:r>
            <a:r>
              <a:rPr kumimoji="1" lang="zh-TW" altLang="en-US" dirty="0"/>
              <a:t> 詳細</a:t>
            </a:r>
            <a:r>
              <a:rPr kumimoji="1" lang="zh-CN" altLang="en-US" dirty="0"/>
              <a:t>設定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ED1F591-09A4-224E-92DA-A3E33AA61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63CE5B8-37C0-8D4A-A73C-420D4119A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8587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TW" altLang="en-US" dirty="0"/>
              <a:t>可以設計</a:t>
            </a:r>
            <a:r>
              <a:rPr kumimoji="1" lang="zh-CN" altLang="en-US" dirty="0"/>
              <a:t>多個</a:t>
            </a:r>
            <a:r>
              <a:rPr kumimoji="1" lang="en-US" altLang="zh-CN" dirty="0"/>
              <a:t>stages</a:t>
            </a:r>
          </a:p>
          <a:p>
            <a:r>
              <a:rPr kumimoji="1" lang="zh-CN" altLang="en-US" dirty="0"/>
              <a:t>常見的為編譯</a:t>
            </a:r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，運行</a:t>
            </a:r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stage</a:t>
            </a:r>
          </a:p>
          <a:p>
            <a:r>
              <a:rPr kumimoji="1" lang="zh-CN" altLang="en-US" dirty="0"/>
              <a:t>後執行的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先執行</a:t>
            </a:r>
            <a:r>
              <a:rPr kumimoji="1" lang="en-US" altLang="zh-CN" dirty="0"/>
              <a:t>stage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F0A25E-FA0E-7248-AFCD-2CA29C3C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0792C11-ECD2-6047-B6F3-7F01577C8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24505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>
                <a:latin typeface="+mj-lt"/>
              </a:rPr>
              <a:t>FROM </a:t>
            </a:r>
            <a:r>
              <a:rPr kumimoji="1" lang="en-US" altLang="zh-TW" dirty="0" err="1">
                <a:latin typeface="+mj-lt"/>
              </a:rPr>
              <a:t>gradle</a:t>
            </a:r>
            <a:r>
              <a:rPr kumimoji="1" lang="en-US" altLang="zh-TW" dirty="0">
                <a:latin typeface="+mj-lt"/>
              </a:rPr>
              <a:t>:</a:t>
            </a:r>
            <a:r>
              <a:rPr lang="en" altLang="zh-TW" b="0" i="0" dirty="0">
                <a:solidFill>
                  <a:srgbClr val="1F2328"/>
                </a:solidFill>
                <a:effectLst/>
                <a:latin typeface="+mj-lt"/>
              </a:rPr>
              <a:t>7.6.0-jdk8</a:t>
            </a:r>
            <a:r>
              <a:rPr kumimoji="1" lang="en-US" altLang="zh-TW" dirty="0">
                <a:latin typeface="+mj-lt"/>
              </a:rPr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/>
              <a:t>FROM eclipse-temurin:8-jdk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329A227-18E0-844A-A530-D103F0B40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8FF4D18-F835-9B4A-A931-0C235670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36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781044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and Run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建置</a:t>
            </a:r>
            <a:r>
              <a:rPr kumimoji="1" lang="en-US" altLang="zh-TW" dirty="0"/>
              <a:t>image</a:t>
            </a:r>
          </a:p>
          <a:p>
            <a:pPr lvl="1"/>
            <a:r>
              <a:rPr kumimoji="1" lang="en-US" altLang="zh-TW" dirty="0"/>
              <a:t>docker build . -t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r>
              <a:rPr kumimoji="1" lang="zh-TW" altLang="en-US" dirty="0"/>
              <a:t>運行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r>
              <a:rPr kumimoji="1" lang="zh-TW" altLang="en-US" dirty="0"/>
              <a:t>檢查狀態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6D572F3-BC95-D657-6498-A26835115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099F4F-0FB2-8481-F4E5-F3274DDE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38976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BB45B9B-7CB2-8A55-1614-C400CB00E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D3F45C-9F7D-6775-D04C-4A3B8802D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259575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CMD ["nginx", "-g", "daemon off;"]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AAA29D1-91B0-9D40-95AB-F13EA3825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BEC9862-16D6-9F4C-B689-636DBB0AC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39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k8s/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16414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28D6A-D279-FD4C-8574-7EBCBC5EB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None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8810C4-E9B2-394B-8263-C998D148F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None network</a:t>
            </a:r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--net=none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--net=none -p 80:80 --name ubuntu16-none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2"/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C2BB48-B0AD-E848-A86B-431AE05C7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E5ED1DB-D2EE-0943-98A7-CE380ADF4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5261557-EA26-9242-995B-BFB0910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33" y="4628364"/>
            <a:ext cx="10767933" cy="2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8072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B67A7F-EE99-A948-9EEC-46706C1D2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Container 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69BCDA-3DCE-C441-AEBE-74462B90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 network</a:t>
            </a:r>
          </a:p>
          <a:p>
            <a:pPr lvl="1"/>
            <a:r>
              <a:rPr kumimoji="1" lang="en-US" altLang="zh-TW" dirty="0"/>
              <a:t>docker run -it --net=container:{container name}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--name ubuntu16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--net=container:ubuntu16 --name ubuntu16-container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E61464-26D1-8248-8F46-9A1377A0B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6086FF6-4299-0B42-8CCD-1CE614089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3436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5D55CA-2A51-9C43-BE63-6996E6FA4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Container 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0EBCA00-8820-C343-9EC4-918BECCB09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0" y="1553102"/>
            <a:ext cx="8487167" cy="2789321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FCA3B21-A6ED-924D-936F-EE300100C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F0AF20-EFD8-FB4B-AFFA-1193400FF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42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EA8F560-7A59-2B4C-AEA8-6AEF4C856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620" y="4351301"/>
            <a:ext cx="8793708" cy="2515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66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514E9A-E205-D04B-9DA2-B2F147698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Host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296C35-5D19-384F-9B18-E566E02B5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Host network</a:t>
            </a:r>
          </a:p>
          <a:p>
            <a:pPr lvl="1"/>
            <a:r>
              <a:rPr kumimoji="1" lang="en-US" altLang="zh-TW" dirty="0"/>
              <a:t>docker run -it --net=host</a:t>
            </a:r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--net=host --name ubuntu16-host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</a:p>
          <a:p>
            <a:pPr lvl="1"/>
            <a:r>
              <a:rPr kumimoji="1" lang="zh-TW" altLang="en-US" dirty="0"/>
              <a:t>網路設定與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相同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D701DD-619B-0143-828F-E1FDAC51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A6348A8-0498-AC43-B17D-7CAFD07A4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47743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D66F7-1E9C-104F-951E-6DB85195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Host</a:t>
            </a:r>
            <a:r>
              <a:rPr kumimoji="1" lang="zh-TW" altLang="en-US" dirty="0"/>
              <a:t> </a:t>
            </a:r>
            <a:r>
              <a:rPr kumimoji="1" lang="en-US" altLang="zh-TW" dirty="0"/>
              <a:t>-2</a:t>
            </a:r>
            <a:endParaRPr kumimoji="1" lang="zh-TW" altLang="en-US" dirty="0"/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C8A670E7-32D7-F740-91C3-A7C191D6C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Container host network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DECA8BCA-E419-3A48-A4B6-6036BEDFE2B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16961" y="2822785"/>
            <a:ext cx="5282139" cy="2676283"/>
          </a:xfrm>
          <a:prstGeom prst="rect">
            <a:avLst/>
          </a:prstGeom>
        </p:spPr>
      </p:pic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2142A496-3BDB-8243-AF08-AE0DF1CE0D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kumimoji="1" lang="en-US" altLang="zh-TW" dirty="0"/>
              <a:t>Node network</a:t>
            </a:r>
            <a:endParaRPr kumimoji="1" lang="zh-TW" altLang="en-US" dirty="0"/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95A912B1-D0E3-DA45-B47C-E0F81C060C2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654674" y="2822785"/>
            <a:ext cx="5653101" cy="2556723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165916F-F6B8-484A-9436-7B0B36A6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661FA-17C4-B64A-B1D6-F5E19596F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417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806451-A6EE-C24E-84A8-9A342302D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network - Bridge(default)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872757B-865C-E846-87A3-953B650E2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Bridge network</a:t>
            </a:r>
          </a:p>
          <a:p>
            <a:pPr lvl="1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Ex:</a:t>
            </a:r>
          </a:p>
          <a:p>
            <a:pPr lvl="2"/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--name ubuntu16-host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/ubuntu16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E9555A-535D-5149-96D6-4CA7E934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7F4316-1AC0-5746-8A63-97D2E4660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11445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ED579C24-F3E8-5D43-BA73-5126871BC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D18EDA71-EE6F-1642-B064-0D525051A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86383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Docker 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13F3F514-F443-4944-8A25-5092738F7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D9AD21B-ABE0-684D-9EF5-D557506E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47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707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53B904-FC86-0848-ABB8-1321DE7A5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架構圖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E6C4F333-CECA-5141-BFF8-1619CD0615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9760" y="1218115"/>
            <a:ext cx="7621073" cy="556250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943F7C6-99D2-4E4F-856E-8E139226D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8024DBA-1641-9543-95EB-B17A86ADA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109901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49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58DA95F-3CD5-0D0A-CE9D-1B5F1E8C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F4CBD8-9FCE-DE41-9A41-A3E09DBBE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74C6C28-02FD-F84B-AE65-71727FA59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50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7720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D6846B0-8D8D-4B48-9730-4C5CDDB3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5951B8CF-863C-4141-8672-C11ECD428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822996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 value </a:t>
            </a:r>
            <a:r>
              <a:rPr kumimoji="1" lang="zh-CN" altLang="en-US" dirty="0"/>
              <a:t>標籤，用以選擇元件以及供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進行資源間綁定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29A10D0-7617-AB43-B49D-3D1C110FE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E835BEBE-D031-D34C-B9F1-1BECA34FA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1729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6F758C94-DDDF-4043-ACC4-56024A170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311B0E9-997A-2543-8607-4F597D0E0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9471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E2C42B2-DD6E-7B4F-88B8-63049051A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C44117B-54DF-154F-8E19-A50BBA02B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13291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3C9FA8-34AA-FF41-B6C8-E4288144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3557B8-2194-3441-9744-828A00D24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8493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3B06A7-69B4-DF4E-9D63-E835B8C4D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-1 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E718941-E63E-DD46-9D31-EE1B8DD423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859395" y="1825625"/>
            <a:ext cx="8473210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E2F1BE-FCA5-014F-A8E8-D568958AE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6F0CD34-D332-7446-8618-BA1FF690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16572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500983-A584-9148-B4C6-DC5911BB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- 2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6D6945A9-5797-B446-A843-E8AFEB1B3A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110701" y="1825625"/>
            <a:ext cx="7970598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46D44A-497D-9545-92F8-4FD485C4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60D5AE-60B2-AD4A-84A0-BE4DEB49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970657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8A50B0-4302-0048-8552-92DF494EB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藍綠部署</a:t>
            </a:r>
            <a:r>
              <a:rPr kumimoji="1" lang="zh-TW" altLang="en-US" dirty="0"/>
              <a:t> </a:t>
            </a:r>
            <a:r>
              <a:rPr kumimoji="1" lang="en-US" altLang="zh-TW" dirty="0"/>
              <a:t>- 3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BA86A795-3C6D-834F-AD01-3450552F02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137488" y="1825625"/>
            <a:ext cx="391702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D9A15A-D42A-DD42-B1C8-B53EC819D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323439-90D4-7C4C-87CD-3FE95985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034741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6FB308-E185-4248-9BE9-4B1F2D17A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8AD0E18-16F1-4246-92E6-931CD8A30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214409" y="1825625"/>
            <a:ext cx="7763182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50A6DD-AFDB-5343-AFCD-B5E8BC34F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158459-04B8-C045-A5E3-AC6D83F4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59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593407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E0D72E-2725-ED45-BE85-09C24C15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0943F1CF-7D0F-9F41-B767-BE967D0AC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491478" y="1825625"/>
            <a:ext cx="9209044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1492BCE-BECF-4542-943E-53D87F6D1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93BA9A-7DA8-5142-B5CB-D836A5B1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547403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75EBE3-3B4C-4E47-B755-6AFFDA626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- 3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8E730AA-8B7E-FD41-9EFE-45B12F6C0A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518563" y="1825625"/>
            <a:ext cx="915487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037641-C040-F246-BBC2-D7783A834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2C10ABD-FA82-154C-9D7E-486929F1A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21072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93920A-CCA6-5C48-B690-FCF5A9AD0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A/B</a:t>
            </a:r>
            <a:r>
              <a:rPr kumimoji="1" lang="zh-CN" altLang="en-US" dirty="0"/>
              <a:t>測試</a:t>
            </a:r>
            <a:r>
              <a:rPr kumimoji="1" lang="en-US" altLang="zh-CN" dirty="0"/>
              <a:t>- 4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471BEEA-EA33-9B46-A279-9D415D1D0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1575678" y="1825625"/>
            <a:ext cx="9040644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5625FA5-B2E7-8940-A358-DBB6B3D09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58E0349-9106-4D4E-A525-6259F224A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0152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D68356-AF74-BA4D-80D8-E8623EA6E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Two Service to one deployment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84D0EF0-2EAF-E14C-9AA2-B8FE626075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571808" y="1825625"/>
            <a:ext cx="7048383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B58A65-C10B-4E45-B243-64495286E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90A7F4-8163-3D40-BF0C-B3B039924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85360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5BE9F31-6D17-9C4F-BAED-E24FD6F9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1537782F-A4E6-F747-90F3-EAC5EF45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68259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033733B4-A504-0949-AF09-E9564156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7555AAA-939C-9B43-9665-FE9787F7E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679961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DDEB5B02-4A02-2C46-95D9-6812F294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9CB45192-712E-9C4B-A767-B248641A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538210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708507-0B60-A347-94B9-8AE929ADF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network module - Flannel (Overlay network)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53B4FFC6-7AFB-CB4D-B1DD-4CFAE0D11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40" y="2052918"/>
            <a:ext cx="4245159" cy="4195481"/>
          </a:xfrm>
        </p:spPr>
        <p:txBody>
          <a:bodyPr/>
          <a:lstStyle/>
          <a:p>
            <a:r>
              <a:rPr kumimoji="1" lang="en-US" altLang="zh-TW" dirty="0" err="1"/>
              <a:t>Coreos</a:t>
            </a:r>
            <a:r>
              <a:rPr kumimoji="1" lang="en-US" altLang="zh-TW" dirty="0"/>
              <a:t> project </a:t>
            </a:r>
          </a:p>
          <a:p>
            <a:r>
              <a:rPr kumimoji="1" lang="zh-TW" altLang="en-US" dirty="0"/>
              <a:t>簡化的</a:t>
            </a:r>
            <a:r>
              <a:rPr kumimoji="1" lang="en-US" altLang="zh-TW" dirty="0"/>
              <a:t>layer 3</a:t>
            </a:r>
            <a:r>
              <a:rPr kumimoji="1" lang="zh-CN" altLang="en-US" dirty="0"/>
              <a:t>層網路</a:t>
            </a:r>
            <a:endParaRPr kumimoji="1" lang="en-US" altLang="zh-CN" dirty="0"/>
          </a:p>
          <a:p>
            <a:r>
              <a:rPr kumimoji="1" lang="zh-CN" altLang="en-US" dirty="0"/>
              <a:t>全部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皆在同個內網</a:t>
            </a:r>
            <a:endParaRPr kumimoji="1" lang="en-US" altLang="zh-CN" dirty="0"/>
          </a:p>
          <a:p>
            <a:r>
              <a:rPr kumimoji="1" lang="zh-CN" altLang="en-US" dirty="0"/>
              <a:t>不支援</a:t>
            </a:r>
            <a:r>
              <a:rPr kumimoji="1" lang="en-US" altLang="zh-CN" dirty="0"/>
              <a:t>Network Policy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A0B81A3-5E3B-8841-9C20-687BF84E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3BA594-FF11-9A4F-8387-B34E94D0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67</a:t>
            </a:fld>
            <a:endParaRPr kumimoji="1"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D43B8EC-9EE9-6145-BA6D-7DCB80BD7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699" y="1563915"/>
            <a:ext cx="6963641" cy="480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6579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51C2C-7A34-9340-8EBD-C82888DE8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network module - Calico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3E60E2-0D6C-2748-8EE9-05A16CE2A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5533015" cy="4195481"/>
          </a:xfrm>
        </p:spPr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TW" dirty="0"/>
              <a:t>iptables</a:t>
            </a:r>
            <a:r>
              <a:rPr kumimoji="1" lang="zh-TW" altLang="en-US" dirty="0"/>
              <a:t> </a:t>
            </a:r>
            <a:r>
              <a:rPr kumimoji="1" lang="en-US" altLang="zh-TW" dirty="0"/>
              <a:t>forward</a:t>
            </a:r>
            <a:endParaRPr kumimoji="1" lang="en-US" altLang="zh-CN" dirty="0"/>
          </a:p>
          <a:p>
            <a:r>
              <a:rPr kumimoji="1" lang="zh-CN" altLang="en-US" dirty="0"/>
              <a:t>可建立</a:t>
            </a:r>
            <a:r>
              <a:rPr kumimoji="1" lang="zh-TW" altLang="en-US" dirty="0"/>
              <a:t>軟體防火牆，在</a:t>
            </a:r>
            <a:r>
              <a:rPr kumimoji="1" lang="en-US" altLang="zh-TW" dirty="0"/>
              <a:t>network policy </a:t>
            </a:r>
            <a:r>
              <a:rPr kumimoji="1" lang="zh-CN" altLang="en-US" dirty="0"/>
              <a:t>設定</a:t>
            </a:r>
            <a:r>
              <a:rPr kumimoji="1" lang="en-US" altLang="zh-CN" dirty="0"/>
              <a:t>ingress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 Egress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CF549F-F4DF-1A47-ABB6-95FC51E22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4D5118-12DF-1948-BD39-608A302B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55050-C188-7745-A23F-761486600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456" y="1317447"/>
            <a:ext cx="5216544" cy="554055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589CE91-D02F-B849-97B7-D9F956406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12" y="4246039"/>
            <a:ext cx="4024438" cy="2611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9677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command on VM1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9DFB808-E878-6242-A0ED-7FDE06A30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EE48982-7315-6643-BAFD-EF3910B0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69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577759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BF62F8-EAAB-6069-105D-555EEDE4B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</a:t>
            </a:r>
            <a:r>
              <a:rPr kumimoji="1" lang="zh-TW" altLang="en-US" dirty="0"/>
              <a:t>指令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86A926-ABAB-8826-DE12-58CFAA10D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kubectl</a:t>
            </a:r>
            <a:r>
              <a:rPr kumimoji="1" lang="en" altLang="zh-TW" dirty="0"/>
              <a:t> version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CF0179-F9BE-D792-5A32-7A08D1ABB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8AA35E-7073-FB4E-3FAF-F6470C897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789068E-B372-5B95-1550-B2C24FC7D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01" y="2681554"/>
            <a:ext cx="11687022" cy="1500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16668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9D12F2D6-5135-7647-BBD7-7CB2EAE1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236B877B-EAB8-3242-BDAA-17A82771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9746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343D3C2-379C-CC48-B33E-66F989D5C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962720A-CC44-804D-9D96-3FAF3664B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AA85885-98E7-8B5F-01E6-F9C07264F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7747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/k8s/script/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9C076C-E860-924A-9290-87BFEF89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029A26C-81C8-F444-9147-B446A206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633430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73B3260A-7E5C-3E4E-9969-B84F0472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400D4600-2640-D747-BB57-B3F8C60E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74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0D934D22-9288-B1FA-CEB2-31B38D80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078" y="1981086"/>
            <a:ext cx="11785922" cy="1570377"/>
          </a:xfrm>
        </p:spPr>
      </p:pic>
    </p:spTree>
    <p:extLst>
      <p:ext uri="{BB962C8B-B14F-4D97-AF65-F5344CB8AC3E}">
        <p14:creationId xmlns:p14="http://schemas.microsoft.com/office/powerpoint/2010/main" val="31821705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C5FC3B-9AA0-B784-9CD8-FA73A364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3A96E86-4200-6918-6477-E774838F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91FF842-9415-1940-B9F6-FE4B9EAC1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84E373-913B-4C4D-A260-7489C038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77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457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326662-0BA9-C047-8E61-4BB01A9A5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63A571-7AAC-6541-A5DE-832643F3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78</a:t>
            </a:fld>
            <a:endParaRPr kumimoji="1" lang="zh-TW" altLang="en-US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46DA521-D8DF-38E0-2E52-D4BA874F4430}"/>
              </a:ext>
            </a:extLst>
          </p:cNvPr>
          <p:cNvSpPr txBox="1"/>
          <p:nvPr/>
        </p:nvSpPr>
        <p:spPr>
          <a:xfrm>
            <a:off x="8815227" y="3811712"/>
            <a:ext cx="2270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密碼要記下來啊</a:t>
            </a:r>
          </a:p>
        </p:txBody>
      </p:sp>
    </p:spTree>
    <p:extLst>
      <p:ext uri="{BB962C8B-B14F-4D97-AF65-F5344CB8AC3E}">
        <p14:creationId xmlns:p14="http://schemas.microsoft.com/office/powerpoint/2010/main" val="292822825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C5A4C5B-EC51-D743-9DF0-5EF73F47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94E0A11F-67F8-1641-88E7-DCDA5F2AB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79</a:t>
            </a:fld>
            <a:endParaRPr kumimoji="1" lang="zh-TW" altLang="en-US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</p:spTree>
    <p:extLst>
      <p:ext uri="{BB962C8B-B14F-4D97-AF65-F5344CB8AC3E}">
        <p14:creationId xmlns:p14="http://schemas.microsoft.com/office/powerpoint/2010/main" val="40969327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Custom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F12966A-F79A-BD4A-9E63-8EDD89C3E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48F0C9D-7010-C44D-85CB-82A97C43F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80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A278A368-AA4F-50DD-2479-962312E21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7323" y="1825625"/>
            <a:ext cx="8937354" cy="4351338"/>
          </a:xfrm>
        </p:spPr>
      </p:pic>
    </p:spTree>
    <p:extLst>
      <p:ext uri="{BB962C8B-B14F-4D97-AF65-F5344CB8AC3E}">
        <p14:creationId xmlns:p14="http://schemas.microsoft.com/office/powerpoint/2010/main" val="176029075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995133B2-0129-494F-9B49-84EDD87E4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5DF8BD3-7306-E840-AEB5-6F72B656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81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A3A9282-C976-4A64-AA32-E0BBF517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944" y="1825625"/>
            <a:ext cx="8674111" cy="4351338"/>
          </a:xfrm>
        </p:spPr>
      </p:pic>
    </p:spTree>
    <p:extLst>
      <p:ext uri="{BB962C8B-B14F-4D97-AF65-F5344CB8AC3E}">
        <p14:creationId xmlns:p14="http://schemas.microsoft.com/office/powerpoint/2010/main" val="18453046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command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B6EFFB4F-2BEB-4A48-B1DE-1EFE144F7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483ACBB-B839-A143-BA6A-1CC454C8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82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9C641313-A113-3DC1-E147-C5BF32A258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0798" y="1825625"/>
            <a:ext cx="7830403" cy="4351338"/>
          </a:xfrm>
        </p:spPr>
      </p:pic>
    </p:spTree>
    <p:extLst>
      <p:ext uri="{BB962C8B-B14F-4D97-AF65-F5344CB8AC3E}">
        <p14:creationId xmlns:p14="http://schemas.microsoft.com/office/powerpoint/2010/main" val="44402230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E162D2-1CB2-2300-25E6-AA08FC3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VM2</a:t>
            </a:r>
            <a:r>
              <a:rPr kumimoji="1" lang="zh-TW" altLang="en-US" dirty="0"/>
              <a:t>上執行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EA988FD-C692-F3EA-7DCC-53BB3CAA0B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3653"/>
            <a:ext cx="10515600" cy="4115282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4DB5FC-1749-4B7C-6F01-E6D38BEA9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E02504-5EE8-1631-4186-3D58C0DA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938984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40E14-6FDD-E443-EBDA-31DFD6B7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進度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BF6C70-D5AF-21E3-1950-FEB4D0DD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檢查</a:t>
            </a:r>
            <a:r>
              <a:rPr lang="en-US" altLang="zh-TW" dirty="0" err="1"/>
              <a:t>agenet</a:t>
            </a:r>
            <a:r>
              <a:rPr lang="en-US" altLang="zh-TW" dirty="0"/>
              <a:t> service </a:t>
            </a:r>
            <a:r>
              <a:rPr lang="zh-TW" altLang="en-US" dirty="0"/>
              <a:t>運作有正常啟動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systemctl</a:t>
            </a:r>
            <a:r>
              <a:rPr lang="en" altLang="zh-TW" dirty="0">
                <a:effectLst/>
              </a:rPr>
              <a:t> status rancher-system-agent</a:t>
            </a:r>
          </a:p>
          <a:p>
            <a:pPr lvl="1"/>
            <a:endParaRPr lang="en" altLang="zh-TW" dirty="0">
              <a:effectLst/>
            </a:endParaRPr>
          </a:p>
          <a:p>
            <a:pPr lvl="1"/>
            <a:endParaRPr lang="en" altLang="zh-TW" dirty="0">
              <a:effectLst/>
            </a:endParaRPr>
          </a:p>
          <a:p>
            <a:pPr marL="0" indent="0">
              <a:buNone/>
            </a:pPr>
            <a:endParaRPr lang="en" altLang="zh-TW" dirty="0"/>
          </a:p>
          <a:p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agent log</a:t>
            </a:r>
            <a:endParaRPr lang="en" altLang="zh-TW" dirty="0">
              <a:effectLst/>
            </a:endParaRPr>
          </a:p>
          <a:p>
            <a:pPr lvl="1"/>
            <a:r>
              <a:rPr lang="en" altLang="zh-TW" dirty="0" err="1">
                <a:effectLst/>
              </a:rPr>
              <a:t>sudo</a:t>
            </a:r>
            <a:r>
              <a:rPr lang="en" altLang="zh-TW" dirty="0">
                <a:effectLst/>
              </a:rPr>
              <a:t> </a:t>
            </a:r>
            <a:r>
              <a:rPr lang="en" altLang="zh-TW" dirty="0" err="1">
                <a:effectLst/>
              </a:rPr>
              <a:t>journalctl</a:t>
            </a:r>
            <a:r>
              <a:rPr lang="en" altLang="zh-TW" dirty="0">
                <a:effectLst/>
              </a:rPr>
              <a:t> -u rancher-system-agent -f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FDDE1-CAEF-EBE3-EEC6-0917E84B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368FF2F-E98F-4AD2-9200-BFD45579F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992" y="2628182"/>
            <a:ext cx="5129676" cy="144158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88170B7-AB99-8274-001A-56A4EFF4D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30" y="5044690"/>
            <a:ext cx="7772400" cy="1311660"/>
          </a:xfrm>
          <a:prstGeom prst="rect">
            <a:avLst/>
          </a:prstGeo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36E01A1-D32D-6E62-44C7-ABB781F67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1880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520A6C-28CF-EB2D-8BB8-4E7C400E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安裝</a:t>
            </a:r>
            <a:r>
              <a:rPr kumimoji="1" lang="en-US" altLang="zh-TW" dirty="0" err="1"/>
              <a:t>kubernetes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5BD610A0-6B77-F314-AE76-DC8D43DB6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7582" y="2680707"/>
            <a:ext cx="8564310" cy="286441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3BC828-EB5A-46DC-63F6-681408C19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5310E4B-D363-7D49-5857-9B9D7C926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11519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B8AA87-312F-C942-9334-1A3D52AE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26F2379-05A0-F14A-82DA-14AD8A36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86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ABCFB2C-D970-5A48-8F64-D87ECB4B2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72704"/>
            <a:ext cx="10515600" cy="305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6283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824DC0-2006-E54A-85C2-B9CE2E8AE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6A72F5DA-7693-7748-B953-62E667C23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87</a:t>
            </a:fld>
            <a:endParaRPr kumimoji="1" lang="zh-TW" altLang="en-US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870BAFE-8029-DA46-AC9F-0307F584EF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047"/>
            <a:ext cx="10515600" cy="411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09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F39B4-0228-4C4C-B5E4-C57BAFA14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4CE738-5E7B-CD44-A97B-DC5878C9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88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25625"/>
            <a:ext cx="817265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148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FF604AE3-CF3B-A64C-934D-05DD1958B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9E2530EA-3169-5145-975A-B219DB40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89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0109352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0A0178-CA02-41CA-E775-716A3DE04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998DF0-0765-FB4C-805D-B4C158B72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BC47C4-DE6E-024E-9BD5-8673F2C16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81108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C978A1-9037-E64B-976A-92DB3B22A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C73431BD-E6AC-7746-9BDF-77EDED3E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92</a:t>
            </a:fld>
            <a:endParaRPr kumimoji="1" lang="zh-TW" altLang="en-US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>
                <a:latin typeface="Times New Roman" panose="02020603050405020304" pitchFamily="18" charset="0"/>
              </a:rPr>
              <a:t>k8s/pods/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~/k8s/pods/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3F943A1-094B-1CD7-D820-587A80274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3697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600DADC-AEFE-254E-9B03-73C19EE9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2BC1FC1-1B86-BC4D-B3CA-E4B73F9E9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94</a:t>
            </a:fld>
            <a:endParaRPr kumimoji="1"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13564893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84C64DD-B41C-554D-9D60-3B82BB680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CD27030-FA46-9B4C-B996-1EB604488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1555648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3633F9A-DB52-EA62-3154-0A37FEB4D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Apply deployment </a:t>
            </a:r>
            <a:r>
              <a:rPr lang="en-US" altLang="zh-TW" dirty="0" err="1"/>
              <a:t>yaml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Apply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k8s/</a:t>
            </a:r>
            <a:r>
              <a:rPr kumimoji="1" lang="en-US" altLang="zh-TW" dirty="0">
                <a:latin typeface="Times New Roman" panose="02020603050405020304" pitchFamily="18" charset="0"/>
              </a:rPr>
              <a:t>deployment/nginx/nginx-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deploy.yaml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get deployment</a:t>
            </a:r>
          </a:p>
          <a:p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FA2181B-3CB6-9E4F-E53A-0455A4CDB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252451-A45D-71AE-8769-0CF29355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F9C01524-0EFB-9446-B2E2-607150CA5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433B6B56-5B34-E246-944E-905C29DF9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98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50444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F0AE06A0-1F88-7547-A1E6-0E833EAE3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DCBBD755-31F5-2C42-9FC8-8E0AAC1C2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99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4821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2E18D6-8B36-2B49-9FB7-97EAD2300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BC8846-5B1C-AC42-A3B8-E8BCC383C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6445492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581400" y="1573477"/>
            <a:ext cx="8089900" cy="1282700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495A3559-F0BA-3747-82B7-4AB909FC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69F73E5D-7D6E-1049-A92D-52E48652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101</a:t>
            </a:fld>
            <a:endParaRPr kumimoji="1" lang="zh-TW" altLang="en-US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</p:spTree>
    <p:extLst>
      <p:ext uri="{BB962C8B-B14F-4D97-AF65-F5344CB8AC3E}">
        <p14:creationId xmlns:p14="http://schemas.microsoft.com/office/powerpoint/2010/main" val="29461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A62FEE-5432-DE44-876C-9D1DFA287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2FF93B4-D13D-9C4D-BD0D-7B6FAEE94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47648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8C0F005-34D0-A847-90BF-82DC7AA48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-1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5DCF1AC3-91E4-AC49-8280-1C09315259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850" y="1905794"/>
            <a:ext cx="4178300" cy="4191000"/>
          </a:xfrm>
        </p:spPr>
      </p:pic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BD81A99-9177-F74A-8DB0-7483E64A7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DD6943-F383-EB44-8119-1B335D4E3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103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AF9A1C9-426D-A34D-8E91-9D7015177794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deployment/backend/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backend.yaml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304510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C83026-2835-0348-BFCE-A3E6858C1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D17AD3-E2EB-FA4A-911F-66642BEC8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CPU</a:t>
            </a:r>
          </a:p>
          <a:p>
            <a:pPr lvl="1"/>
            <a:r>
              <a:rPr lang="zh-TW" altLang="en-US" dirty="0"/>
              <a:t>預設</a:t>
            </a:r>
            <a:r>
              <a:rPr lang="en-US" altLang="zh-TW" dirty="0"/>
              <a:t>CPU</a:t>
            </a:r>
            <a:r>
              <a:rPr lang="zh-TW" altLang="en-US" dirty="0"/>
              <a:t>值 </a:t>
            </a:r>
            <a:r>
              <a:rPr lang="en-US" altLang="zh-TW" dirty="0"/>
              <a:t>request </a:t>
            </a:r>
            <a:r>
              <a:rPr lang="zh-TW" altLang="en-US" dirty="0"/>
              <a:t>為</a:t>
            </a:r>
            <a:r>
              <a:rPr lang="en-US" altLang="zh-TW" dirty="0"/>
              <a:t>0.5</a:t>
            </a:r>
            <a:r>
              <a:rPr lang="zh-TW" altLang="en-US" dirty="0"/>
              <a:t>，</a:t>
            </a:r>
            <a:r>
              <a:rPr lang="en-US" altLang="zh-TW" dirty="0"/>
              <a:t>limits</a:t>
            </a:r>
            <a:r>
              <a:rPr lang="zh-TW" altLang="en-US" dirty="0"/>
              <a:t>為</a:t>
            </a:r>
            <a:r>
              <a:rPr lang="en-US" altLang="zh-TW" dirty="0"/>
              <a:t>1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en-US" altLang="zh-TW" dirty="0"/>
              <a:t>1 </a:t>
            </a:r>
            <a:r>
              <a:rPr lang="en-US" altLang="zh-TW" dirty="0" err="1"/>
              <a:t>cpu</a:t>
            </a:r>
            <a:r>
              <a:rPr lang="en-US" altLang="zh-TW" dirty="0"/>
              <a:t> = 1 AWS vCPU = 1 GCP Core = 1 Azure </a:t>
            </a:r>
            <a:r>
              <a:rPr lang="en-US" altLang="zh-TW" dirty="0" err="1"/>
              <a:t>vCore</a:t>
            </a:r>
            <a:r>
              <a:rPr lang="en-US" altLang="zh-TW" dirty="0"/>
              <a:t> = 1 IBM vCPU = 1 </a:t>
            </a:r>
            <a:r>
              <a:rPr lang="en-US" altLang="zh-TW" dirty="0" err="1"/>
              <a:t>Hyperthread</a:t>
            </a:r>
            <a:r>
              <a:rPr lang="en-US" altLang="zh-TW" dirty="0"/>
              <a:t> on a bare-metal intel processor with Hyperthreading  </a:t>
            </a:r>
          </a:p>
          <a:p>
            <a:pPr lvl="2"/>
            <a:r>
              <a:rPr lang="en-US" altLang="zh-TW" dirty="0"/>
              <a:t>0.1 </a:t>
            </a:r>
            <a:r>
              <a:rPr lang="en-US" altLang="zh-TW" dirty="0" err="1"/>
              <a:t>cpu</a:t>
            </a:r>
            <a:r>
              <a:rPr lang="en-US" altLang="zh-TW" dirty="0"/>
              <a:t> = 100m (one hundred </a:t>
            </a:r>
            <a:r>
              <a:rPr lang="en-US" altLang="zh-TW" dirty="0" err="1"/>
              <a:t>millicpu</a:t>
            </a:r>
            <a:r>
              <a:rPr lang="en-US" altLang="zh-TW" dirty="0"/>
              <a:t>)  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C431E2-4CA2-924C-9E19-DBA7090AE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15DDEAD-E7AD-E545-AE87-BF542C947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58958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4627E1-16E0-584E-B6BA-5BD9847DD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container request and limit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F498F43-D78D-3544-8664-C3E0156E6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Memory</a:t>
            </a:r>
          </a:p>
          <a:p>
            <a:pPr lvl="1"/>
            <a:r>
              <a:rPr lang="en-US" altLang="zh-TW" dirty="0" err="1"/>
              <a:t>Ti</a:t>
            </a:r>
            <a:r>
              <a:rPr lang="en-US" altLang="zh-TW" dirty="0"/>
              <a:t> = </a:t>
            </a:r>
            <a:r>
              <a:rPr lang="en-US" altLang="zh-TW" dirty="0" err="1"/>
              <a:t>TiB</a:t>
            </a:r>
            <a:r>
              <a:rPr lang="en-US" altLang="zh-TW" dirty="0"/>
              <a:t>, </a:t>
            </a:r>
            <a:r>
              <a:rPr lang="en-US" altLang="zh-TW" dirty="0" err="1"/>
              <a:t>Gi</a:t>
            </a:r>
            <a:r>
              <a:rPr lang="en-US" altLang="zh-TW" dirty="0"/>
              <a:t>= </a:t>
            </a:r>
            <a:r>
              <a:rPr lang="en-US" altLang="zh-TW" dirty="0" err="1"/>
              <a:t>GiB</a:t>
            </a:r>
            <a:r>
              <a:rPr lang="en-US" altLang="zh-TW" dirty="0"/>
              <a:t>, Mi = </a:t>
            </a:r>
            <a:r>
              <a:rPr lang="en-US" altLang="zh-TW" dirty="0" err="1"/>
              <a:t>MiB</a:t>
            </a:r>
            <a:r>
              <a:rPr lang="en-US" altLang="zh-TW" dirty="0"/>
              <a:t>, Ki = KiB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B5E8D1-1291-A347-AA53-76BBA3C96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D3941F3-AD92-8244-BA61-06520D502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769341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F7DC617-AD46-7149-81B0-8C90F010F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97748CF-F526-8647-8123-84BABC185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106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4097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36DEF1-0B4F-CE42-B883-67EC958EB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CE08EFF-65F3-B646-BCF9-FF4343A4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525532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972E803-C392-3BAB-0C7D-E0CE5B19F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9C6339-6045-324E-BC73-29D1571B8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</a:t>
            </a:r>
            <a:r>
              <a:rPr kumimoji="1" lang="zh-CN" altLang="en-US" dirty="0"/>
              <a:t>指令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6A83A8-7867-6845-9B52-A59FFAF28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動詞支援多個資源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{</a:t>
            </a:r>
            <a:r>
              <a:rPr kumimoji="1" lang="zh-CN" altLang="en-US" dirty="0"/>
              <a:t>動詞</a:t>
            </a:r>
            <a:r>
              <a:rPr kumimoji="1" lang="en-US" altLang="zh-TW" dirty="0"/>
              <a:t>}</a:t>
            </a:r>
            <a:r>
              <a:rPr kumimoji="1" lang="zh-TW" altLang="en-US" dirty="0"/>
              <a:t> </a:t>
            </a:r>
            <a:r>
              <a:rPr kumimoji="1" lang="en-US" altLang="zh-TW" dirty="0"/>
              <a:t>{</a:t>
            </a:r>
            <a:r>
              <a:rPr kumimoji="1" lang="zh-CN" altLang="en-US" dirty="0"/>
              <a:t>資源種類</a:t>
            </a:r>
            <a:r>
              <a:rPr kumimoji="1" lang="en-US" altLang="zh-TW" dirty="0"/>
              <a:t>} {</a:t>
            </a:r>
            <a:r>
              <a:rPr kumimoji="1" lang="zh-CN" altLang="en-US" dirty="0"/>
              <a:t>特定資訊名稱</a:t>
            </a:r>
            <a:r>
              <a:rPr kumimoji="1" lang="en-US" altLang="zh-TW" dirty="0"/>
              <a:t>}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apply -f </a:t>
            </a:r>
            <a:r>
              <a:rPr kumimoji="1" lang="en-US" altLang="zh-TW" dirty="0" err="1"/>
              <a:t>nginx-pod.yaml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nginx-pod</a:t>
            </a:r>
          </a:p>
          <a:p>
            <a:r>
              <a:rPr kumimoji="1" lang="zh-CN" altLang="en-US" dirty="0"/>
              <a:t>動詞只支援某個特定資源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{</a:t>
            </a:r>
            <a:r>
              <a:rPr kumimoji="1" lang="zh-CN" altLang="en-US" dirty="0"/>
              <a:t>動詞</a:t>
            </a:r>
            <a:r>
              <a:rPr kumimoji="1" lang="en-US" altLang="zh-TW" dirty="0"/>
              <a:t>}{</a:t>
            </a:r>
            <a:r>
              <a:rPr kumimoji="1" lang="zh-CN" altLang="en-US" dirty="0"/>
              <a:t>特定資訊名稱</a:t>
            </a:r>
            <a:r>
              <a:rPr kumimoji="1" lang="en-US" altLang="zh-TW" dirty="0"/>
              <a:t>}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exec -it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logs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5746BF-2ABA-5B42-B279-38DA2FDE5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9055035-9CF6-FD4C-BCFD-7849E5591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109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906897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21B6A2-3343-C54B-B10D-F69BAEC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2FD9C2-CCF9-7648-BC31-4225CFBCC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更改</a:t>
            </a:r>
            <a:r>
              <a:rPr kumimoji="1" lang="en-US" altLang="zh-TW" dirty="0"/>
              <a:t>deployment 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裡的</a:t>
            </a:r>
            <a:r>
              <a:rPr kumimoji="1" lang="en-US" altLang="zh-TW" dirty="0"/>
              <a:t>container tag</a:t>
            </a:r>
          </a:p>
          <a:p>
            <a:pPr lvl="1"/>
            <a:r>
              <a:rPr kumimoji="1" lang="en-US" altLang="zh-TW" dirty="0"/>
              <a:t>nginx:1.14.2 --&gt; nginx:1.15</a:t>
            </a:r>
          </a:p>
          <a:p>
            <a:r>
              <a:rPr kumimoji="1" lang="zh-TW" altLang="en-US" dirty="0"/>
              <a:t>重新部署服務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nginx-</a:t>
            </a:r>
            <a:r>
              <a:rPr kumimoji="1" lang="en-US" altLang="zh-TW" dirty="0" err="1"/>
              <a:t>deploy.yaml</a:t>
            </a:r>
            <a:endParaRPr kumimoji="1" lang="en-US" altLang="zh-TW" dirty="0"/>
          </a:p>
          <a:p>
            <a:r>
              <a:rPr kumimoji="1" lang="zh-CN" altLang="en-US" dirty="0"/>
              <a:t>增加註解說明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annotate deploy </a:t>
            </a:r>
            <a:r>
              <a:rPr kumimoji="1" lang="en-US" altLang="zh-CN" dirty="0" err="1"/>
              <a:t>nginx</a:t>
            </a:r>
            <a:r>
              <a:rPr kumimoji="1" lang="en-US" altLang="zh-CN" dirty="0"/>
              <a:t>-deployment description="first version"</a:t>
            </a:r>
            <a:endParaRPr kumimoji="1" lang="en-US" altLang="zh-TW" dirty="0"/>
          </a:p>
          <a:p>
            <a:r>
              <a:rPr kumimoji="1" lang="zh-TW" altLang="en-US" dirty="0"/>
              <a:t>查看</a:t>
            </a:r>
            <a:r>
              <a:rPr kumimoji="1" lang="en-US" altLang="zh-TW" dirty="0" err="1"/>
              <a:t>rs</a:t>
            </a:r>
            <a:r>
              <a:rPr kumimoji="1" lang="zh-TW" altLang="en-US" dirty="0"/>
              <a:t>的部署歷程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 {</a:t>
            </a:r>
            <a:r>
              <a:rPr lang="en-US" altLang="zh-TW" dirty="0" err="1"/>
              <a:t>ReplicationSet_name</a:t>
            </a:r>
            <a:r>
              <a:rPr kumimoji="1" lang="en-US" altLang="zh-TW" dirty="0"/>
              <a:t>}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8B47E2-251F-5545-8FCB-A7C79CD5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7AAC97-5501-444B-BED2-A4C08C1C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380372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940DE7-2F52-B540-A258-B697652BD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-4</a:t>
            </a:r>
            <a:br>
              <a:rPr kumimoji="1" lang="en-US" altLang="zh-Hant" dirty="0"/>
            </a:b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B266A-C462-8A42-BD7F-6D2F779E6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對</a:t>
            </a:r>
            <a:r>
              <a:rPr kumimoji="1" lang="en-US" altLang="zh-CN" dirty="0" err="1"/>
              <a:t>kubernets</a:t>
            </a:r>
            <a:r>
              <a:rPr kumimoji="1" lang="zh-TW" altLang="en-US" dirty="0"/>
              <a:t> 運作中資源進行即時</a:t>
            </a:r>
            <a:r>
              <a:rPr kumimoji="1" lang="zh-CN" altLang="en-US" dirty="0"/>
              <a:t>調整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edit deploy nginx-deployment</a:t>
            </a:r>
          </a:p>
          <a:p>
            <a:r>
              <a:rPr kumimoji="1" lang="zh-CN" altLang="en-US" dirty="0"/>
              <a:t>回朔到上一個版本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undo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35DF7025-7D38-C543-9BEA-65D8C516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09A7B46F-75C7-8B4B-81D8-51515F9B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220379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3A058D-51F1-804E-9054-0534499E8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: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run </a:t>
            </a:r>
            <a:r>
              <a:rPr kumimoji="1" lang="en-US" altLang="zh-Hant" dirty="0" err="1"/>
              <a:t>nginx</a:t>
            </a:r>
            <a:r>
              <a:rPr kumimoji="1" lang="en-US" altLang="zh-Hant" dirty="0"/>
              <a:t> deployment upgrade and </a:t>
            </a:r>
            <a:r>
              <a:rPr kumimoji="1" lang="en-US" altLang="zh-TW" dirty="0"/>
              <a:t>rollout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BB874E-280B-8C4D-B535-FBF1D0EF9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回朔到指定版本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undo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 --to-revision=n</a:t>
            </a:r>
          </a:p>
          <a:p>
            <a:r>
              <a:rPr kumimoji="1" lang="zh-CN" altLang="en-US" dirty="0"/>
              <a:t>重新啟動部署服務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rollout restart deploy {</a:t>
            </a:r>
            <a:r>
              <a:rPr kumimoji="1" lang="en-US" altLang="zh-CN" dirty="0" err="1"/>
              <a:t>deployment_name</a:t>
            </a:r>
            <a:r>
              <a:rPr kumimoji="1" lang="en-US" altLang="zh-CN" dirty="0"/>
              <a:t>}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93B8AC5-95B3-4740-BB81-F5721755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CAF4BC1-A040-E144-8A55-61CC212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1495204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596EF-2BB6-D042-836C-D914FFEB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65FD9A0-6333-B140-A2C6-8938CD5FE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2025209"/>
            <a:ext cx="8946541" cy="4195481"/>
          </a:xfrm>
        </p:spPr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get nodes -o wide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get nodes --show-labels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BF02164E-5273-B344-A222-A0D0FB96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B375F01-370A-8B4F-9787-9636449B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44FDE87-AA6C-4A44-9BD0-8466DA1D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29577"/>
            <a:ext cx="10228279" cy="106333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877B997-E311-AA45-8628-658691FF3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43940"/>
            <a:ext cx="10326938" cy="98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7045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548A98-1F87-064E-9EFE-F78189EF7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4F94EC-6AE5-A342-969E-BD2BA27CF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Set labels on node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label node {node name} hardware=high-</a:t>
            </a:r>
            <a:r>
              <a:rPr kumimoji="1" lang="en-US" altLang="zh-TW" dirty="0" err="1"/>
              <a:t>cpu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en-US" altLang="zh-TW" dirty="0"/>
              <a:t>Remove labels on node</a:t>
            </a:r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label node {node name} {key}-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label node Django-</a:t>
            </a:r>
            <a:r>
              <a:rPr kumimoji="1" lang="en-US" altLang="zh-TW" dirty="0" err="1"/>
              <a:t>vm</a:t>
            </a:r>
            <a:r>
              <a:rPr kumimoji="1" lang="en-US" altLang="zh-TW" dirty="0"/>
              <a:t> hardware-</a:t>
            </a:r>
            <a:endParaRPr kumimoji="1" lang="zh-TW" altLang="en-US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6921E00-C6D3-3F4A-8157-E10B014C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0EE53CF-7D9E-E044-AFE1-3B2D18DFB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114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B4A92FC-2D5C-7C41-AA67-8AF97F5C2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58" y="2911763"/>
            <a:ext cx="11693251" cy="51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8123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BFDC8B-B438-5441-9F16-24F63FABC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node-3 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A9C052D-9B35-494D-A455-979DEC4D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513EA92-887C-A84F-9413-EDCC7E74D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115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61F5A59-82EE-9D4F-AB1E-7CF52B501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451" y="1357399"/>
            <a:ext cx="7568308" cy="492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1355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AC6E089-0169-974B-BCC9-02FF9BF7E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1BE8514-ECD9-3F42-BDAF-D1B1A7C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116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8311792" y="1690688"/>
            <a:ext cx="2907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k8s/service/nginx-service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7BDB91D2-9D86-C34B-8877-1D471C700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FE50EA5-F973-9F42-A651-03DD954A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B2ED1EB-C9F1-4040-93E9-4BFEC304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4845E0F-C4CE-9846-A028-E4731B123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2CAF190-0331-40B1-FF00-DEEFB52D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DF9F79-AE6F-A6E6-C035-DBD63652D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7B26BA1-B192-9F44-BE02-9B4DA9307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758A94F-9E7F-2941-A63F-59B3EE475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DCB8CAB-A817-A94F-A175-C63766D20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7" name="投影片編號預留位置 6">
            <a:extLst>
              <a:ext uri="{FF2B5EF4-FFF2-40B4-BE49-F238E27FC236}">
                <a16:creationId xmlns:a16="http://schemas.microsoft.com/office/drawing/2014/main" id="{5FCF2E19-92C5-7D47-91CD-F1485142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2F8E3B-07CA-434E-BF8A-B7F9B9EF3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DNS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A23886-FF11-B74B-B1DD-DDFA4B048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zh-TW" dirty="0"/>
          </a:p>
          <a:p>
            <a:r>
              <a:rPr kumimoji="1" lang="en-US" altLang="zh-TW" dirty="0"/>
              <a:t>DNS service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services </a:t>
            </a:r>
            <a:r>
              <a:rPr kumimoji="1" lang="en-US" altLang="zh-TW" dirty="0" err="1"/>
              <a:t>kube-dns</a:t>
            </a:r>
            <a:r>
              <a:rPr kumimoji="1" lang="en-US" altLang="zh-TW" dirty="0"/>
              <a:t> -n=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pPr lvl="1"/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run curl --image=radial/</a:t>
            </a:r>
            <a:r>
              <a:rPr kumimoji="1" lang="en-US" altLang="zh-TW" dirty="0" err="1"/>
              <a:t>busyboxplus:curl</a:t>
            </a:r>
            <a:r>
              <a:rPr kumimoji="1" lang="en-US" altLang="zh-TW" dirty="0"/>
              <a:t> 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--</a:t>
            </a:r>
            <a:r>
              <a:rPr kumimoji="1" lang="en-US" altLang="zh-TW" dirty="0" err="1"/>
              <a:t>tty</a:t>
            </a:r>
            <a:endParaRPr kumimoji="1" lang="en-US" altLang="zh-TW" dirty="0"/>
          </a:p>
          <a:p>
            <a:pPr lvl="2"/>
            <a:r>
              <a:rPr lang="en-US" altLang="zh-TW" dirty="0" err="1"/>
              <a:t>nslookup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-service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89F6812A-2A3B-D549-B105-7F8A2B6F5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CEC05275-2D20-4744-8B65-D5E2478BD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122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41BE068-BD15-534E-B5B2-F39EB46B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552" y="4278391"/>
            <a:ext cx="9494190" cy="2260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8980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r>
              <a:rPr kumimoji="1" lang="en-US" altLang="zh-Hant" dirty="0"/>
              <a:t> (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-system namespace)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-n=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82F4813-01CA-6F46-8945-14D1C8B44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832DCC0C-B437-3144-9D32-526DE15F9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29571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3F91EA-8D4E-F0E1-B7D1-B8023D16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0365555-D240-CD97-7967-6BEABB600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262377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795A44-B059-5A28-D714-B49B7B839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51BF3EE-0C19-0A86-8A94-23DFA42B9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601199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34947-1654-DF45-98DC-20377C4DC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K8s Ingress-1</a:t>
            </a:r>
            <a:endParaRPr lang="zh-TW" altLang="en-US" dirty="0"/>
          </a:p>
        </p:txBody>
      </p:sp>
      <p:pic>
        <p:nvPicPr>
          <p:cNvPr id="9" name="內容版面配置區 8" descr="一張含有 螢幕擷取畫面 的圖片&#10;&#10;自動產生的描述">
            <a:extLst>
              <a:ext uri="{FF2B5EF4-FFF2-40B4-BE49-F238E27FC236}">
                <a16:creationId xmlns:a16="http://schemas.microsoft.com/office/drawing/2014/main" id="{B8F2FA49-741A-C443-85A8-82E711EDAB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7100" y="2210594"/>
            <a:ext cx="7797800" cy="3581400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8F90B1F-42BE-FD43-9BE7-A42ACFE3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TW"/>
              <a:t>2026/5/30</a:t>
            </a:r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1467C0-B97D-CD4C-B92E-2451C3D50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lang="zh-TW" altLang="en-US" smtClean="0"/>
              <a:pPr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03997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D6DB8-CE3B-8D4B-88D5-7FC16918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Ingress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850338C-DA2E-744D-A53A-C620D9C33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使用</a:t>
            </a:r>
            <a:r>
              <a:rPr kumimoji="1" lang="en-US" altLang="zh-CN" dirty="0"/>
              <a:t>domain name</a:t>
            </a:r>
            <a:r>
              <a:rPr kumimoji="1" lang="zh-CN" altLang="en-US" dirty="0"/>
              <a:t>與路徑來</a:t>
            </a:r>
            <a:r>
              <a:rPr kumimoji="1" lang="zh-TW" altLang="en-US" dirty="0"/>
              <a:t>包含一個</a:t>
            </a:r>
            <a:r>
              <a:rPr kumimoji="1" lang="zh-CN" altLang="en-US" dirty="0"/>
              <a:t>或</a:t>
            </a:r>
            <a:r>
              <a:rPr kumimoji="1" lang="zh-TW" altLang="en-US" dirty="0"/>
              <a:t>多個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。</a:t>
            </a:r>
            <a:endParaRPr kumimoji="1" lang="en-US" altLang="zh-TW" dirty="0"/>
          </a:p>
          <a:p>
            <a:r>
              <a:rPr kumimoji="1" lang="zh-TW" altLang="en-US" dirty="0"/>
              <a:t>支援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，可設定</a:t>
            </a:r>
            <a:r>
              <a:rPr kumimoji="1" lang="zh-CN" altLang="en-US" dirty="0"/>
              <a:t>憑證</a:t>
            </a:r>
            <a:endParaRPr kumimoji="1" lang="en-US" altLang="zh-TW" dirty="0"/>
          </a:p>
          <a:p>
            <a:r>
              <a:rPr kumimoji="1" lang="zh-CN" altLang="en-US" dirty="0"/>
              <a:t>實際使用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 container</a:t>
            </a:r>
            <a:endParaRPr kumimoji="1" lang="en-US" altLang="zh-CN" dirty="0"/>
          </a:p>
          <a:p>
            <a:r>
              <a:rPr kumimoji="1" lang="zh-CN" altLang="en-US" dirty="0"/>
              <a:t>一個窗口支援多個服務</a:t>
            </a:r>
            <a:endParaRPr kumimoji="1" lang="en-US" altLang="zh-CN" dirty="0"/>
          </a:p>
          <a:p>
            <a:r>
              <a:rPr kumimoji="1" lang="zh-CN" altLang="en-US" dirty="0"/>
              <a:t>支援多</a:t>
            </a:r>
            <a:r>
              <a:rPr kumimoji="1" lang="en-US" altLang="zh-CN" dirty="0"/>
              <a:t>ingress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D5AB7D0-38E6-2C4D-AB7B-F0B5E8B78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B61F31-6F36-624F-9057-43A7E32EE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420797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9737D7-F2EF-0742-8560-1ABF86859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ingress </a:t>
            </a:r>
            <a:r>
              <a:rPr kumimoji="1" lang="en-US" altLang="zh-TW" dirty="0" err="1"/>
              <a:t>yaml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BD25F8-4DB9-6945-9935-507BF10DE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k8s/ingress/</a:t>
            </a:r>
            <a:r>
              <a:rPr kumimoji="1" lang="en-US" altLang="zh-TW" dirty="0" err="1"/>
              <a:t>ingress.yaml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5688D9-0CDD-C14A-BFA5-B0FFE7157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63B0C89-66C2-4B46-BA22-8A72F15E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128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B82995-8DEF-9A56-E4C1-B9990D0B2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772" y="365124"/>
            <a:ext cx="7066895" cy="599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1495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50F988-E501-A940-89B8-C73F02457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emptyDir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85BFAF7D-F329-EC47-994D-F993B4C2B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內</a:t>
            </a:r>
            <a:r>
              <a:rPr kumimoji="1" lang="zh-Hant" altLang="en-US" dirty="0"/>
              <a:t>共用儲存</a:t>
            </a:r>
            <a:endParaRPr kumimoji="1" lang="en-US" altLang="zh-Hant" dirty="0"/>
          </a:p>
          <a:p>
            <a:r>
              <a:rPr kumimoji="1" lang="zh-Hant" altLang="en-US" dirty="0"/>
              <a:t>當</a:t>
            </a:r>
            <a:r>
              <a:rPr kumimoji="1" lang="en-US" altLang="zh-Hant" dirty="0"/>
              <a:t>Pod</a:t>
            </a:r>
            <a:r>
              <a:rPr kumimoji="1" lang="zh-CN" altLang="en-US" dirty="0"/>
              <a:t>消失時，資料也消失。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FE52EB91-4681-224A-853A-59EBC7AC8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606F2CA-D4FD-0340-BE3E-4A2A2A88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129</a:t>
            </a:fld>
            <a:endParaRPr kumimoji="1"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B3FD27F-EE09-A54F-8AA5-8ECF7EDDB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615" y="25400"/>
            <a:ext cx="52753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2066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C7D08E5-E875-0D43-A58E-C6AE9709A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D0BBB03A-7E51-9649-8F98-754AF3DD2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130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2078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6A8F4B35-FA9D-8048-BAC9-C7EA5E6B2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8F16EB0-AE5C-F04C-8A01-A0BCE19ED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2119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8AD71FBC-C1C3-1745-AA90-F9BF20112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7E065469-DE68-0C44-A796-D7DCBDEE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811858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-common -y</a:t>
            </a:r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3EB144-C62C-8848-8033-4EFC11F51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D69F1A6-6C50-4C43-9296-B57B0443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017202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8263FBA3-9B57-564D-B2AA-29FA2894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3782C308-6645-5445-B099-CAF80FA9C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134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3265FE2-35D0-885B-A186-F70725ABF67A}"/>
              </a:ext>
            </a:extLst>
          </p:cNvPr>
          <p:cNvSpPr txBox="1"/>
          <p:nvPr/>
        </p:nvSpPr>
        <p:spPr>
          <a:xfrm>
            <a:off x="7818634" y="2352782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k8s/pods/ 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750663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2C5C8CE5-CF81-4649-829E-6F6D6572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E01C6B7-CBE7-A04D-86E9-943E05376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8913948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A67E2FF-6E5D-4C46-A361-F8394DA9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4CF8EC4C-DA09-EE46-AFCE-B42E5B717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136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298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506A2BF-AEEA-9748-BE55-EF26D31F3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-1</a:t>
            </a:r>
            <a:endParaRPr kumimoji="1" lang="zh-TW" altLang="en-US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A7782F73-F189-9A4B-9A04-E5134E950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C57A260E-106D-5140-8C02-C5B766E0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137</a:t>
            </a:fld>
            <a:endParaRPr kumimoji="1"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0914F88-9CF1-F042-9480-A58A23D55376}"/>
              </a:ext>
            </a:extLst>
          </p:cNvPr>
          <p:cNvSpPr txBox="1"/>
          <p:nvPr/>
        </p:nvSpPr>
        <p:spPr>
          <a:xfrm>
            <a:off x="2745034" y="1155413"/>
            <a:ext cx="44133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u="sng" dirty="0">
                <a:latin typeface="Times New Roman" panose="02020603050405020304" pitchFamily="18" charset="0"/>
                <a:hlinkClick r:id="rId2"/>
              </a:rPr>
              <a:t>k8s</a:t>
            </a:r>
            <a:r>
              <a:rPr lang="en-US" altLang="zh-TW" sz="3200" dirty="0">
                <a:latin typeface="Times New Roman" panose="02020603050405020304" pitchFamily="18" charset="0"/>
              </a:rPr>
              <a:t>/</a:t>
            </a:r>
            <a:r>
              <a:rPr lang="en-US" altLang="zh-TW" sz="3200" dirty="0">
                <a:latin typeface="Times New Roman" panose="02020603050405020304" pitchFamily="18" charset="0"/>
                <a:hlinkClick r:id="rId3"/>
              </a:rPr>
              <a:t>cronjob</a:t>
            </a:r>
            <a:r>
              <a:rPr lang="en-US" altLang="zh-TW" sz="3200" dirty="0">
                <a:latin typeface="Times New Roman" panose="02020603050405020304" pitchFamily="18" charset="0"/>
              </a:rPr>
              <a:t>/</a:t>
            </a:r>
            <a:r>
              <a:rPr lang="en-US" altLang="zh-TW" sz="3200" dirty="0" err="1">
                <a:latin typeface="Times New Roman" panose="02020603050405020304" pitchFamily="18" charset="0"/>
              </a:rPr>
              <a:t>cronjob.yaml</a:t>
            </a:r>
            <a:endParaRPr kumimoji="1" lang="zh-TW" altLang="en-US" sz="3200" dirty="0">
              <a:latin typeface="Times New Roman" panose="02020603050405020304" pitchFamily="18" charset="0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7F66ABBB-3E16-1C41-1CBC-2155DAA24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942234" y="1825625"/>
            <a:ext cx="63075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77256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BD00-7A8F-9041-99C2-12FB92193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BE4F49-B48C-BD43-B6CF-C9C88A9D9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cronjob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job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pPr lvl="1"/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	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71000BF-F044-A14F-8443-2C5AFF531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3DBFE779-F58C-B949-9385-3C5D16D20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138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AA5C71-91CF-2B4B-9158-C639140E0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0904" y="2438399"/>
            <a:ext cx="7677493" cy="87823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3D1BFD8-FD39-514D-8126-824ED0F63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417" y="4330071"/>
            <a:ext cx="7797389" cy="152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17464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71C68E-A9ED-A94D-8561-2DA6AB33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cronjob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592A10-22B8-D34E-8D29-3923AE2CB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定時建立</a:t>
            </a:r>
            <a:r>
              <a:rPr lang="en-US" altLang="zh-CN" dirty="0"/>
              <a:t>job</a:t>
            </a:r>
            <a:r>
              <a:rPr lang="zh-CN" altLang="en-US" dirty="0"/>
              <a:t>與</a:t>
            </a:r>
            <a:r>
              <a:rPr lang="en-US" altLang="zh-CN" dirty="0"/>
              <a:t>pod</a:t>
            </a:r>
          </a:p>
          <a:p>
            <a:pPr lvl="1"/>
            <a:endParaRPr lang="en-US" altLang="zh-CN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delete cronjob hello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5835CFB-564B-D94A-82A8-2545CA2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6BCD0E3-5884-AF4E-B42E-ED4558D48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139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CCE7E4B-9E7B-D242-9891-BC3C0BF2E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66" y="4830541"/>
            <a:ext cx="10768467" cy="7512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D54945-AF63-1E4D-8597-DCFE5A8BA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132" y="662848"/>
            <a:ext cx="6891867" cy="315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51757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2CCE67-4DE4-014C-9074-3A2A6B85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</a:t>
            </a:r>
            <a:r>
              <a:rPr kumimoji="1" lang="zh-Hant" altLang="en-US" dirty="0"/>
              <a:t> </a:t>
            </a:r>
            <a:r>
              <a:rPr kumimoji="1" lang="zh-TW" altLang="en-US" dirty="0"/>
              <a:t>編碼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E12C4E-F8FE-7F43-8C58-834B828D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$ echo -n "root" | base64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$ echo -n "</a:t>
            </a:r>
            <a:r>
              <a:rPr lang="en-US" altLang="zh-TW" dirty="0" err="1"/>
              <a:t>rootpass</a:t>
            </a:r>
            <a:r>
              <a:rPr lang="en-US" altLang="zh-TW" dirty="0"/>
              <a:t>" | base64</a:t>
            </a:r>
            <a:endParaRPr kumimoji="1"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4BD000AF-A198-EA41-B795-C663BC104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F5621AC5-8D2C-F847-9FC9-E9E602784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140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48290C9-696F-C748-9E1F-6FECBF363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738" y="2431188"/>
            <a:ext cx="9177569" cy="76791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FECC9E7-DFFE-DE45-8F6A-43E995F4E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96" y="4384618"/>
            <a:ext cx="11265987" cy="60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42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B39C4-5EF0-AE45-B66B-AF250B92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B6EDD1-8A0B-6645-97CB-8970AA9A3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secrets</a:t>
            </a:r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D8E4D69D-D4B0-4F40-9B12-A1ACB6F9D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16FFE14B-8DE4-C24A-A3EC-733864950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141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FECE5E4-A625-3E45-BCF5-0AAFB1CEF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2941320"/>
            <a:ext cx="86360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8048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920023-C093-FB44-8634-721EF899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Secrets Volume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1251771-5DD9-0646-9CF2-5F7F181A3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K8s/secret/demo-</a:t>
            </a:r>
            <a:r>
              <a:rPr kumimoji="1" lang="en-US" altLang="zh-TW" dirty="0" err="1"/>
              <a:t>secret.yaml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8C0700B8-B527-EE47-9113-326848475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617099B-74E7-1A49-BD8B-CFAE6FC41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142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403F094-6649-BD42-BBCD-A5902E03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090" y="3330909"/>
            <a:ext cx="67691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093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CFF813-01FC-A94E-970A-E16118916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</a:t>
            </a:r>
            <a:r>
              <a:rPr kumimoji="1" lang="zh-CN" altLang="en-US" dirty="0"/>
              <a:t>當</a:t>
            </a:r>
            <a:r>
              <a:rPr kumimoji="1" lang="en-US" altLang="zh-CN" dirty="0"/>
              <a:t>Pod </a:t>
            </a:r>
            <a:r>
              <a:rPr kumimoji="1" lang="zh-CN" altLang="en-US" dirty="0"/>
              <a:t>環境變數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4ACBAE-CE02-FE4C-92F5-8CC002187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K8s/pods/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-secret-</a:t>
            </a:r>
            <a:r>
              <a:rPr kumimoji="1" lang="en-US" altLang="zh-TW" dirty="0" err="1"/>
              <a:t>env.yaml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ED18BF7-17F1-B040-BF67-6ABDF6556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A261710-6C04-AA4C-BF6B-469437211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143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5407DBA-B632-9042-B8E7-1543D2E85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362" y="1411814"/>
            <a:ext cx="3407357" cy="544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7656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BF1820-2337-124E-8DDD-C898A1254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Pods </a:t>
            </a:r>
            <a:r>
              <a:rPr kumimoji="1" lang="en-US" altLang="zh-TW" dirty="0" err="1"/>
              <a:t>env</a:t>
            </a:r>
            <a:r>
              <a:rPr kumimoji="1" lang="zh-Hant" altLang="en-US" dirty="0"/>
              <a:t> 描述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7B6E80EF-6A41-4A4E-A630-16271150A6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8149" y="1825625"/>
            <a:ext cx="6315701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1957D3B-BE84-954F-86AF-C6566E35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E1FECC7-DB16-554E-97AC-1B6826110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663787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1E34C5-F5FF-E347-908B-DCBB2D85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Pods show </a:t>
            </a:r>
            <a:r>
              <a:rPr kumimoji="1" lang="en-US" altLang="zh-TW" dirty="0" err="1"/>
              <a:t>env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57981D4-A227-8A48-AA88-769E84F046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9200" y="3290094"/>
            <a:ext cx="9753600" cy="14224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97A1DD2-B05B-684B-8D2C-2B5692E48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AEB738CC-819F-8943-8168-A17C9DAC1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505219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BBE138-5E96-1042-8237-1B82DB98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mount secret volume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4D9539A-4305-7848-BDFA-78CFAB0610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70492" y="1825625"/>
            <a:ext cx="3651015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692262C-1701-F14B-B6A1-70EC63E94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98633712-886A-EF42-AC98-F1D76B23B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7601393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42771-84DB-364D-A832-676B4304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check pod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0AA1BF-787B-8943-B154-A62553E169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2650" y="2299494"/>
            <a:ext cx="10426700" cy="34036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55EA266-8F69-CF4B-88CA-A1E5EB264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2EA4F36-56CF-C34A-B10D-58912D70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147</a:t>
            </a:fld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7F9A358-8563-FF4D-ACA4-B1428AD41525}"/>
              </a:ext>
            </a:extLst>
          </p:cNvPr>
          <p:cNvSpPr txBox="1"/>
          <p:nvPr/>
        </p:nvSpPr>
        <p:spPr>
          <a:xfrm>
            <a:off x="1642392" y="1686951"/>
            <a:ext cx="78983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200" dirty="0" err="1">
                <a:latin typeface="Times New Roman" panose="02020603050405020304" pitchFamily="18" charset="0"/>
              </a:rPr>
              <a:t>kubectl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 describe pods </a:t>
            </a:r>
            <a:r>
              <a:rPr kumimoji="1" lang="en-US" altLang="zh-TW" sz="3200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-pod-</a:t>
            </a:r>
            <a:r>
              <a:rPr kumimoji="1" lang="en-US" altLang="zh-TW" sz="3200" dirty="0" err="1">
                <a:latin typeface="Times New Roman" panose="02020603050405020304" pitchFamily="18" charset="0"/>
              </a:rPr>
              <a:t>gcp</a:t>
            </a:r>
            <a:r>
              <a:rPr kumimoji="1" lang="en-US" altLang="zh-TW" sz="3200" dirty="0">
                <a:latin typeface="Times New Roman" panose="02020603050405020304" pitchFamily="18" charset="0"/>
              </a:rPr>
              <a:t>-volume</a:t>
            </a:r>
            <a:endParaRPr kumimoji="1" lang="zh-TW" altLang="en-US" sz="32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94985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F302BA-F40D-A246-8144-D882DDCDD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Secrets Volume	: check pod 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4AE3A54C-713E-0348-876F-F65DFA7E06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2850" y="2413794"/>
            <a:ext cx="9766300" cy="31750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CFC0B85-9579-E747-972E-8203392A4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7E118C47-AB8A-4C4A-8AA3-1DF75D5F8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579006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CB34042-F80B-B24F-97B8-3C3C0969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Google Cloud Platform Kubernetes Engine</a:t>
            </a:r>
            <a:endParaRPr kumimoji="1" lang="zh-TW" altLang="en-US" dirty="0"/>
          </a:p>
        </p:txBody>
      </p:sp>
      <p:sp>
        <p:nvSpPr>
          <p:cNvPr id="6" name="文字預留位置 5">
            <a:extLst>
              <a:ext uri="{FF2B5EF4-FFF2-40B4-BE49-F238E27FC236}">
                <a16:creationId xmlns:a16="http://schemas.microsoft.com/office/drawing/2014/main" id="{644376BF-D528-4140-B06F-877FCB0F1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F698A0D1-A00D-A149-803E-5D5A639FB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EAFEF47-6AD1-3B45-B6FD-385B816DF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149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9791060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A60488-E26A-E440-8890-26B7AE45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選擇</a:t>
            </a:r>
            <a:r>
              <a:rPr kumimoji="1" lang="en-US" altLang="zh-TW" dirty="0"/>
              <a:t>Kubernetes engine on GCP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20323A25-6AD4-FC44-BA66-B365009D2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E88FB601-F97F-3B45-9910-65CE2B43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150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68B89B4-61BA-BCC8-14D2-A47BD4C0A5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161" y="1825625"/>
            <a:ext cx="886967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445093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5BD5883-7959-5444-BE55-98DDF7782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GKE</a:t>
            </a:r>
            <a:endParaRPr kumimoji="1" lang="zh-TW" altLang="en-US" dirty="0"/>
          </a:p>
        </p:txBody>
      </p:sp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841814B4-D516-C743-A1ED-521349C9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53E93A1C-FB75-514E-AEE3-269C8487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151</a:t>
            </a:fld>
            <a:endParaRPr kumimoji="1" lang="zh-TW" altLang="en-US"/>
          </a:p>
        </p:txBody>
      </p:sp>
      <p:pic>
        <p:nvPicPr>
          <p:cNvPr id="23" name="內容版面配置區 22">
            <a:extLst>
              <a:ext uri="{FF2B5EF4-FFF2-40B4-BE49-F238E27FC236}">
                <a16:creationId xmlns:a16="http://schemas.microsoft.com/office/drawing/2014/main" id="{7C745B80-8B26-6094-EE72-1463CBD0D3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7473" y="1825625"/>
            <a:ext cx="6677053" cy="4351338"/>
          </a:xfrm>
        </p:spPr>
      </p:pic>
    </p:spTree>
    <p:extLst>
      <p:ext uri="{BB962C8B-B14F-4D97-AF65-F5344CB8AC3E}">
        <p14:creationId xmlns:p14="http://schemas.microsoft.com/office/powerpoint/2010/main" val="257663183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DFDB51-BC4E-ECD5-31E8-A9C966530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選擇</a:t>
            </a:r>
            <a:r>
              <a:rPr kumimoji="1" lang="en-US" altLang="zh-TW" dirty="0"/>
              <a:t>Standard cluster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01F687-E9BB-7CFA-C356-4992D590B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9510" y="1825625"/>
            <a:ext cx="8152979" cy="4351338"/>
          </a:xfr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85EF75-E9D2-B49E-D9B4-588A804E1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29BF328-6C37-FF13-4FAC-D51BB7141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7721548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82009B-2313-FD1B-A2FD-8C0BF9C44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 </a:t>
            </a:r>
            <a:r>
              <a:rPr kumimoji="1" lang="en-US" altLang="zh-TW" dirty="0"/>
              <a:t>GKE</a:t>
            </a:r>
            <a:r>
              <a:rPr kumimoji="1" lang="zh-TW" altLang="en-US" dirty="0"/>
              <a:t> 建立中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CF30E4-8548-637E-E110-6B443A554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B13CAD8-4E80-A5DC-2B23-3B2FF86D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153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CD15C558-F0E4-EDD7-3C0D-0BC5E5D7F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219" y="1825625"/>
            <a:ext cx="787356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80567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9EF07-6FB9-BE48-BDFB-341777C14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lang="en-US" altLang="zh-TW" dirty="0"/>
              <a:t>Google Cloud CLI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F827C9-15B7-DA43-842D-493E5AF10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For mac</a:t>
            </a:r>
          </a:p>
          <a:p>
            <a:pPr lvl="1"/>
            <a:r>
              <a:rPr kumimoji="1" lang="en-US" altLang="zh-TW" dirty="0"/>
              <a:t>https://</a:t>
            </a:r>
            <a:r>
              <a:rPr kumimoji="1" lang="en-US" altLang="zh-TW" dirty="0" err="1"/>
              <a:t>cloud.google.com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sdk</a:t>
            </a:r>
            <a:r>
              <a:rPr kumimoji="1" lang="en-US" altLang="zh-TW" dirty="0"/>
              <a:t>/docs/</a:t>
            </a:r>
            <a:r>
              <a:rPr kumimoji="1" lang="en-US" altLang="zh-TW" dirty="0" err="1"/>
              <a:t>quickstart-macos</a:t>
            </a:r>
            <a:endParaRPr kumimoji="1" lang="en-US" altLang="zh-TW" dirty="0"/>
          </a:p>
          <a:p>
            <a:r>
              <a:rPr kumimoji="1" lang="en-US" altLang="zh-TW" dirty="0"/>
              <a:t>For windows </a:t>
            </a:r>
          </a:p>
          <a:p>
            <a:pPr lvl="1"/>
            <a:r>
              <a:rPr kumimoji="1" lang="en-US" altLang="zh-TW" dirty="0"/>
              <a:t>https://</a:t>
            </a:r>
            <a:r>
              <a:rPr kumimoji="1" lang="en-US" altLang="zh-TW" dirty="0" err="1"/>
              <a:t>cloud.google.com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sdk</a:t>
            </a:r>
            <a:r>
              <a:rPr kumimoji="1" lang="en-US" altLang="zh-TW" dirty="0"/>
              <a:t>/docs/</a:t>
            </a:r>
            <a:r>
              <a:rPr kumimoji="1" lang="en-US" altLang="zh-TW" dirty="0" err="1"/>
              <a:t>quickstart</a:t>
            </a:r>
            <a:r>
              <a:rPr kumimoji="1" lang="en-US" altLang="zh-TW" dirty="0"/>
              <a:t>-windows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B0ACAF4-DF87-6D48-9423-7C9947A05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8B204012-04C4-2244-911C-D6446F15F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9631837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145F66-975F-3747-A360-F1E523D76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lang="en-US" altLang="zh-TW" dirty="0"/>
              <a:t>Google Cloud CLI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6FF480-043B-8745-AA76-734C69227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安裝</a:t>
            </a:r>
            <a:endParaRPr kumimoji="1" lang="en-US" altLang="zh-TW" dirty="0"/>
          </a:p>
          <a:p>
            <a:pPr lvl="1"/>
            <a:r>
              <a:rPr lang="en" altLang="zh-TW" dirty="0">
                <a:effectLst/>
              </a:rPr>
              <a:t>./google-cloud-</a:t>
            </a:r>
            <a:r>
              <a:rPr lang="en" altLang="zh-TW" dirty="0" err="1">
                <a:effectLst/>
              </a:rPr>
              <a:t>sdk</a:t>
            </a:r>
            <a:r>
              <a:rPr lang="en" altLang="zh-TW" dirty="0">
                <a:effectLst/>
              </a:rPr>
              <a:t>/</a:t>
            </a:r>
            <a:r>
              <a:rPr lang="en" altLang="zh-TW" dirty="0" err="1">
                <a:effectLst/>
              </a:rPr>
              <a:t>install.sh</a:t>
            </a:r>
            <a:endParaRPr kumimoji="1" lang="en-US" altLang="zh-TW" dirty="0"/>
          </a:p>
          <a:p>
            <a:r>
              <a:rPr kumimoji="1" lang="zh-TW" altLang="en-US" dirty="0"/>
              <a:t>初始化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cd </a:t>
            </a:r>
            <a:r>
              <a:rPr lang="en" altLang="zh-TW" dirty="0">
                <a:effectLst/>
              </a:rPr>
              <a:t>google-cloud-</a:t>
            </a:r>
            <a:r>
              <a:rPr lang="en" altLang="zh-TW" dirty="0" err="1">
                <a:effectLst/>
              </a:rPr>
              <a:t>sdk</a:t>
            </a:r>
            <a:r>
              <a:rPr lang="en" altLang="zh-TW" dirty="0">
                <a:effectLst/>
              </a:rPr>
              <a:t>/bin/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gcloud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init</a:t>
            </a:r>
            <a:endParaRPr kumimoji="1" lang="en-US" altLang="zh-TW" dirty="0"/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6299A59-C95C-FC49-8C88-A1EC5C35F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53B46617-18E0-C84F-8E8E-3BBC0E8A3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155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9B4686B-513C-9152-95B0-7D2BB70EF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191" y="3366500"/>
            <a:ext cx="6304908" cy="335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1801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7A6AC-E508-3E47-AAEB-8FBBBE5E4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FBCE95-F5A1-E049-A7D8-95459489D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auth</a:t>
            </a:r>
            <a:r>
              <a:rPr kumimoji="1" lang="en-US" altLang="zh-TW" dirty="0"/>
              <a:t> login</a:t>
            </a:r>
          </a:p>
          <a:p>
            <a:pPr lvl="1"/>
            <a:r>
              <a:rPr kumimoji="1" lang="zh-CN" altLang="en-US" dirty="0"/>
              <a:t>登入</a:t>
            </a:r>
            <a:r>
              <a:rPr kumimoji="1" lang="en-US" altLang="zh-CN" dirty="0"/>
              <a:t>google </a:t>
            </a:r>
            <a:r>
              <a:rPr kumimoji="1" lang="zh-CN" altLang="en-US" dirty="0"/>
              <a:t>帳號</a:t>
            </a:r>
            <a:endParaRPr kumimoji="1" lang="en-US" altLang="zh-CN" dirty="0"/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42E101BD-E00C-DE4A-9DC6-99CA8A29D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9CDFDF2A-BA0B-134C-9644-7BE121148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156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4BA94B2-6922-0F80-DF81-7E2755DDE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732" y="2821456"/>
            <a:ext cx="5687602" cy="335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2017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51147-AFBA-EFE0-AB77-E800EE7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GKE project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F20D94-E128-C7B7-1BEB-BAE8F0AFC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/>
              <a:t>gcloud</a:t>
            </a:r>
            <a:r>
              <a:rPr kumimoji="1" lang="en-US" altLang="zh-CN" dirty="0"/>
              <a:t> projects list</a:t>
            </a:r>
          </a:p>
          <a:p>
            <a:pPr lvl="1"/>
            <a:r>
              <a:rPr kumimoji="1" lang="en-US" altLang="zh-CN" dirty="0"/>
              <a:t>List all projects</a:t>
            </a:r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r>
              <a:rPr kumimoji="1" lang="zh-CN" altLang="en-US" dirty="0"/>
              <a:t>在</a:t>
            </a:r>
            <a:r>
              <a:rPr kumimoji="1" lang="en-US" altLang="zh-CN" dirty="0"/>
              <a:t>UI</a:t>
            </a:r>
            <a:r>
              <a:rPr kumimoji="1" lang="zh-CN" altLang="en-US" dirty="0"/>
              <a:t>上找到剛建立</a:t>
            </a:r>
            <a:r>
              <a:rPr kumimoji="1" lang="en-US" altLang="zh-CN" dirty="0"/>
              <a:t>GKE</a:t>
            </a:r>
            <a:r>
              <a:rPr kumimoji="1" lang="zh-CN" altLang="en-US" dirty="0"/>
              <a:t>的</a:t>
            </a:r>
            <a:r>
              <a:rPr kumimoji="1" lang="en-US" altLang="zh-CN" dirty="0"/>
              <a:t>project</a:t>
            </a:r>
          </a:p>
          <a:p>
            <a:pPr lvl="1"/>
            <a:endParaRPr kumimoji="1" lang="en-US" altLang="zh-CN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pPr marL="457200" lvl="1" indent="0">
              <a:buNone/>
            </a:pP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55F3EC-A858-7DFF-FB6A-F81444DFE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DA7EBFF-1E37-B2DC-3AB7-D7886645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157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76F5F23-CDA5-61CA-1F1B-7225B7E32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0876"/>
            <a:ext cx="7772400" cy="145624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CA5E4A7-B340-3FE7-1697-E1BE46B34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552" y="4714857"/>
            <a:ext cx="4547171" cy="200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03992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63435D-E314-E338-505A-6909B0489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指定</a:t>
            </a:r>
            <a:r>
              <a:rPr kumimoji="1" lang="en-US" altLang="zh-TW" dirty="0"/>
              <a:t>project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66B50C-9201-061F-8DED-91D970651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config set project {project name}</a:t>
            </a:r>
          </a:p>
          <a:p>
            <a:pPr lvl="1"/>
            <a:r>
              <a:rPr kumimoji="1" lang="zh-CN" altLang="en-US" dirty="0"/>
              <a:t>選擇所使用的</a:t>
            </a:r>
            <a:r>
              <a:rPr kumimoji="1" lang="en-US" altLang="zh-CN" dirty="0"/>
              <a:t>project </a:t>
            </a:r>
          </a:p>
          <a:p>
            <a:pPr lvl="1"/>
            <a:r>
              <a:rPr kumimoji="1" lang="en-US" altLang="zh-CN" dirty="0"/>
              <a:t>e.g. </a:t>
            </a:r>
            <a:r>
              <a:rPr kumimoji="1" lang="en-US" altLang="zh-CN" dirty="0" err="1"/>
              <a:t>gcloud</a:t>
            </a:r>
            <a:r>
              <a:rPr kumimoji="1" lang="en-US" altLang="zh-CN" dirty="0"/>
              <a:t> config set project nifty-altar-355608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270569-7C65-FA5F-2378-2B0A46D7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7E4AF2C-1887-0102-0C38-9AC2EC182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158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71D4771-CD43-FF6E-D7D2-92B03BBAF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787" y="3212370"/>
            <a:ext cx="7772400" cy="43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1416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FB4715-63ED-D74D-9A6A-CA2478DB8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6C05F3-2E49-1B43-B096-CC2E4DD2F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list</a:t>
            </a:r>
          </a:p>
          <a:p>
            <a:pPr lvl="1"/>
            <a:r>
              <a:rPr kumimoji="1" lang="zh-CN" altLang="en-US" dirty="0"/>
              <a:t>取得</a:t>
            </a:r>
            <a:r>
              <a:rPr kumimoji="1" lang="en-US" altLang="zh-CN" dirty="0"/>
              <a:t>k8s 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E1E43-5FCD-A843-A624-C911017F7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177A00A-3381-4D47-BFCE-74FA9B17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159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376ECC0-F7E1-F993-5CF7-2B2B4EE7C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55" y="2982366"/>
            <a:ext cx="11096914" cy="95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93516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945750-4487-8853-528D-DCAC77E4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取得指定</a:t>
            </a:r>
            <a:r>
              <a:rPr kumimoji="1" lang="en-US" altLang="zh-TW" dirty="0"/>
              <a:t>k8s</a:t>
            </a:r>
            <a:r>
              <a:rPr kumimoji="1" lang="zh-TW" altLang="en-US" dirty="0"/>
              <a:t>的授權</a:t>
            </a:r>
            <a:br>
              <a:rPr kumimoji="1" lang="en-US" altLang="zh-TW" dirty="0"/>
            </a:b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57D4DCF-4307-FF06-FEAD-2E5C22B34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get-credentials {container-cluster-name} --zone={Location}</a:t>
            </a:r>
          </a:p>
          <a:p>
            <a:pPr lvl="1"/>
            <a:r>
              <a:rPr kumimoji="1" lang="en-US" altLang="zh-TW" dirty="0" err="1"/>
              <a:t>gcloud</a:t>
            </a:r>
            <a:r>
              <a:rPr kumimoji="1" lang="en-US" altLang="zh-TW" dirty="0"/>
              <a:t> container clusters get-credentials yuwei-k8s-cluster --zone=us-central1</a:t>
            </a:r>
            <a:endParaRPr kumimoji="1" lang="zh-TW" altLang="en-US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382D0B-45C7-F0BA-62B0-655F6A1D3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807060E-F753-449E-078E-0E0FC28AA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160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ED32C0F-82B8-755B-6D56-5062669CD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2" y="3666520"/>
            <a:ext cx="11949169" cy="628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8324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65A31A-58D4-2DC7-0F13-14E847F83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瀏覽 </a:t>
            </a:r>
            <a:r>
              <a:rPr kumimoji="1" lang="en-US" altLang="zh-TW" dirty="0"/>
              <a:t>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/config, </a:t>
            </a:r>
            <a:r>
              <a:rPr kumimoji="1" lang="zh-TW" altLang="en-US" dirty="0"/>
              <a:t>會發現</a:t>
            </a:r>
            <a:r>
              <a:rPr kumimoji="1" lang="en-US" altLang="zh-TW" dirty="0"/>
              <a:t>GKE</a:t>
            </a:r>
            <a:r>
              <a:rPr kumimoji="1" lang="zh-TW" altLang="en-US" dirty="0"/>
              <a:t>授權檔已匯入其中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E229DC-EFAB-5798-E501-82B3C3B17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cat ~/.</a:t>
            </a:r>
            <a:r>
              <a:rPr kumimoji="1" lang="en" altLang="zh-TW" dirty="0" err="1"/>
              <a:t>kube</a:t>
            </a:r>
            <a:r>
              <a:rPr kumimoji="1" lang="en" altLang="zh-TW" dirty="0"/>
              <a:t>/config</a:t>
            </a:r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129065-0938-F2B8-3D53-21E9C26D0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2E24A6-556E-242A-4380-4BA492840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161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33841C-E5FB-024D-0B5C-25C94B8B8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371" y="1191121"/>
            <a:ext cx="6828034" cy="566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37845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427210-FC7B-CB23-B984-4F4746FD5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GCP </a:t>
            </a:r>
            <a:r>
              <a:rPr kumimoji="1" lang="en-US" altLang="zh-TW" dirty="0" err="1"/>
              <a:t>Cotainer</a:t>
            </a:r>
            <a:r>
              <a:rPr kumimoji="1" lang="en-US" altLang="zh-TW" dirty="0"/>
              <a:t> cluster </a:t>
            </a:r>
            <a:r>
              <a:rPr kumimoji="1" lang="zh-TW" altLang="en-US" dirty="0"/>
              <a:t>操作</a:t>
            </a:r>
            <a:r>
              <a:rPr kumimoji="1" lang="zh-CN" altLang="en-US" dirty="0"/>
              <a:t>權限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6E73B0-F4B4-CF8E-04FE-8AB1BD6F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10B1DB-70D6-86B3-7C93-9342A074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1E2308C-3625-9C13-BC3E-2CCB1ABFC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162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4571904-3D62-D993-01B7-7C5B396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286" y="2981008"/>
            <a:ext cx="7772400" cy="77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081732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F5A9DE-3A67-6F4F-B00A-23F370C11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 err="1"/>
              <a:t>LoadBalaner</a:t>
            </a:r>
            <a:r>
              <a:rPr kumimoji="1" lang="en-US" altLang="zh-TW" dirty="0"/>
              <a:t>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D379DA-4E57-AC49-8643-0728D3B15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create deployment hello-server --image </a:t>
            </a:r>
            <a:r>
              <a:rPr lang="en-US" altLang="zh-TW" dirty="0" err="1"/>
              <a:t>gcr.io</a:t>
            </a:r>
            <a:r>
              <a:rPr lang="en-US" altLang="zh-TW" dirty="0"/>
              <a:t>/google-samples/hello-app:1.0 --port 8080</a:t>
            </a:r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expose deployment hello-server --type </a:t>
            </a:r>
            <a:r>
              <a:rPr lang="en-US" altLang="zh-TW" dirty="0" err="1"/>
              <a:t>LoadBalancer</a:t>
            </a:r>
            <a:r>
              <a:rPr lang="en-US" altLang="zh-TW" dirty="0"/>
              <a:t> --port 80 --target-port 8080</a:t>
            </a:r>
          </a:p>
          <a:p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CF58B95A-93BC-4D44-8DF3-78474CCA9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FEFDC8C-00AC-294D-AA2D-91CB2B0E4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163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BE63B5-6C9D-22D4-C054-3E3565F2B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23" y="2800373"/>
            <a:ext cx="10349125" cy="79435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B484408-D28F-AF77-C473-4D8D44EEB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23" y="4925493"/>
            <a:ext cx="9992324" cy="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603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4911E4-271E-5147-B0B9-C093CC77D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部署狀態</a:t>
            </a:r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5F58F8B2-C2F7-DB49-B586-3C0C68A6D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8617489-0F73-E942-B410-D57FD8A81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164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B733CDD7-90A8-CFD0-D5CA-C47CEB22DD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3589"/>
            <a:ext cx="10515600" cy="3955409"/>
          </a:xfrm>
        </p:spPr>
      </p:pic>
    </p:spTree>
    <p:extLst>
      <p:ext uri="{BB962C8B-B14F-4D97-AF65-F5344CB8AC3E}">
        <p14:creationId xmlns:p14="http://schemas.microsoft.com/office/powerpoint/2010/main" val="184736847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629D8B-3F1D-FD41-B1B6-6B1C1CB25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測試</a:t>
            </a:r>
            <a:r>
              <a:rPr kumimoji="1" lang="en-US" altLang="zh-TW" dirty="0"/>
              <a:t>Load balance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ED623CD5-9006-F94A-89C3-A3D750FB8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D9213943-F4FD-124C-B590-DB9983E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165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BD11B05-15E0-671E-EB21-7FC24CA2B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2047911"/>
            <a:ext cx="7035800" cy="3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0837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A6F77C-85A2-2622-5F1E-700BE024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GKE</a:t>
            </a:r>
            <a:r>
              <a:rPr kumimoji="1" lang="zh-TW" altLang="en-US" dirty="0"/>
              <a:t>工作負載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91829D-B53B-FB34-BE03-694B36156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CB6EACE-7952-354B-4C6C-21DCF061B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166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6C46BDF0-11B3-2D5C-1380-75E0FED94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6271" y="1825625"/>
            <a:ext cx="10319457" cy="4351338"/>
          </a:xfrm>
        </p:spPr>
      </p:pic>
    </p:spTree>
    <p:extLst>
      <p:ext uri="{BB962C8B-B14F-4D97-AF65-F5344CB8AC3E}">
        <p14:creationId xmlns:p14="http://schemas.microsoft.com/office/powerpoint/2010/main" val="341655968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29465-78C6-BD29-F116-74AB3E7A8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GKE</a:t>
            </a:r>
            <a:r>
              <a:rPr kumimoji="1" lang="zh-TW" altLang="en-US" dirty="0"/>
              <a:t>工作負載</a:t>
            </a:r>
            <a:r>
              <a:rPr kumimoji="1" lang="en-US" altLang="zh-TW" dirty="0"/>
              <a:t>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84AE067-522A-C40F-C68C-E00015FF59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0732" y="1825625"/>
            <a:ext cx="8290535" cy="4351338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F421818-52D3-6000-68C5-03B702A68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4A83E94-DBBD-6A4E-4624-E91F2C8A0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29029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EF0B9-5ED4-8047-8ED1-B5D6CE1B2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Kubernetes </a:t>
            </a:r>
            <a:r>
              <a:rPr kumimoji="1" lang="zh-CN" altLang="en-US" dirty="0"/>
              <a:t>使用</a:t>
            </a:r>
            <a:r>
              <a:rPr kumimoji="1" lang="en-US" altLang="zh-CN" dirty="0"/>
              <a:t>load balance -4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D2CA6A5-ED0D-B34C-BC4A-AEDAFFE25F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339101" y="1299533"/>
            <a:ext cx="5299329" cy="5193342"/>
          </a:xfrm>
        </p:spPr>
      </p:pic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A0420686-2A24-644E-B5C9-A995F1EC8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F7071BA6-7A02-9B4E-9D14-09D39259A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353065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BE6F1-97A6-496C-4717-EE05BAAF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建立硬碟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A271250-F87A-33E8-9263-C4051457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3781C4F-BE4D-576A-8BC0-D905672AA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169</a:t>
            </a:fld>
            <a:endParaRPr kumimoji="1" lang="zh-TW" altLang="en-US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C6C68CD9-19CA-61E8-802C-E9AF9BB911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87507"/>
            <a:ext cx="10515600" cy="4227574"/>
          </a:xfrm>
        </p:spPr>
      </p:pic>
    </p:spTree>
    <p:extLst>
      <p:ext uri="{BB962C8B-B14F-4D97-AF65-F5344CB8AC3E}">
        <p14:creationId xmlns:p14="http://schemas.microsoft.com/office/powerpoint/2010/main" val="203767912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828448-C3B5-B44C-A09E-6D8B00B1C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 </a:t>
            </a:r>
            <a:r>
              <a:rPr kumimoji="1" lang="zh-CN" altLang="en-US" dirty="0"/>
              <a:t>建</a:t>
            </a:r>
            <a:r>
              <a:rPr kumimoji="1" lang="en-US" altLang="zh-CN" dirty="0"/>
              <a:t>Volume</a:t>
            </a:r>
            <a:endParaRPr kumimoji="1"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7D56EC50-BA33-6B47-9FBE-416531744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8CFC6B9-9EE4-714F-BF7C-B04B93A70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170</a:t>
            </a:fld>
            <a:endParaRPr kumimoji="1" lang="zh-TW" altLang="en-US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67286ADA-9A02-2C86-0A59-6913FB883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2689" y="1496852"/>
            <a:ext cx="5828281" cy="4964438"/>
          </a:xfrm>
        </p:spPr>
      </p:pic>
    </p:spTree>
    <p:extLst>
      <p:ext uri="{BB962C8B-B14F-4D97-AF65-F5344CB8AC3E}">
        <p14:creationId xmlns:p14="http://schemas.microsoft.com/office/powerpoint/2010/main" val="141447125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2E5D-0BCD-5B4A-8C1B-31DD731D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PVC, PV, Storage class</a:t>
            </a:r>
            <a:r>
              <a:rPr kumimoji="1" lang="zh-CN" altLang="en-US" dirty="0"/>
              <a:t>關係圖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B04F1A7-14E5-EC42-9DF3-2AEF961C00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0717"/>
            <a:ext cx="10515600" cy="4181153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2CE9AD-2D82-FF4B-85EC-2B8D32E8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62F3D2A-03FD-6D43-96AF-C400AB85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984010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3CE529-EABD-9D48-9C5E-8B023130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-1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C91129F-EA3A-E74E-997A-0D52C7C57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K8s/volumes/</a:t>
            </a:r>
            <a:r>
              <a:rPr lang="en-US" altLang="zh-TW" dirty="0" err="1"/>
              <a:t>pv.yaml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3" name="日期預留位置 2">
            <a:extLst>
              <a:ext uri="{FF2B5EF4-FFF2-40B4-BE49-F238E27FC236}">
                <a16:creationId xmlns:a16="http://schemas.microsoft.com/office/drawing/2014/main" id="{393B42E9-4039-574B-BBE4-B394598C7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4" name="投影片編號預留位置 3">
            <a:extLst>
              <a:ext uri="{FF2B5EF4-FFF2-40B4-BE49-F238E27FC236}">
                <a16:creationId xmlns:a16="http://schemas.microsoft.com/office/drawing/2014/main" id="{AB84AE98-B392-3C4D-B3B7-B445AFDE6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172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83BDDC1-3FDF-EC52-A173-8573C296B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092" y="2403963"/>
            <a:ext cx="7772400" cy="4134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1237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31F86F-5D01-1839-5AA9-86CA9AE1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建立</a:t>
            </a:r>
            <a:r>
              <a:rPr kumimoji="1" lang="en-US" altLang="zh-TW" dirty="0"/>
              <a:t>PV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E30EB10-CB1E-D8E5-40CD-08CE502D2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770709-A484-3358-3E2F-D1A264EC3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173</a:t>
            </a:fld>
            <a:endParaRPr kumimoji="1" lang="zh-TW" altLang="en-US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EC8A961C-3E90-68C6-FA4C-688E071D2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apply -f volumes/</a:t>
            </a:r>
            <a:r>
              <a:rPr lang="en-US" altLang="zh-TW" dirty="0" err="1"/>
              <a:t>pv.yaml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574A65A3-79D6-7AD7-8F02-BE59BB701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19" y="2844497"/>
            <a:ext cx="10043910" cy="58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2650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D7FC102-60D4-2347-B5EF-A8001236D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189D84F8-B959-D54B-AF8F-12792928E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spec.capacity.accessModes</a:t>
            </a:r>
            <a:r>
              <a:rPr kumimoji="1" lang="en-US" altLang="zh-TW" dirty="0"/>
              <a:t>:</a:t>
            </a:r>
          </a:p>
          <a:p>
            <a:pPr lvl="1"/>
            <a:r>
              <a:rPr kumimoji="1" lang="en-US" altLang="zh-TW" dirty="0" err="1"/>
              <a:t>ReadWriteOnce</a:t>
            </a:r>
            <a:r>
              <a:rPr kumimoji="1" lang="en-US" altLang="zh-TW" dirty="0"/>
              <a:t>: </a:t>
            </a:r>
          </a:p>
          <a:p>
            <a:pPr lvl="2"/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寫入與讀取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ReadOnlyMany</a:t>
            </a:r>
            <a:r>
              <a:rPr kumimoji="1" lang="en-US" altLang="zh-CN" dirty="0"/>
              <a:t>:</a:t>
            </a:r>
          </a:p>
          <a:p>
            <a:pPr lvl="2"/>
            <a:r>
              <a:rPr kumimoji="1" lang="en-US" altLang="zh-CN" dirty="0"/>
              <a:t>1</a:t>
            </a:r>
            <a:r>
              <a:rPr kumimoji="1" lang="zh-CN" altLang="en-US" dirty="0"/>
              <a:t>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讀取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ReadWriteMany</a:t>
            </a:r>
            <a:r>
              <a:rPr kumimoji="1" lang="en-US" altLang="zh-CN" dirty="0"/>
              <a:t>:</a:t>
            </a:r>
          </a:p>
          <a:p>
            <a:pPr lvl="2"/>
            <a:r>
              <a:rPr kumimoji="1" lang="zh-CN" altLang="en-US" dirty="0"/>
              <a:t>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寫入與多個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讀取</a:t>
            </a:r>
            <a:endParaRPr kumimoji="1" lang="en-US" altLang="zh-CN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696901A0-B107-8446-99BF-786C11F32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C4ACCC0E-425F-2A47-9CEC-1E35A70A0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3269740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28189-C639-0645-B276-B094E82D2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GCP volume -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</a:t>
            </a:r>
            <a:r>
              <a:rPr kumimoji="1" lang="en-US" altLang="zh-Hant" dirty="0"/>
              <a:t>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96EFEC-FBBE-604D-A979-442644BBB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Spec.gcePersistentDisk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除了</a:t>
            </a:r>
            <a:r>
              <a:rPr kumimoji="1" lang="en-US" altLang="zh-CN" dirty="0" err="1"/>
              <a:t>gce</a:t>
            </a:r>
            <a:r>
              <a:rPr kumimoji="1" lang="zh-CN" altLang="en-US" dirty="0"/>
              <a:t>，還有多種</a:t>
            </a:r>
            <a:endParaRPr kumimoji="1" lang="en-US" altLang="zh-CN" dirty="0"/>
          </a:p>
          <a:p>
            <a:pPr lvl="2"/>
            <a:r>
              <a:rPr kumimoji="1" lang="en-US" altLang="zh-TW" dirty="0" err="1"/>
              <a:t>nfs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rbd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awsElasticBlcokStorage</a:t>
            </a:r>
            <a:endParaRPr kumimoji="1" lang="en-US" altLang="zh-TW" dirty="0"/>
          </a:p>
          <a:p>
            <a:r>
              <a:rPr kumimoji="1" lang="en-US" altLang="zh-CN" dirty="0"/>
              <a:t>List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get </a:t>
            </a:r>
            <a:r>
              <a:rPr kumimoji="1" lang="en-US" altLang="zh-CN" dirty="0" err="1"/>
              <a:t>pv</a:t>
            </a:r>
            <a:endParaRPr kumimoji="1" lang="en-US" altLang="zh-CN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6234E88-A35A-0644-897F-78AC722E0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5A5B4DD-9D0C-5E41-97FC-E6F7B88EB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175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B4682D0-7FA9-85EC-3412-9E529A2AA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44" y="5056698"/>
            <a:ext cx="11966127" cy="84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507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EA6CA-82FD-BB41-9A47-F6DEF6E4F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</a:t>
            </a:r>
            <a:r>
              <a:rPr kumimoji="1" lang="zh-Hant" altLang="en-US" dirty="0"/>
              <a:t> 建</a:t>
            </a:r>
            <a:r>
              <a:rPr kumimoji="1" lang="en-US" altLang="zh-Hant" dirty="0" err="1"/>
              <a:t>PersistemtVolumeC</a:t>
            </a:r>
            <a:r>
              <a:rPr kumimoji="1" lang="en-US" altLang="zh-TW" dirty="0" err="1"/>
              <a:t>laim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1B0442-FA3A-BB44-B5AF-85E121D917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54493" y="2056092"/>
            <a:ext cx="4396341" cy="3244359"/>
          </a:xfrm>
        </p:spPr>
        <p:txBody>
          <a:bodyPr/>
          <a:lstStyle/>
          <a:p>
            <a:r>
              <a:rPr lang="en-US" altLang="zh-TW" sz="3200" dirty="0"/>
              <a:t>K8s/volumes/</a:t>
            </a:r>
            <a:r>
              <a:rPr lang="en-US" altLang="zh-TW" sz="3200" dirty="0" err="1"/>
              <a:t>pvc.yaml</a:t>
            </a:r>
            <a:r>
              <a:rPr kumimoji="1" lang="en-US" altLang="zh-TW" sz="3200" dirty="0" err="1"/>
              <a:t>Pods</a:t>
            </a:r>
            <a:r>
              <a:rPr kumimoji="1" lang="zh-Hant" altLang="en-US" sz="3200" dirty="0"/>
              <a:t> </a:t>
            </a:r>
            <a:r>
              <a:rPr kumimoji="1" lang="zh-CN" altLang="en-US" sz="3200" dirty="0"/>
              <a:t>界接</a:t>
            </a:r>
            <a:r>
              <a:rPr kumimoji="1" lang="en-US" altLang="zh-CN" sz="3200" dirty="0"/>
              <a:t>storage</a:t>
            </a:r>
            <a:r>
              <a:rPr kumimoji="1" lang="zh-CN" altLang="en-US" sz="3200" dirty="0"/>
              <a:t>層</a:t>
            </a:r>
            <a:endParaRPr kumimoji="1" lang="en-US" altLang="zh-TW" sz="3200" dirty="0"/>
          </a:p>
          <a:p>
            <a:r>
              <a:rPr kumimoji="1" lang="en-US" altLang="zh-TW" sz="3200" dirty="0"/>
              <a:t>List</a:t>
            </a:r>
          </a:p>
          <a:p>
            <a:pPr lvl="1"/>
            <a:r>
              <a:rPr kumimoji="1" lang="en-US" altLang="zh-TW" sz="2800" dirty="0" err="1"/>
              <a:t>kubectl</a:t>
            </a:r>
            <a:r>
              <a:rPr kumimoji="1" lang="en-US" altLang="zh-TW" sz="2800" dirty="0"/>
              <a:t> get </a:t>
            </a:r>
            <a:r>
              <a:rPr kumimoji="1" lang="en-US" altLang="zh-TW" sz="2800" dirty="0" err="1"/>
              <a:t>pvc</a:t>
            </a:r>
            <a:endParaRPr kumimoji="1" lang="zh-TW" altLang="en-US" sz="2800" dirty="0"/>
          </a:p>
        </p:txBody>
      </p:sp>
      <p:sp>
        <p:nvSpPr>
          <p:cNvPr id="7" name="日期預留位置 6">
            <a:extLst>
              <a:ext uri="{FF2B5EF4-FFF2-40B4-BE49-F238E27FC236}">
                <a16:creationId xmlns:a16="http://schemas.microsoft.com/office/drawing/2014/main" id="{1A37E903-B393-6E41-B552-D58F72CB9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8" name="投影片編號預留位置 7">
            <a:extLst>
              <a:ext uri="{FF2B5EF4-FFF2-40B4-BE49-F238E27FC236}">
                <a16:creationId xmlns:a16="http://schemas.microsoft.com/office/drawing/2014/main" id="{483E3C7C-1787-5A45-84B8-4C83C2AA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176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995DDBC-756E-B200-147E-7DBD03853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8" y="1690688"/>
            <a:ext cx="5063304" cy="4115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71673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448172F-7676-2BA4-D37A-EC0F7A0F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 err="1"/>
              <a:t>pvc</a:t>
            </a:r>
            <a:endParaRPr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6B856E2A-8AD2-8A4E-97B7-B69CCD446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Apply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Get status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BF9B67B-20EC-F250-B27C-F1BBEF3A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7548CF5-DBA4-AB6C-D4A7-24ABA7C63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177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8CF0783-4663-ECE6-6EC5-8D8ED713D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41778"/>
            <a:ext cx="7772400" cy="57444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1818BD8-B5A3-7659-8A3C-C0D16D5F3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422" y="5138406"/>
            <a:ext cx="7772400" cy="75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30512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日期預留位置 1">
            <a:extLst>
              <a:ext uri="{FF2B5EF4-FFF2-40B4-BE49-F238E27FC236}">
                <a16:creationId xmlns:a16="http://schemas.microsoft.com/office/drawing/2014/main" id="{7C7B0B0E-872A-8A4A-8B3F-7BE4247BF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3" name="投影片編號預留位置 2">
            <a:extLst>
              <a:ext uri="{FF2B5EF4-FFF2-40B4-BE49-F238E27FC236}">
                <a16:creationId xmlns:a16="http://schemas.microsoft.com/office/drawing/2014/main" id="{C63D40CC-CE62-6E4C-9A1E-92DA842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0813626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C32B27-89A6-A94B-9664-C5F962ECB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 :</a:t>
            </a:r>
            <a:r>
              <a:rPr kumimoji="1" lang="zh-TW" altLang="en-US" dirty="0"/>
              <a:t>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界接</a:t>
            </a:r>
            <a:r>
              <a:rPr kumimoji="1" lang="en-US" altLang="zh-CN" dirty="0"/>
              <a:t>volume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A4BB83-1234-6C45-82EA-FB0310ED2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k8s/pods/</a:t>
            </a:r>
            <a:r>
              <a:rPr kumimoji="1" lang="en-US" altLang="zh-TW" dirty="0" err="1"/>
              <a:t>nginx-gcpvolume.yaml</a:t>
            </a:r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8" name="日期預留位置 7">
            <a:extLst>
              <a:ext uri="{FF2B5EF4-FFF2-40B4-BE49-F238E27FC236}">
                <a16:creationId xmlns:a16="http://schemas.microsoft.com/office/drawing/2014/main" id="{2E2042AB-475D-F24F-8BE4-472523296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9" name="投影片編號預留位置 8">
            <a:extLst>
              <a:ext uri="{FF2B5EF4-FFF2-40B4-BE49-F238E27FC236}">
                <a16:creationId xmlns:a16="http://schemas.microsoft.com/office/drawing/2014/main" id="{D999625C-48AF-3441-B318-1DE38D6C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179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2C70CAE-3764-964F-9A5D-A61124E3D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228" y="1447801"/>
            <a:ext cx="4588771" cy="543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62392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6CC6DD-7F04-499C-1F06-4576047F8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 :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pod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8CFEA-3C0C-7F65-E56B-98213864D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kubectl</a:t>
            </a:r>
            <a:r>
              <a:rPr kumimoji="1" lang="en" altLang="zh-TW" dirty="0"/>
              <a:t> apply -f pods/nginx-</a:t>
            </a:r>
            <a:r>
              <a:rPr kumimoji="1" lang="en" altLang="zh-TW" dirty="0" err="1"/>
              <a:t>gcpvolume.yaml</a:t>
            </a:r>
            <a:endParaRPr kumimoji="1" lang="en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CD7482-3E16-EB35-C3AB-842B17CA2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AA3ED0-0A79-DB40-6725-118135816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180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D144AE7-38FA-41CD-4EA0-CD73E30C0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9" y="2961772"/>
            <a:ext cx="11090282" cy="5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978587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958D0-1839-594E-91B6-8D96AA57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檢查</a:t>
            </a:r>
            <a:r>
              <a:rPr kumimoji="1" lang="en-US" altLang="zh-CN" dirty="0"/>
              <a:t>pod</a:t>
            </a:r>
            <a:r>
              <a:rPr kumimoji="1" lang="zh-CN" altLang="en-US" dirty="0"/>
              <a:t>內掛載狀態。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B809E7-BD5A-D44D-BE19-788329935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-pod-</a:t>
            </a:r>
            <a:r>
              <a:rPr kumimoji="1" lang="en-US" altLang="zh-TW" dirty="0" err="1"/>
              <a:t>gcp</a:t>
            </a:r>
            <a:r>
              <a:rPr kumimoji="1" lang="en-US" altLang="zh-TW" dirty="0"/>
              <a:t>-volume -- /bin/bash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0AFDA4A-C2EB-2845-A09B-C813358B9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35355445-CA42-F240-854C-D3831556E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181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D0A13EC-E40E-5B58-7EBC-303F13EC8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285" y="3048846"/>
            <a:ext cx="7772400" cy="2502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24501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35A33D-47FB-5547-9322-03A6EBF95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-1</a:t>
            </a:r>
            <a:endParaRPr kumimoji="1" lang="zh-TW" altLang="en-US" dirty="0"/>
          </a:p>
        </p:txBody>
      </p:sp>
      <p:pic>
        <p:nvPicPr>
          <p:cNvPr id="8" name="內容版面配置區 9">
            <a:extLst>
              <a:ext uri="{FF2B5EF4-FFF2-40B4-BE49-F238E27FC236}">
                <a16:creationId xmlns:a16="http://schemas.microsoft.com/office/drawing/2014/main" id="{BDE770C0-DDDC-EA44-8CD6-900ADBE12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4846" y="3655126"/>
            <a:ext cx="6487091" cy="768443"/>
          </a:xfrm>
        </p:spPr>
      </p:pic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5741DEDD-2543-A745-994C-0EDD848D8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ED534C6-FE5F-F646-A1FD-CEA22935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2377697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CFB81EF1-6584-AC45-A6E6-EC0E84D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408BF20D-954C-1B45-893D-3F1BDBF90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delete pods </a:t>
            </a:r>
            <a:r>
              <a:rPr lang="en-US" altLang="zh-TW" dirty="0"/>
              <a:t>nginx-pod-</a:t>
            </a:r>
            <a:r>
              <a:rPr lang="en-US" altLang="zh-TW" dirty="0" err="1"/>
              <a:t>gcp</a:t>
            </a:r>
            <a:r>
              <a:rPr lang="en-US" altLang="zh-TW" dirty="0"/>
              <a:t>-volume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165CC813-A183-1240-871E-F0A1BEACB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DA844EBB-F30B-3048-9B52-4404CC4E4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183</a:t>
            </a:fld>
            <a:endParaRPr kumimoji="1"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BFCCB43-54B9-D14C-83E0-91A6DCD9E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964" y="3245679"/>
            <a:ext cx="6790646" cy="230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4732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1CC2513-98B4-C646-911E-6E7E71CCF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GCP Volume: </a:t>
            </a:r>
            <a:r>
              <a:rPr kumimoji="1" lang="zh-CN" altLang="en-US" dirty="0"/>
              <a:t>寫入檔案，刪除再重建</a:t>
            </a:r>
            <a:r>
              <a:rPr kumimoji="1" lang="en-US" altLang="zh-CN" dirty="0"/>
              <a:t>pod</a:t>
            </a:r>
            <a:r>
              <a:rPr kumimoji="1" lang="zh-CN" altLang="en-US" dirty="0"/>
              <a:t>，寫入檔案還是存在</a:t>
            </a:r>
            <a:r>
              <a:rPr kumimoji="1" lang="en-US" altLang="zh-CN" dirty="0"/>
              <a:t>-3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714A350-3D14-D642-A4D7-C2691CB55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Kubetctl</a:t>
            </a:r>
            <a:r>
              <a:rPr lang="en-US" altLang="zh-TW" dirty="0"/>
              <a:t> apply -f </a:t>
            </a:r>
            <a:r>
              <a:rPr lang="en-US" altLang="zh-TW" dirty="0" err="1"/>
              <a:t>nginx-gcpvolume.yaml</a:t>
            </a: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5" name="日期預留位置 4">
            <a:extLst>
              <a:ext uri="{FF2B5EF4-FFF2-40B4-BE49-F238E27FC236}">
                <a16:creationId xmlns:a16="http://schemas.microsoft.com/office/drawing/2014/main" id="{918CFF26-8002-C148-866B-68F438F62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EA87D7AB-BFBB-934A-825C-E6A4B4695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184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F068596-65E3-D947-9F30-73AD397BD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15" y="3041694"/>
            <a:ext cx="9389333" cy="2806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01944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100A3D-C150-544D-9F0F-32208BE5D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 </a:t>
            </a:r>
            <a:r>
              <a:rPr kumimoji="1" lang="zh-CN" altLang="en-US" dirty="0"/>
              <a:t>部署受壓測端</a:t>
            </a:r>
            <a:r>
              <a:rPr kumimoji="1" lang="en-US" altLang="zh-CN" dirty="0"/>
              <a:t>deploy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6106EA-19A1-1C4F-AAC1-450EF098B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部署受壓測</a:t>
            </a:r>
            <a:r>
              <a:rPr kumimoji="1" lang="en-US" altLang="zh-TW" dirty="0"/>
              <a:t>deployment php-</a:t>
            </a:r>
            <a:r>
              <a:rPr kumimoji="1" lang="en-US" altLang="zh-TW" dirty="0" err="1"/>
              <a:t>apahce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php-apache-deploy.yaml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5397CF-052A-5C44-94AF-131AAB125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07264ED-36DD-7F43-8504-F8A3E4E09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185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9DD5246-2DD5-F4C0-8C13-565184751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49" y="3087151"/>
            <a:ext cx="10836187" cy="5601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8818B4A-8849-255D-5DA9-CBAAE867F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769005"/>
            <a:ext cx="9375375" cy="103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95075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3317A9-AB98-A042-BEF7-F16652A27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</a:t>
            </a:r>
            <a:r>
              <a:rPr kumimoji="1" lang="zh-CN" altLang="en-US" dirty="0"/>
              <a:t>部署受壓測端</a:t>
            </a:r>
            <a:r>
              <a:rPr kumimoji="1" lang="en-US" altLang="zh-CN" dirty="0"/>
              <a:t>service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6FF9E6-A049-1241-9EC2-56900FCD3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部署受壓測</a:t>
            </a:r>
            <a:r>
              <a:rPr lang="en-US" altLang="zh-TW" dirty="0"/>
              <a:t>service php-apache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php-apache-service.yaml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86991C1-F487-A54A-BAF6-46CA52A4C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AE53659-1942-B941-9D54-E026C97E6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186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E54C828-9BC8-C8BA-E7A7-B05365A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28" y="2847503"/>
            <a:ext cx="12045689" cy="86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8A2B834-B0B4-511D-D361-912D0B4D3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236" y="4543280"/>
            <a:ext cx="7772400" cy="118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73535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41A808-1E7A-FA40-805B-E87BD085D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auto scaling -</a:t>
            </a:r>
            <a:r>
              <a:rPr kumimoji="1" lang="zh-CN" altLang="en-US" dirty="0"/>
              <a:t>部署壓測別人</a:t>
            </a:r>
            <a:r>
              <a:rPr kumimoji="1" lang="en-US" altLang="zh-CN" dirty="0"/>
              <a:t>pod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9410DE-6C82-7847-A9F7-FA8C8F721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部署一個壓測別人的</a:t>
            </a:r>
            <a:r>
              <a:rPr lang="en-US" altLang="zh-TW" dirty="0"/>
              <a:t>pod </a:t>
            </a:r>
            <a:r>
              <a:rPr lang="en-US" altLang="zh-TW" dirty="0" err="1"/>
              <a:t>busybox</a:t>
            </a:r>
            <a:endParaRPr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k8s/deployment/autoscaling/</a:t>
            </a:r>
            <a:r>
              <a:rPr kumimoji="1" lang="en-US" altLang="zh-TW" dirty="0" err="1"/>
              <a:t>busybox.yaml</a:t>
            </a:r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570FEC-6191-E241-8F4F-6C6795639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79640D2-FDC6-284B-97E0-7A64D619A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187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B604769-F416-8E33-E575-BFF16B106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688" y="3429000"/>
            <a:ext cx="7772400" cy="150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2311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2D8B0A-A699-D646-B3C5-ACBABD97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 </a:t>
            </a:r>
            <a:r>
              <a:rPr kumimoji="1" lang="zh-CN" altLang="en-US" dirty="0"/>
              <a:t>設定</a:t>
            </a:r>
            <a:r>
              <a:rPr kumimoji="1" lang="en-US" altLang="zh-CN" dirty="0" err="1"/>
              <a:t>AutoScale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90A014-230F-8E42-A8A3-4A62612BA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kubectl</a:t>
            </a:r>
            <a:r>
              <a:rPr lang="en-US" altLang="zh-TW" dirty="0"/>
              <a:t> </a:t>
            </a:r>
            <a:r>
              <a:rPr lang="en-US" altLang="zh-TW" dirty="0" err="1"/>
              <a:t>autoscale</a:t>
            </a:r>
            <a:r>
              <a:rPr lang="en-US" altLang="zh-TW" dirty="0"/>
              <a:t> deployment </a:t>
            </a:r>
            <a:r>
              <a:rPr lang="en-US" altLang="zh-TW" dirty="0" err="1"/>
              <a:t>php-apache</a:t>
            </a:r>
            <a:r>
              <a:rPr lang="en-US" altLang="zh-TW" dirty="0"/>
              <a:t> --</a:t>
            </a:r>
            <a:r>
              <a:rPr lang="en-US" altLang="zh-TW" dirty="0" err="1"/>
              <a:t>cpu</a:t>
            </a:r>
            <a:r>
              <a:rPr lang="en-US" altLang="zh-TW" dirty="0"/>
              <a:t>-percent=50 --min=1 --max=10</a:t>
            </a:r>
          </a:p>
          <a:p>
            <a:pPr lvl="1"/>
            <a:endParaRPr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hpa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A63BBE19-88B2-C14D-A463-A7EA0889C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E7AF94D0-5CFA-7648-A0BF-1A4B0638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188</a:t>
            </a:fld>
            <a:endParaRPr kumimoji="1"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FD205EC-0FBD-9C92-002D-3A18756C2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673" y="2862884"/>
            <a:ext cx="10306053" cy="46594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178AFA5-CEAE-2607-6B3B-B633A408B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287" y="4587091"/>
            <a:ext cx="10338254" cy="8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35670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B50C75-B48C-4640-BBB9-ADC3EEA56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進行壓測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2641FC-CB62-2A4E-8885-1AF57C926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busybox</a:t>
            </a:r>
            <a:r>
              <a:rPr lang="en-US" altLang="zh-TW" dirty="0"/>
              <a:t> pod </a:t>
            </a:r>
            <a:r>
              <a:rPr lang="zh-TW" altLang="en-US" dirty="0"/>
              <a:t>中，對</a:t>
            </a:r>
            <a:r>
              <a:rPr lang="en-US" altLang="zh-TW" dirty="0"/>
              <a:t>php-</a:t>
            </a:r>
            <a:r>
              <a:rPr lang="en-US" altLang="zh-TW" dirty="0" err="1"/>
              <a:t>apahce</a:t>
            </a:r>
            <a:r>
              <a:rPr lang="zh-TW" altLang="en-US" dirty="0"/>
              <a:t>進行壓測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exec -it </a:t>
            </a:r>
            <a:r>
              <a:rPr lang="en-US" altLang="zh-TW" dirty="0" err="1"/>
              <a:t>busybox</a:t>
            </a:r>
            <a:r>
              <a:rPr lang="en-US" altLang="zh-TW" dirty="0"/>
              <a:t> -- /bin/</a:t>
            </a:r>
            <a:r>
              <a:rPr lang="en-US" altLang="zh-TW" dirty="0" err="1"/>
              <a:t>sh</a:t>
            </a:r>
            <a:endParaRPr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lang="en-US" altLang="zh-TW" dirty="0"/>
          </a:p>
          <a:p>
            <a:r>
              <a:rPr lang="zh-TW" altLang="en-US" dirty="0"/>
              <a:t>對</a:t>
            </a:r>
            <a:r>
              <a:rPr lang="en-US" altLang="zh-TW" dirty="0"/>
              <a:t>php-apache Service</a:t>
            </a:r>
            <a:r>
              <a:rPr lang="zh-TW" altLang="en-US" dirty="0"/>
              <a:t>的 </a:t>
            </a:r>
            <a:r>
              <a:rPr lang="en-US" altLang="zh-TW" dirty="0"/>
              <a:t>web</a:t>
            </a:r>
            <a:r>
              <a:rPr lang="zh-TW" altLang="en-US" dirty="0"/>
              <a:t>進行壓測</a:t>
            </a:r>
            <a:endParaRPr lang="en-US" altLang="zh-TW" dirty="0"/>
          </a:p>
          <a:p>
            <a:pPr lvl="1"/>
            <a:r>
              <a:rPr lang="en-US" altLang="zh-TW" dirty="0"/>
              <a:t>while true; do </a:t>
            </a:r>
            <a:r>
              <a:rPr lang="en-US" altLang="zh-TW" dirty="0" err="1"/>
              <a:t>wget</a:t>
            </a:r>
            <a:r>
              <a:rPr lang="en-US" altLang="zh-TW" dirty="0"/>
              <a:t> -q -O- http://php-apache; done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06FA5FD2-2338-144F-AA6E-1176C9142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6A7BA72A-5780-9F48-B07E-8F805D9CA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189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AE69C3-0F11-EC45-24EA-E02928BC8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559" y="2760933"/>
            <a:ext cx="7772400" cy="66806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862DF79-0550-118F-C228-50F5B1336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820" y="4945959"/>
            <a:ext cx="10911068" cy="81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31337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32E826-8AA2-A74C-8D29-B01777848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監控</a:t>
            </a:r>
            <a:r>
              <a:rPr kumimoji="1" lang="en-US" altLang="zh-TW" dirty="0" err="1"/>
              <a:t>hpa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9B133F-8DE4-174D-A29D-80B54BAF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開另一個</a:t>
            </a:r>
            <a:r>
              <a:rPr lang="en-US" altLang="zh-TW" dirty="0"/>
              <a:t>terminal</a:t>
            </a:r>
            <a:r>
              <a:rPr lang="zh-TW" altLang="en-US" dirty="0"/>
              <a:t>，監控</a:t>
            </a:r>
            <a:r>
              <a:rPr lang="en-US" altLang="zh-TW" dirty="0" err="1"/>
              <a:t>hpa</a:t>
            </a:r>
            <a:endParaRPr lang="en-US" altLang="zh-TW" dirty="0"/>
          </a:p>
          <a:p>
            <a:pPr lvl="1"/>
            <a:r>
              <a:rPr lang="en-US" altLang="zh-TW" dirty="0"/>
              <a:t>watch </a:t>
            </a:r>
            <a:r>
              <a:rPr lang="en-US" altLang="zh-TW" dirty="0" err="1"/>
              <a:t>kubectl</a:t>
            </a:r>
            <a:r>
              <a:rPr lang="en-US" altLang="zh-TW" dirty="0"/>
              <a:t> get </a:t>
            </a:r>
            <a:r>
              <a:rPr lang="en-US" altLang="zh-TW" dirty="0" err="1"/>
              <a:t>hpa</a:t>
            </a:r>
            <a:endParaRPr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25FD23-D09A-CC4B-A48F-49E3DD23C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5655DCD-C81F-3B4E-A31F-F603D3F4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190</a:t>
            </a:fld>
            <a:endParaRPr kumimoji="1"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B36C045-F184-1A1F-7419-01F2B82B8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63144"/>
            <a:ext cx="11007229" cy="103624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17FF1DB-F88F-45A8-DAC1-AF5EBCAF8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4846707"/>
            <a:ext cx="10565197" cy="103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8541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0D63F-D481-794A-8B97-7937950AB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</a:t>
            </a:r>
            <a:r>
              <a:rPr kumimoji="1" lang="zh-TW" altLang="en-US" dirty="0"/>
              <a:t> 監控</a:t>
            </a:r>
            <a:r>
              <a:rPr kumimoji="1" lang="en-US" altLang="zh-TW" dirty="0"/>
              <a:t>pod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738A869-BB36-4842-AB0A-97A3464C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D2431CE-89D1-4242-B5A7-52679A26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191</a:t>
            </a:fld>
            <a:endParaRPr kumimoji="1" lang="zh-TW" altLang="en-US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0388E605-79B1-7E47-0B7F-5CE942EF3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6117" y="1825625"/>
            <a:ext cx="87797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77504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7F2BFF-45F7-AC4B-AA10-2F3120B92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autoscaling - </a:t>
            </a:r>
            <a:r>
              <a:rPr kumimoji="1" lang="zh-CN" altLang="en-US" dirty="0"/>
              <a:t>停止壓測後</a:t>
            </a:r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82249E-DC63-9744-9997-8C11535DE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730AB6D-7B5A-C748-BD26-809567048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192</a:t>
            </a:fld>
            <a:endParaRPr kumimoji="1"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81B733A5-E579-0440-ABD4-8D9873B8C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0260" y="1825625"/>
            <a:ext cx="73314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163805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604B9D75-A40A-D7D7-2A66-0D9F221C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</a:t>
            </a:r>
            <a:r>
              <a:rPr kumimoji="1" lang="zh-TW" altLang="en-US" dirty="0"/>
              <a:t> 使用</a:t>
            </a:r>
            <a:r>
              <a:rPr kumimoji="1" lang="en-US" altLang="zh-TW" dirty="0"/>
              <a:t>Putty</a:t>
            </a:r>
            <a:r>
              <a:rPr kumimoji="1" lang="zh-TW" altLang="en-US" dirty="0"/>
              <a:t>與</a:t>
            </a:r>
            <a:r>
              <a:rPr kumimoji="1" lang="en-US" altLang="zh-TW" dirty="0" err="1"/>
              <a:t>ssh</a:t>
            </a:r>
            <a:r>
              <a:rPr kumimoji="1" lang="en-US" altLang="zh-TW" dirty="0"/>
              <a:t> key </a:t>
            </a:r>
            <a:r>
              <a:rPr kumimoji="1" lang="zh-TW" altLang="en-US" dirty="0"/>
              <a:t>連線至</a:t>
            </a:r>
            <a:r>
              <a:rPr kumimoji="1" lang="en-US" altLang="zh-TW" dirty="0" err="1"/>
              <a:t>linux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D5B6FC87-9F3C-E8ED-5800-570C3351E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D913D-7814-79A5-1058-77369F2DE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A87B6D-1FFC-4E41-E7BC-94E420B3D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81596944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672457E4-8DDC-EF42-87B6-74003E3324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13103" y="1747684"/>
            <a:ext cx="4365794" cy="435133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3F25F83-0F9E-A24D-ADED-DD851AE1D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下載</a:t>
            </a:r>
            <a:r>
              <a:rPr kumimoji="1" lang="en-US" altLang="zh-CN" dirty="0"/>
              <a:t>Putty</a:t>
            </a:r>
            <a:r>
              <a:rPr kumimoji="1" lang="zh-Hant" altLang="en-US" dirty="0"/>
              <a:t> ，填入</a:t>
            </a:r>
            <a:r>
              <a:rPr kumimoji="1" lang="en-US" altLang="zh-Hant" dirty="0" err="1"/>
              <a:t>id@ip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638C6DEA-19A6-9344-8A08-281FD4E6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6E1B9F03-5220-EE42-905B-1F8CE0D06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194</a:t>
            </a:fld>
            <a:endParaRPr kumimoji="1" lang="zh-TW" altLang="en-US"/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FF2A8754-BBE0-A446-82D0-BC9B16A8B542}"/>
              </a:ext>
            </a:extLst>
          </p:cNvPr>
          <p:cNvSpPr/>
          <p:nvPr/>
        </p:nvSpPr>
        <p:spPr>
          <a:xfrm>
            <a:off x="3368130" y="2298251"/>
            <a:ext cx="631179" cy="1132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0761AAD8-0B71-7F49-8B8C-5D2C4D0E191E}"/>
              </a:ext>
            </a:extLst>
          </p:cNvPr>
          <p:cNvSpPr/>
          <p:nvPr/>
        </p:nvSpPr>
        <p:spPr>
          <a:xfrm>
            <a:off x="4871883" y="2867525"/>
            <a:ext cx="631179" cy="1132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6556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829F1D-323B-8A4B-A5CB-30DF7601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左邊</a:t>
            </a:r>
            <a:r>
              <a:rPr kumimoji="1" lang="en-US" altLang="zh-CN" dirty="0" err="1"/>
              <a:t>Connectopn</a:t>
            </a:r>
            <a:r>
              <a:rPr kumimoji="1" lang="en-US" altLang="zh-CN" dirty="0"/>
              <a:t>/SSH/</a:t>
            </a:r>
            <a:r>
              <a:rPr kumimoji="1" lang="en-US" altLang="zh-CN" dirty="0" err="1"/>
              <a:t>Auth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ECFF6A8-7CF9-1E4F-8841-063947EB5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718BB21-09C5-E54B-942F-535063E91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195</a:t>
            </a:fld>
            <a:endParaRPr kumimoji="1" lang="zh-TW" altLang="en-US"/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D8C874B1-5CBC-7E60-3B03-5313646F7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3008" y="1690688"/>
            <a:ext cx="5145983" cy="5032133"/>
          </a:xfrm>
        </p:spPr>
      </p:pic>
    </p:spTree>
    <p:extLst>
      <p:ext uri="{BB962C8B-B14F-4D97-AF65-F5344CB8AC3E}">
        <p14:creationId xmlns:p14="http://schemas.microsoft.com/office/powerpoint/2010/main" val="2387357027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AEAEF0-80D9-3B43-9B97-A389961C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選擇</a:t>
            </a:r>
            <a:r>
              <a:rPr kumimoji="1" lang="en-US" altLang="zh-CN" dirty="0"/>
              <a:t>k8s.ppk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806627E-8695-134F-A496-6CC9A7ABC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5537" y="1825625"/>
            <a:ext cx="5760926" cy="4351338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956C960B-EA13-DB4E-86E0-27C10647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044EB874-52F8-B742-AB9B-0B1564780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039958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924A-EF90-7D42-9DF2-1FBD496FF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選擇</a:t>
            </a:r>
            <a:r>
              <a:rPr kumimoji="1" lang="en-US" altLang="zh-CN" dirty="0"/>
              <a:t>Private key file </a:t>
            </a:r>
            <a:r>
              <a:rPr kumimoji="1" lang="en-US" altLang="zh-CN" dirty="0" err="1"/>
              <a:t>auth</a:t>
            </a:r>
            <a:endParaRPr kumimoji="1" lang="zh-TW" altLang="en-US" dirty="0"/>
          </a:p>
        </p:txBody>
      </p:sp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2392EE3D-60AB-6B42-A331-F933A7552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2FE5FB83-F40D-3542-B108-B9B252E7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197</a:t>
            </a:fld>
            <a:endParaRPr kumimoji="1" lang="zh-TW" altLang="en-US"/>
          </a:p>
        </p:txBody>
      </p:sp>
      <p:pic>
        <p:nvPicPr>
          <p:cNvPr id="19" name="內容版面配置區 18">
            <a:extLst>
              <a:ext uri="{FF2B5EF4-FFF2-40B4-BE49-F238E27FC236}">
                <a16:creationId xmlns:a16="http://schemas.microsoft.com/office/drawing/2014/main" id="{E9A4FF1A-8D09-806F-087B-44B02C7F0B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0508" y="1743124"/>
            <a:ext cx="5090984" cy="4978351"/>
          </a:xfrm>
        </p:spPr>
      </p:pic>
    </p:spTree>
    <p:extLst>
      <p:ext uri="{BB962C8B-B14F-4D97-AF65-F5344CB8AC3E}">
        <p14:creationId xmlns:p14="http://schemas.microsoft.com/office/powerpoint/2010/main" val="2202922430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6A7E24-594C-C441-8D2B-E4393B516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A: window login to cloud VM by putty - </a:t>
            </a:r>
            <a:r>
              <a:rPr kumimoji="1" lang="zh-CN" altLang="en-US" dirty="0"/>
              <a:t>即可登入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3DD53B-C99A-9544-9FB8-A93ACB2DF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2750" y="2172494"/>
            <a:ext cx="6286500" cy="3657600"/>
          </a:xfrm>
        </p:spPr>
      </p:pic>
      <p:sp>
        <p:nvSpPr>
          <p:cNvPr id="4" name="日期預留位置 3">
            <a:extLst>
              <a:ext uri="{FF2B5EF4-FFF2-40B4-BE49-F238E27FC236}">
                <a16:creationId xmlns:a16="http://schemas.microsoft.com/office/drawing/2014/main" id="{7126EAB2-981B-BA4E-9969-13A34D1B7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預留位置 4">
            <a:extLst>
              <a:ext uri="{FF2B5EF4-FFF2-40B4-BE49-F238E27FC236}">
                <a16:creationId xmlns:a16="http://schemas.microsoft.com/office/drawing/2014/main" id="{B5379B44-2BED-F446-9EED-90BC3A492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222630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9B0BEC22-EE98-4773-13C2-D597B1CB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B: </a:t>
            </a:r>
            <a:r>
              <a:rPr kumimoji="1" lang="en-US" altLang="zh-TW" dirty="0" err="1"/>
              <a:t>DaemonSet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5F67D3A4-4823-E6CE-22E4-EBF78423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461525-9ACE-9700-01CB-09DEA74DD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969AD2-3528-D7BF-7C76-2B45371F7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199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606229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48E9C4-E253-6943-B62D-847C7254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DaemonSet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9E1799-95AB-054A-A6C3-D01A3193F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預設部署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到</a:t>
            </a:r>
            <a:r>
              <a:rPr kumimoji="1" lang="zh-TW" altLang="en-US" dirty="0"/>
              <a:t>每個</a:t>
            </a:r>
            <a:r>
              <a:rPr kumimoji="1" lang="zh-CN" altLang="en-US" dirty="0"/>
              <a:t>節點上</a:t>
            </a:r>
            <a:endParaRPr kumimoji="1" lang="en-US" altLang="zh-TW" dirty="0"/>
          </a:p>
          <a:p>
            <a:r>
              <a:rPr kumimoji="1" lang="zh-CN" altLang="en-US" dirty="0"/>
              <a:t>節點新增、刪除，</a:t>
            </a:r>
            <a:r>
              <a:rPr kumimoji="1" lang="en-US" altLang="zh-CN" dirty="0" err="1"/>
              <a:t>DeamonSet</a:t>
            </a:r>
            <a:r>
              <a:rPr kumimoji="1" lang="en-US" altLang="zh-CN" dirty="0"/>
              <a:t> </a:t>
            </a:r>
            <a:r>
              <a:rPr kumimoji="1" lang="zh-CN" altLang="en-US" dirty="0"/>
              <a:t>也會自動新增及移除</a:t>
            </a:r>
            <a:endParaRPr kumimoji="1" lang="en-US" altLang="zh-CN" dirty="0"/>
          </a:p>
          <a:p>
            <a:r>
              <a:rPr kumimoji="1" lang="zh-CN" altLang="en-US" dirty="0"/>
              <a:t>主要用於</a:t>
            </a:r>
            <a:r>
              <a:rPr kumimoji="1" lang="en-US" altLang="zh-CN" dirty="0"/>
              <a:t>log</a:t>
            </a:r>
            <a:r>
              <a:rPr kumimoji="1" lang="zh-CN" altLang="en-US" dirty="0"/>
              <a:t>收集、監控。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0F7EEE-A957-FC40-9FD9-7026C8A35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F9582E9-D4F5-C14C-A360-582A31BA4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838466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D3447D-D362-5D48-9C0C-09C3F046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DaemonSet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0C5028-ED85-EC44-8309-A69A73AD1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</a:t>
            </a:r>
            <a:r>
              <a:rPr kumimoji="1" lang="en-US" altLang="zh-CN" dirty="0" err="1"/>
              <a:t>DaemonSet</a:t>
            </a:r>
            <a:endParaRPr kumimoji="1" lang="en-US" altLang="zh-CN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部署確認</a:t>
            </a:r>
            <a:endParaRPr kumimoji="1" lang="en-US" altLang="zh-CN" dirty="0"/>
          </a:p>
          <a:p>
            <a:pPr lvl="1"/>
            <a:endParaRPr kumimoji="1" lang="en-US" altLang="zh-TW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7CF03A-DC5D-2648-917C-D31CA9AB8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0544E8-068F-BD4B-8F31-A490E1E3F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201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13805D-E214-FE45-B855-F4BB1F992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35300"/>
            <a:ext cx="10515600" cy="7874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7758A73-4E2C-1B42-AF03-6839276F4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9430"/>
            <a:ext cx="12192000" cy="156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3039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9BF60E-D9D7-7A4C-94BF-5D31B3445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利用</a:t>
            </a:r>
            <a:r>
              <a:rPr kumimoji="1" lang="en-US" altLang="zh-CN" dirty="0" err="1"/>
              <a:t>DaemonSet</a:t>
            </a:r>
            <a:r>
              <a:rPr kumimoji="1" lang="en-US" altLang="zh-CN" dirty="0"/>
              <a:t> pod </a:t>
            </a:r>
            <a:r>
              <a:rPr kumimoji="1" lang="zh-CN" altLang="en-US" dirty="0"/>
              <a:t>取得節點上</a:t>
            </a:r>
            <a:r>
              <a:rPr kumimoji="1" lang="en-US" altLang="zh-CN" dirty="0"/>
              <a:t>docker log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585873-350B-0E4B-ACD0-098D61AD2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7D90B5B-175A-584E-87DE-5E24ECCCE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A32E44A-0888-1941-9C6C-8CDED7CE2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202</a:t>
            </a:fld>
            <a:endParaRPr kumimoji="1"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E8191C3-B66E-FA4C-8748-083F3BB02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176" y="2091969"/>
            <a:ext cx="6553200" cy="435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91567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1EED90-C256-B845-BB57-B1EB2E29A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 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 資訊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32AE24-504A-0946-A08B-27D1E553D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 -o wide --all-namespaces | grep </a:t>
            </a:r>
            <a:r>
              <a:rPr kumimoji="1" lang="en-US" altLang="zh-TW" dirty="0" err="1"/>
              <a:t>fluentd-elasticsearc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sz="2800" dirty="0" err="1"/>
              <a:t>kubectl</a:t>
            </a:r>
            <a:r>
              <a:rPr kumimoji="1" lang="en-US" altLang="zh-TW" sz="2800" dirty="0"/>
              <a:t> exec -it fluentd-elasticsearch-97fdd -n </a:t>
            </a:r>
            <a:r>
              <a:rPr kumimoji="1" lang="en-US" altLang="zh-TW" sz="2800" dirty="0" err="1"/>
              <a:t>kube</a:t>
            </a:r>
            <a:r>
              <a:rPr kumimoji="1" lang="en-US" altLang="zh-TW" sz="2800" dirty="0"/>
              <a:t>-system -- ls /var/lib/docker/containers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5B8C0C-5D8A-1D41-90C5-013B21369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zh-TW"/>
              <a:t>2026/5/30</a:t>
            </a:r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17B2A8B-A772-3547-970B-3BEB05AAC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8C1CA-DC90-284F-98A1-4BA8430588C0}" type="slidenum">
              <a:rPr kumimoji="1" lang="zh-TW" altLang="en-US" smtClean="0"/>
              <a:t>203</a:t>
            </a:fld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3E1A8FD-65BA-5E43-9697-114750869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0428"/>
            <a:ext cx="12192000" cy="3560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565F606-6EFB-4342-A1B0-3FDE75573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24548"/>
            <a:ext cx="12192000" cy="187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248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9201</TotalTime>
  <Words>5345</Words>
  <Application>Microsoft Macintosh PowerPoint</Application>
  <PresentationFormat>寬螢幕</PresentationFormat>
  <Paragraphs>1271</Paragraphs>
  <Slides>203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203</vt:i4>
      </vt:variant>
    </vt:vector>
  </HeadingPairs>
  <TitlesOfParts>
    <vt:vector size="207" baseType="lpstr">
      <vt:lpstr>Noto Sans JP</vt:lpstr>
      <vt:lpstr>Arial</vt:lpstr>
      <vt:lpstr>Times New Roman</vt:lpstr>
      <vt:lpstr>Office 佈景主題</vt:lpstr>
      <vt:lpstr>Kubernetes (K8s) 容器化平台建置與運作管理實務班</vt:lpstr>
      <vt:lpstr>Outlook</vt:lpstr>
      <vt:lpstr>課程資源</vt:lpstr>
      <vt:lpstr>ssh 登入</vt:lpstr>
      <vt:lpstr>Container 與Docker</vt:lpstr>
      <vt:lpstr>Container </vt:lpstr>
      <vt:lpstr>Container vs. Virtual Machine -1</vt:lpstr>
      <vt:lpstr>Docker </vt:lpstr>
      <vt:lpstr>Container vs. Virtual Machine -2</vt:lpstr>
      <vt:lpstr>Docker 與Kubernetes</vt:lpstr>
      <vt:lpstr>Container 製作流程</vt:lpstr>
      <vt:lpstr>Docker 元件 -1</vt:lpstr>
      <vt:lpstr>Docker image堆疊</vt:lpstr>
      <vt:lpstr>Docker 元件 -2</vt:lpstr>
      <vt:lpstr>Install docker in the VM1 - graph</vt:lpstr>
      <vt:lpstr>Install docker in the VM1 - command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Python Flask API Dockerfile 比較</vt:lpstr>
      <vt:lpstr>自己build: 產生image</vt:lpstr>
      <vt:lpstr>Docker image -1</vt:lpstr>
      <vt:lpstr>Docker image -2</vt:lpstr>
      <vt:lpstr>Docker image -3</vt:lpstr>
      <vt:lpstr>Docker process -1</vt:lpstr>
      <vt:lpstr>Docker run 參數介紹</vt:lpstr>
      <vt:lpstr>Docker process -2</vt:lpstr>
      <vt:lpstr>Docker image -2</vt:lpstr>
      <vt:lpstr>Docker process - 除錯</vt:lpstr>
      <vt:lpstr>Dockerfile Multi-stage</vt:lpstr>
      <vt:lpstr>自己build Dockerfile: Java Spring with gradle</vt:lpstr>
      <vt:lpstr>Build and Run Java Spring </vt:lpstr>
      <vt:lpstr>驗證 Java Spring</vt:lpstr>
      <vt:lpstr>自己build Dockerfile: VueJS</vt:lpstr>
      <vt:lpstr>Docker network - None</vt:lpstr>
      <vt:lpstr>Docker network - Container 1</vt:lpstr>
      <vt:lpstr>Docker network - Container 2</vt:lpstr>
      <vt:lpstr>Docker network - Host -1</vt:lpstr>
      <vt:lpstr>Docker network - Host -2</vt:lpstr>
      <vt:lpstr>Docker network - Bridge(default)</vt:lpstr>
      <vt:lpstr>Kubernetes</vt:lpstr>
      <vt:lpstr>Kubernetes</vt:lpstr>
      <vt:lpstr>K8s 架構圖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藍綠部署 -1 </vt:lpstr>
      <vt:lpstr>藍綠部署 - 2</vt:lpstr>
      <vt:lpstr>藍綠部署 - 3</vt:lpstr>
      <vt:lpstr>A/B測試</vt:lpstr>
      <vt:lpstr>A/B測試- 2</vt:lpstr>
      <vt:lpstr>A/B測試- 3</vt:lpstr>
      <vt:lpstr>A/B測試- 4</vt:lpstr>
      <vt:lpstr>Two Service to one deployment</vt:lpstr>
      <vt:lpstr>K8s - Scaling</vt:lpstr>
      <vt:lpstr>K8s - Rolling update -1</vt:lpstr>
      <vt:lpstr>K8s - Rolling update -2</vt:lpstr>
      <vt:lpstr>K8s network module - Flannel (Overlay network)</vt:lpstr>
      <vt:lpstr>K8s network module - Calico</vt:lpstr>
      <vt:lpstr>Install kubectl command on VM1</vt:lpstr>
      <vt:lpstr>驗證kubectl 指令</vt:lpstr>
      <vt:lpstr>用rancher 安裝Kubernetes</vt:lpstr>
      <vt:lpstr>Deploy Kubernetes: Rancher</vt:lpstr>
      <vt:lpstr>Deploy Rancher Container</vt:lpstr>
      <vt:lpstr>Deploy Rancher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預計裝在裸機，點選Custom</vt:lpstr>
      <vt:lpstr>Cluster命名、選擇k8s版本，選擇網路模組Calico</vt:lpstr>
      <vt:lpstr>勾選etcd, control plane, worker三項，複製下面docker command</vt:lpstr>
      <vt:lpstr>VM2上執行</vt:lpstr>
      <vt:lpstr>檢查deploy進度</vt:lpstr>
      <vt:lpstr>安裝kubernetes</vt:lpstr>
      <vt:lpstr>Kubernetes 部署中</vt:lpstr>
      <vt:lpstr>部署完成，點選Download KubeConfig </vt:lpstr>
      <vt:lpstr>另存Kubeconfig file.</vt:lpstr>
      <vt:lpstr>Kubernetes 操作</vt:lpstr>
      <vt:lpstr>放置kube conf</vt:lpstr>
      <vt:lpstr>切換k8s 環境 (讀取~/.kube/config)</vt:lpstr>
      <vt:lpstr>Kubernets 最小單位: pod</vt:lpstr>
      <vt:lpstr>部署Kubernetes yaml 檔，apply</vt:lpstr>
      <vt:lpstr>kubectl get pods -1</vt:lpstr>
      <vt:lpstr>kubectl get pods -2</vt:lpstr>
      <vt:lpstr>K8s deployment YAML -1</vt:lpstr>
      <vt:lpstr>Apply deployment yaml</vt:lpstr>
      <vt:lpstr>K8S 顯示資訊</vt:lpstr>
      <vt:lpstr>K8s deployment YAML -2</vt:lpstr>
      <vt:lpstr>K8s deployment YAML -3</vt:lpstr>
      <vt:lpstr>kubectl get deployment -1</vt:lpstr>
      <vt:lpstr>kubectl get deployment -2</vt:lpstr>
      <vt:lpstr>K8s container request and limit -1</vt:lpstr>
      <vt:lpstr>K8s container request and limit -2</vt:lpstr>
      <vt:lpstr>K8s container request and limit -3</vt:lpstr>
      <vt:lpstr>在pod執行操作 -1</vt:lpstr>
      <vt:lpstr>在pod執行操作 -2</vt:lpstr>
      <vt:lpstr>Pod訊息</vt:lpstr>
      <vt:lpstr>kubectl 指令</vt:lpstr>
      <vt:lpstr>實作: run nginx deployment upgrade and rollout -3</vt:lpstr>
      <vt:lpstr>實作: run nginx deployment upgrade and rollout -4 </vt:lpstr>
      <vt:lpstr>實作: run nginx deployment upgrade and rollout -5</vt:lpstr>
      <vt:lpstr>K8s node -1</vt:lpstr>
      <vt:lpstr>K8s node -2</vt:lpstr>
      <vt:lpstr>K8s node-3 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DNS</vt:lpstr>
      <vt:lpstr>K8s 系統資訊 (kube-system namespace)</vt:lpstr>
      <vt:lpstr>Kubernetes Namespace (縮寫：ns)</vt:lpstr>
      <vt:lpstr>Kubernetes Namespace</vt:lpstr>
      <vt:lpstr>K8s Ingress-1</vt:lpstr>
      <vt:lpstr>K8s Ingress -2</vt:lpstr>
      <vt:lpstr>K8s ingress yaml</vt:lpstr>
      <vt:lpstr>Volume: emptyDir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K8s 資源使用率 </vt:lpstr>
      <vt:lpstr>K8s - cronjob -1</vt:lpstr>
      <vt:lpstr>K8s - cronjob -2</vt:lpstr>
      <vt:lpstr>K8s - cronjob -3</vt:lpstr>
      <vt:lpstr>Secrets 編碼</vt:lpstr>
      <vt:lpstr>Secrets Volume </vt:lpstr>
      <vt:lpstr>Build Secrets Volume </vt:lpstr>
      <vt:lpstr>Secrets Volume : 當Pod 環境變數</vt:lpstr>
      <vt:lpstr>Secrets Volume : Pods env 描述</vt:lpstr>
      <vt:lpstr>Secrets Volume : Pods show env</vt:lpstr>
      <vt:lpstr>Secrets Volume : mount secret volume</vt:lpstr>
      <vt:lpstr>Secrets Volume : check pod</vt:lpstr>
      <vt:lpstr>Secrets Volume : check pod </vt:lpstr>
      <vt:lpstr>使用Google Cloud Platform Kubernetes Engine</vt:lpstr>
      <vt:lpstr>選擇Kubernetes engine on GCP</vt:lpstr>
      <vt:lpstr>建立GKE</vt:lpstr>
      <vt:lpstr>選擇Standard cluster</vt:lpstr>
      <vt:lpstr>等待 GKE 建立中</vt:lpstr>
      <vt:lpstr>Install Google Cloud CLI </vt:lpstr>
      <vt:lpstr>Install Google Cloud CLI</vt:lpstr>
      <vt:lpstr>取得GCP Cotainer cluster 操作權限-1</vt:lpstr>
      <vt:lpstr>GKE project</vt:lpstr>
      <vt:lpstr>指定project</vt:lpstr>
      <vt:lpstr>取得GCP Cotainer cluster 操作權限-2</vt:lpstr>
      <vt:lpstr>取得指定k8s的授權 </vt:lpstr>
      <vt:lpstr>瀏覽 ~/.kube/config, 會發現GKE授權檔已匯入其中</vt:lpstr>
      <vt:lpstr>取得GCP Cotainer cluster 操作權限 -2</vt:lpstr>
      <vt:lpstr>建立Deployment 與 LoadBalaner Service</vt:lpstr>
      <vt:lpstr>檢查Deployment與Service部署狀態</vt:lpstr>
      <vt:lpstr>測試Load balance</vt:lpstr>
      <vt:lpstr>檢查GKE工作負載-1</vt:lpstr>
      <vt:lpstr>檢查GKE工作負載-2</vt:lpstr>
      <vt:lpstr>GCP Kubernetes 使用load balance -4</vt:lpstr>
      <vt:lpstr>建立硬碟</vt:lpstr>
      <vt:lpstr>Volume: GCP volume - 建Volume</vt:lpstr>
      <vt:lpstr>PVC, PV, Storage class關係圖</vt:lpstr>
      <vt:lpstr>Volume: GCP volume - 建PersistemtVolume -1</vt:lpstr>
      <vt:lpstr>建立PV</vt:lpstr>
      <vt:lpstr>Volume: GCP volume - 建PersistemtVolume -2</vt:lpstr>
      <vt:lpstr>Volume: GCP volume - 建PersistemtVolume -3</vt:lpstr>
      <vt:lpstr>GCP Volume: 建PersistemtVolumeClaim</vt:lpstr>
      <vt:lpstr>部署pvc</vt:lpstr>
      <vt:lpstr>Volume plugin 支援程度  </vt:lpstr>
      <vt:lpstr>GCP Volume :用pod界接volume</vt:lpstr>
      <vt:lpstr>GCP Volume :部署pod</vt:lpstr>
      <vt:lpstr>GCP Volume: 檢查pod內掛載狀態。</vt:lpstr>
      <vt:lpstr>GCP Volume: 寫入檔案，刪除再重建pod，寫入檔案還是存在-1</vt:lpstr>
      <vt:lpstr>GCP Volume: 寫入檔案，刪除再重建pod，寫入檔案還是存在-2</vt:lpstr>
      <vt:lpstr>GCP Volume: 寫入檔案，刪除再重建pod，寫入檔案還是存在-3</vt:lpstr>
      <vt:lpstr>K8s auto scaling - 部署受壓測端deploy</vt:lpstr>
      <vt:lpstr>K8s auto scaling -部署受壓測端service </vt:lpstr>
      <vt:lpstr>K8s auto scaling -部署壓測別人pod </vt:lpstr>
      <vt:lpstr>K8s - autoscaling - 設定AutoScale</vt:lpstr>
      <vt:lpstr>K8s - autoscaling - 進行壓測 </vt:lpstr>
      <vt:lpstr>K8s - autoscaling - 監控hpa</vt:lpstr>
      <vt:lpstr>K8s - autoscaling - 監控pod</vt:lpstr>
      <vt:lpstr>K8s - autoscaling - 停止壓測後</vt:lpstr>
      <vt:lpstr>附錄A 使用Putty與ssh key 連線至linux</vt:lpstr>
      <vt:lpstr>附錄A: window login to cloud VM by putty - 下載Putty ，填入id@ip</vt:lpstr>
      <vt:lpstr>附錄A: window login to cloud VM by putty - 左邊Connectopn/SSH/Auth</vt:lpstr>
      <vt:lpstr>附錄A: window login to cloud VM by putty - 選擇k8s.ppk</vt:lpstr>
      <vt:lpstr>附錄A: window login to cloud VM by putty - 選擇Private key file auth</vt:lpstr>
      <vt:lpstr>附錄A: window login to cloud VM by putty - 即可登入</vt:lpstr>
      <vt:lpstr>附錄B: DaemonSet</vt:lpstr>
      <vt:lpstr>DaemonSet</vt:lpstr>
      <vt:lpstr>DaemonSet</vt:lpstr>
      <vt:lpstr>利用DaemonSet pod 取得節點上docker log</vt:lpstr>
      <vt:lpstr>取得 docker 資訊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devops：jenkins 搭配 docker 持續整合實務班</dc:title>
  <dc:creator>育緯 周</dc:creator>
  <cp:lastModifiedBy>Carol Chang</cp:lastModifiedBy>
  <cp:revision>407</cp:revision>
  <dcterms:created xsi:type="dcterms:W3CDTF">2020-05-19T05:29:00Z</dcterms:created>
  <dcterms:modified xsi:type="dcterms:W3CDTF">2026-05-30T23:48:55Z</dcterms:modified>
</cp:coreProperties>
</file>